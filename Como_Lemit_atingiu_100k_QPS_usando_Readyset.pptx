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37"/>
  </p:notesMasterIdLst>
  <p:handoutMasterIdLst>
    <p:handoutMasterId r:id="rId38"/>
  </p:handoutMasterIdLst>
  <p:sldIdLst>
    <p:sldId id="640" r:id="rId2"/>
    <p:sldId id="559" r:id="rId3"/>
    <p:sldId id="2076137030" r:id="rId4"/>
    <p:sldId id="2076137055" r:id="rId5"/>
    <p:sldId id="641" r:id="rId6"/>
    <p:sldId id="2076137028" r:id="rId7"/>
    <p:sldId id="2076137031" r:id="rId8"/>
    <p:sldId id="2076137032" r:id="rId9"/>
    <p:sldId id="2076137034" r:id="rId10"/>
    <p:sldId id="2076137035" r:id="rId11"/>
    <p:sldId id="2076137033" r:id="rId12"/>
    <p:sldId id="2076137044" r:id="rId13"/>
    <p:sldId id="2076137036" r:id="rId14"/>
    <p:sldId id="2076137037" r:id="rId15"/>
    <p:sldId id="2076137038" r:id="rId16"/>
    <p:sldId id="2076137039" r:id="rId17"/>
    <p:sldId id="2076137045" r:id="rId18"/>
    <p:sldId id="2076137040" r:id="rId19"/>
    <p:sldId id="2076137041" r:id="rId20"/>
    <p:sldId id="2076137042" r:id="rId21"/>
    <p:sldId id="2076137046" r:id="rId22"/>
    <p:sldId id="2076137047" r:id="rId23"/>
    <p:sldId id="2076137048" r:id="rId24"/>
    <p:sldId id="2076137051" r:id="rId25"/>
    <p:sldId id="2076137053" r:id="rId26"/>
    <p:sldId id="2076137049" r:id="rId27"/>
    <p:sldId id="2076137050" r:id="rId28"/>
    <p:sldId id="2076137052" r:id="rId29"/>
    <p:sldId id="2076137056" r:id="rId30"/>
    <p:sldId id="2076137057" r:id="rId31"/>
    <p:sldId id="2076137054" r:id="rId32"/>
    <p:sldId id="2076137058" r:id="rId33"/>
    <p:sldId id="2076137060" r:id="rId34"/>
    <p:sldId id="2076137061" r:id="rId35"/>
    <p:sldId id="2076137059" r:id="rId36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l slides" id="{69C79F6C-AA55-485D-BB9F-DB342B159076}">
          <p14:sldIdLst>
            <p14:sldId id="640"/>
            <p14:sldId id="559"/>
            <p14:sldId id="2076137030"/>
            <p14:sldId id="2076137055"/>
            <p14:sldId id="641"/>
            <p14:sldId id="2076137028"/>
            <p14:sldId id="2076137031"/>
            <p14:sldId id="2076137032"/>
            <p14:sldId id="2076137034"/>
            <p14:sldId id="2076137035"/>
            <p14:sldId id="2076137033"/>
            <p14:sldId id="2076137044"/>
            <p14:sldId id="2076137036"/>
            <p14:sldId id="2076137037"/>
            <p14:sldId id="2076137038"/>
            <p14:sldId id="2076137039"/>
            <p14:sldId id="2076137045"/>
            <p14:sldId id="2076137040"/>
            <p14:sldId id="2076137041"/>
            <p14:sldId id="2076137042"/>
            <p14:sldId id="2076137046"/>
            <p14:sldId id="2076137047"/>
            <p14:sldId id="2076137048"/>
            <p14:sldId id="2076137051"/>
            <p14:sldId id="2076137053"/>
            <p14:sldId id="2076137049"/>
            <p14:sldId id="2076137050"/>
            <p14:sldId id="2076137052"/>
            <p14:sldId id="2076137056"/>
            <p14:sldId id="2076137057"/>
            <p14:sldId id="2076137054"/>
            <p14:sldId id="2076137058"/>
            <p14:sldId id="2076137060"/>
            <p14:sldId id="2076137061"/>
            <p14:sldId id="20761370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DDDB"/>
    <a:srgbClr val="FDFEFE"/>
    <a:srgbClr val="FEFEFE"/>
    <a:srgbClr val="FFFEFE"/>
    <a:srgbClr val="FFFFFD"/>
    <a:srgbClr val="FFFFFE"/>
    <a:srgbClr val="FFFEFF"/>
    <a:srgbClr val="FEFFFF"/>
    <a:srgbClr val="FFFFFF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7" autoAdjust="0"/>
    <p:restoredTop sz="86395" autoAdjust="0"/>
  </p:normalViewPr>
  <p:slideViewPr>
    <p:cSldViewPr snapToGrid="0" showGuides="1">
      <p:cViewPr varScale="1">
        <p:scale>
          <a:sx n="127" d="100"/>
          <a:sy n="127" d="100"/>
        </p:scale>
        <p:origin x="712" y="4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-48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notesViewPr>
    <p:cSldViewPr snapToGrid="0" showGuides="1">
      <p:cViewPr varScale="1">
        <p:scale>
          <a:sx n="78" d="100"/>
          <a:sy n="78" d="100"/>
        </p:scale>
        <p:origin x="4680" y="200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2/20/26</a:t>
            </a:fld>
            <a:endParaRPr lang="en-US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2/20/26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299" tIns="56150" rIns="112299" bIns="5615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R="0" lvl="0" indent="0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Tx/>
              <a:buFont typeface="System Font Regular"/>
              <a:buNone/>
              <a:tabLst/>
            </a:pPr>
            <a:r>
              <a:rPr lang="en-US" dirty="0"/>
              <a:t>Edit Master text styles</a:t>
            </a:r>
          </a:p>
          <a:p>
            <a:pPr marL="449199" marR="0" lvl="1" indent="-224599" fontAlgn="auto">
              <a:lnSpc>
                <a:spcPct val="95000"/>
              </a:lnSpc>
              <a:spcBef>
                <a:spcPts val="736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</a:pPr>
            <a:r>
              <a:rPr lang="en-US" dirty="0"/>
              <a:t>Second level</a:t>
            </a:r>
          </a:p>
          <a:p>
            <a:pPr marL="898397" marR="0" lvl="2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20000"/>
              <a:buFont typeface="System Font Regular"/>
              <a:buChar char="-"/>
              <a:tabLst/>
            </a:pPr>
            <a:r>
              <a:rPr lang="en-US" dirty="0"/>
              <a:t>Third level</a:t>
            </a:r>
          </a:p>
          <a:p>
            <a:pPr marL="1347596" marR="0" lvl="3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Pct val="100000"/>
              <a:buFont typeface="System Font Regular"/>
              <a:buChar char="◦"/>
              <a:tabLst/>
            </a:pPr>
            <a:r>
              <a:rPr lang="en-US" dirty="0"/>
              <a:t>Fourth level</a:t>
            </a:r>
          </a:p>
          <a:p>
            <a:pPr marL="1796796" marR="0" lvl="4" indent="-224599" fontAlgn="auto">
              <a:lnSpc>
                <a:spcPct val="95000"/>
              </a:lnSpc>
              <a:spcBef>
                <a:spcPts val="491"/>
              </a:spcBef>
              <a:spcAft>
                <a:spcPts val="0"/>
              </a:spcAft>
              <a:buClrTx/>
              <a:buSzTx/>
              <a:buFont typeface="System Font Regular"/>
              <a:buChar char="•"/>
              <a:tabLst/>
            </a:pPr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9EDC5964-3162-43B5-B1EC-63C8D166D7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>
                <a:latin typeface="Oracle Sans Tab" panose="020B0503020204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Apresentação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C5964-3162-43B5-B1EC-63C8D166D7D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8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C5964-3162-43B5-B1EC-63C8D166D7D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51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Aqui vamos falar um pouco de como foi a evolução do banco de dados. </a:t>
            </a:r>
          </a:p>
          <a:p>
            <a:endParaRPr lang="pt-BR"/>
          </a:p>
          <a:p>
            <a:r>
              <a:rPr lang="pt-BR"/>
              <a:t>Lembrar que apesar de você ter uma estrutura </a:t>
            </a:r>
            <a:r>
              <a:rPr lang="pt-BR" err="1"/>
              <a:t>estatica</a:t>
            </a:r>
            <a:r>
              <a:rPr lang="pt-BR"/>
              <a:t>: TABELA, </a:t>
            </a:r>
            <a:r>
              <a:rPr lang="pt-BR" err="1"/>
              <a:t>FKs</a:t>
            </a:r>
            <a:r>
              <a:rPr lang="pt-BR"/>
              <a:t>, Indexes o </a:t>
            </a:r>
            <a:r>
              <a:rPr lang="pt-BR" err="1"/>
              <a:t>workload</a:t>
            </a:r>
            <a:r>
              <a:rPr lang="pt-BR"/>
              <a:t> é ORGANICO e altera a forma e função do banco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C5964-3162-43B5-B1EC-63C8D166D7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4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Qual era a solução original?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C5964-3162-43B5-B1EC-63C8D166D7D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24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C492-D572-10EB-47D1-0A33BC248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04201-D0A3-2F8C-B23A-A7ABDE2AB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6AC574-06CA-17A8-0710-14409789C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Qual era a solução original?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F0CCD-6F6E-31D7-7432-8C094BE27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C5964-3162-43B5-B1EC-63C8D166D7D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07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7F84E-2C05-CE82-C4F9-C83E049DB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9080E-E0F7-32BD-BBBA-28FD18EB7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44D05-8B8D-20C9-2334-64394D9DC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Qual era a solução original?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4D4F1-64E0-09E1-0DFD-0E5F72EBAF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C5964-3162-43B5-B1EC-63C8D166D7D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155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887F-28EF-C807-7B16-68F49630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7172B-A353-4D2B-440B-3FB2048BA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FC97B-82CC-62B3-0F59-359B5EB50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Qual era a solução original?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2E607-0CB6-99E8-1A91-A65BB340C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C5964-3162-43B5-B1EC-63C8D166D7D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6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8D3C2-C610-973C-3F16-2E8A062E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8D4CB-C444-C450-252C-E9B58FBE18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7BAB6-5652-32DB-DF38-91126887E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Qual era a solução original?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CF013-7E90-A7B5-8A98-3DD8CE147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DC5964-3162-43B5-B1EC-63C8D166D7D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2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">
            <a:extLst>
              <a:ext uri="{FF2B5EF4-FFF2-40B4-BE49-F238E27FC236}">
                <a16:creationId xmlns:a16="http://schemas.microsoft.com/office/drawing/2014/main" id="{B9AD53CC-DC4B-493A-A31F-251C3681139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66763" y="1600201"/>
            <a:ext cx="10671175" cy="4506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3FB6D10-A56F-46BF-8672-E18296A83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30A69-7CFB-D967-DE36-2C409B99E78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42FE6-D817-4BF4-D073-1B681B47E49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41099482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6C5FF-A460-3A45-58E4-E3E2E97043A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35327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3A1E7-41AA-EE20-F56E-8AB19FDFDAD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2668598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3633E8-06A7-6ACF-ED78-D31B41AEBE2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371060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86C2E-453E-702D-3FA6-F53120BD63C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1800448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4"/>
            <a:ext cx="2478024" cy="452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609724"/>
            <a:ext cx="2478024" cy="452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609724"/>
            <a:ext cx="2478024" cy="452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 userDrawn="1"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609724"/>
            <a:ext cx="2478024" cy="452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4AFE1-2029-67B8-B3E7-39BEA43C49C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1849159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5"/>
            <a:ext cx="2478024" cy="45069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3373924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5"/>
            <a:ext cx="2478024" cy="45069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6110222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5"/>
            <a:ext cx="2478024" cy="45069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 userDrawn="1"/>
        </p:nvCxnSpPr>
        <p:spPr>
          <a:xfrm>
            <a:off x="8846520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5"/>
            <a:ext cx="2478024" cy="45069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E70A2C-951C-747D-3BFC-DFCE0F88CB3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13380641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2DC46A-B219-05CE-5740-A2F28C4193B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3611327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1B7AAE-9D29-06CB-A1CB-82C00E4CE5EE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3931372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0B223D-997D-34B7-CDEC-C3A4E542312D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2772059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122DE-9E32-1A7B-181C-F77D3220DB5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39944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CE380E-AC18-2814-75C0-DDC3802B59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677AF9-1AF9-5DC6-6378-56BBBE5CDD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91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F78A4-EE75-AE2B-D13B-C927352959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1665172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BF86EB-C92C-2B74-D074-1B6C0C95D6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5832233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E46438-F717-2B4C-BAC0-BFCDA780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6"/>
          <a:stretch/>
        </p:blipFill>
        <p:spPr>
          <a:xfrm>
            <a:off x="6044249" y="0"/>
            <a:ext cx="6147750" cy="685800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72063" cy="2415700"/>
          </a:xfrm>
          <a:prstGeom prst="rect">
            <a:avLst/>
          </a:prstGeom>
        </p:spPr>
        <p:txBody>
          <a:bodyPr anchor="b" anchorCtr="0"/>
          <a:lstStyle>
            <a:lvl1pPr>
              <a:defRPr sz="8000" b="1">
                <a:solidFill>
                  <a:srgbClr val="AE562C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705FDC-9D3F-A335-BD97-58F56F404C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C0673A6-13C3-550F-1345-7E89EB1287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91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ur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1B2FD-76A1-FC16-93C8-83B41C0981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75B5A5-7E83-31E2-CF8F-F4EBB0A986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11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AB1892A-1B3D-014D-B9C7-BCEDE316F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800" y="0"/>
            <a:ext cx="7315200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94DB3-43DF-649D-95E9-0B3F63EB152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DB856DF-33E7-CBF7-5FE8-8BC184D971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07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Tex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1C13851-8F5A-3D4E-B2BF-9068624FC3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49200" cy="2026447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319F0-6322-B944-C1EC-ECA83A62AB9C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 err="1"/>
              <a:t>ace.oracle.com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C59BDDC-471E-ACD1-A259-6869797F64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89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2844" y="2434528"/>
            <a:ext cx="6067096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 dirty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72844" y="4983135"/>
            <a:ext cx="605462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72844" y="5320728"/>
            <a:ext cx="6054629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 txBox="1"/>
          <p:nvPr userDrawn="1"/>
        </p:nvSpPr>
        <p:spPr>
          <a:xfrm>
            <a:off x="1295730" y="3244334"/>
            <a:ext cx="228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logo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875697-F688-F48E-6FFA-9B7CFE3DBC85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D30B6DF-AD14-1DB2-5996-E76C902E12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485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E3889800-62E2-CF4C-97E0-CE1310E361A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60075" y="0"/>
            <a:ext cx="5631925" cy="6858000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r>
              <a:rPr lang="en-US"/>
              <a:t>Click to add image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E2AD8C-995A-32EA-D806-894381B1CB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9" r="6226"/>
          <a:stretch/>
        </p:blipFill>
        <p:spPr>
          <a:xfrm>
            <a:off x="0" y="0"/>
            <a:ext cx="6556248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2E2B2D-ED97-0FAC-A0EC-FDD64A1691F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230A4F8-F39B-9E83-8F27-C199388306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55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F52034-4D0B-8F48-A20F-8F40B1A92E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448"/>
            <a:ext cx="12192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2207A46-8E04-40E5-67C3-5EED5EEA2CA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463ADA8-B616-AD30-BD15-6428B18DBF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83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racle ACE Director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Page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FCEEBC-8B55-4779-B6F6-7D71BD467A78}"/>
              </a:ext>
            </a:extLst>
          </p:cNvPr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6E03D4-8AB6-ABD8-CE5A-43C1FDED67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949" y="1124712"/>
            <a:ext cx="1828800" cy="73152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A1911-5B7C-93CF-BD59-935842BD77B1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56ADA-66E0-BA5F-402E-44525FEC400C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B65364E-C099-FBF1-207A-4496E4E444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35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5FF636-5AF7-9A48-9532-FFA3A18ADD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0BA085-B459-D34D-743D-1ADDAB9CA2A2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B081941-92FC-5D64-F841-8BE748541D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62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Title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94271A-B7E5-A69B-FB03-C61FCB5DA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529D1E-DBFA-F4A9-F884-2319F86FE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80160" y="6424295"/>
            <a:ext cx="1005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 err="1"/>
              <a:t>ace.oracle.com</a:t>
            </a:r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E77931B-0447-4B2F-9A06-C7F1247F3C57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774" r:id="rId2"/>
    <p:sldLayoutId id="2147483922" r:id="rId3"/>
    <p:sldLayoutId id="2147483920" r:id="rId4"/>
    <p:sldLayoutId id="2147483931" r:id="rId5"/>
    <p:sldLayoutId id="2147483936" r:id="rId6"/>
    <p:sldLayoutId id="2147483933" r:id="rId7"/>
    <p:sldLayoutId id="2147483938" r:id="rId8"/>
    <p:sldLayoutId id="2147483761" r:id="rId9"/>
    <p:sldLayoutId id="2147483969" r:id="rId10"/>
    <p:sldLayoutId id="2147483974" r:id="rId11"/>
    <p:sldLayoutId id="2147483781" r:id="rId12"/>
    <p:sldLayoutId id="2147483756" r:id="rId13"/>
    <p:sldLayoutId id="2147483754" r:id="rId14"/>
    <p:sldLayoutId id="2147483778" r:id="rId15"/>
    <p:sldLayoutId id="2147483762" r:id="rId16"/>
    <p:sldLayoutId id="2147483766" r:id="rId17"/>
    <p:sldLayoutId id="2147483749" r:id="rId18"/>
    <p:sldLayoutId id="2147483751" r:id="rId19"/>
    <p:sldLayoutId id="2147483752" r:id="rId20"/>
    <p:sldLayoutId id="2147483987" r:id="rId21"/>
    <p:sldLayoutId id="2147483763" r:id="rId22"/>
    <p:sldLayoutId id="2147483962" r:id="rId23"/>
    <p:sldLayoutId id="2147483972" r:id="rId2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008" userDrawn="1">
          <p15:clr>
            <a:srgbClr val="F26B43"/>
          </p15:clr>
        </p15:guide>
        <p15:guide id="4" orient="horz" pos="3852" userDrawn="1">
          <p15:clr>
            <a:srgbClr val="F26B43"/>
          </p15:clr>
        </p15:guide>
        <p15:guide id="5" pos="480" userDrawn="1">
          <p15:clr>
            <a:srgbClr val="F26B43"/>
          </p15:clr>
        </p15:guide>
        <p15:guide id="6" orient="horz" pos="795" userDrawn="1">
          <p15:clr>
            <a:srgbClr val="F26B43"/>
          </p15:clr>
        </p15:guide>
        <p15:guide id="7" orient="horz" pos="590" userDrawn="1">
          <p15:clr>
            <a:srgbClr val="F26B43"/>
          </p15:clr>
        </p15:guide>
        <p15:guide id="8" pos="72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rcona.com/blog/innodb-performance-optimization-basics-updated" TargetMode="External"/><Relationship Id="rId2" Type="http://schemas.openxmlformats.org/officeDocument/2006/relationships/hyperlink" Target="https://www.percona.com/blog/linux-os-tuning-for-mysql-database-performance/" TargetMode="Externa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C333F-A6A1-9C20-E0CD-C0FFEB271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noProof="0" dirty="0"/>
              <a:t>Além do </a:t>
            </a:r>
            <a:r>
              <a:rPr lang="pt-BR" noProof="0" dirty="0" err="1"/>
              <a:t>Scaling</a:t>
            </a:r>
            <a:r>
              <a:rPr lang="pt-BR" noProof="0" dirty="0"/>
              <a:t> </a:t>
            </a:r>
            <a:r>
              <a:rPr lang="pt-BR" noProof="0" dirty="0" err="1"/>
              <a:t>Up</a:t>
            </a:r>
            <a:r>
              <a:rPr lang="pt-BR" noProof="0" dirty="0"/>
              <a:t>: Como a Lemit atingiu 100k QPS usando Readyset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81275-321E-6F69-C4A6-215D43FA11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pt-BR" noProof="0"/>
              <a:t>Vini Grippa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86D23-065F-1928-629E-DE2B275BD20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pt-BR" noProof="0" err="1"/>
              <a:t>Database</a:t>
            </a:r>
            <a:r>
              <a:rPr lang="pt-BR" noProof="0"/>
              <a:t> Architect @ Readyset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9B4CB-3D59-AD4C-9694-D03F9ABEC0A5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pt-BR" noProof="0" err="1"/>
              <a:t>ace.oracle.com</a:t>
            </a:r>
            <a:endParaRPr lang="pt-BR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1D0E5-BF12-012C-83AA-164F712C8B61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345D60D9-5372-5F40-9443-0F9AE5BDC3C8}" type="slidenum">
              <a:rPr lang="pt-BR" noProof="0" smtClean="0"/>
              <a:pPr/>
              <a:t>1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173226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E16C-4D6C-4900-8DD6-1163E464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8516" y="777240"/>
            <a:ext cx="6297167" cy="822960"/>
          </a:xfrm>
        </p:spPr>
        <p:txBody>
          <a:bodyPr/>
          <a:lstStyle/>
          <a:p>
            <a:r>
              <a:rPr lang="en-US"/>
              <a:t>SELECT * FROM person WHERE name LIKE ‘Vini’;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9B1A1-0DA1-40D3-917F-60CCCD7EFE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98516" y="2051824"/>
            <a:ext cx="6297168" cy="2811023"/>
          </a:xfrm>
        </p:spPr>
        <p:txBody>
          <a:bodyPr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Database Architect </a:t>
            </a:r>
            <a:r>
              <a:rPr lang="en-US" dirty="0" err="1"/>
              <a:t>na</a:t>
            </a:r>
            <a:r>
              <a:rPr lang="en-US" dirty="0"/>
              <a:t> Readyset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Ex-Percona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Co-author do </a:t>
            </a:r>
            <a:r>
              <a:rPr lang="en-US" dirty="0" err="1"/>
              <a:t>livro</a:t>
            </a:r>
            <a:r>
              <a:rPr lang="en-US" dirty="0"/>
              <a:t> Learning MySQL book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Organizador</a:t>
            </a:r>
            <a:r>
              <a:rPr lang="en-US" dirty="0"/>
              <a:t> da </a:t>
            </a:r>
            <a:r>
              <a:rPr lang="en-US" dirty="0" err="1"/>
              <a:t>comunidade</a:t>
            </a:r>
            <a:r>
              <a:rPr lang="en-US" dirty="0"/>
              <a:t> de MySQL no </a:t>
            </a:r>
            <a:r>
              <a:rPr lang="en-US" dirty="0" err="1"/>
              <a:t>Brasil</a:t>
            </a:r>
            <a:r>
              <a:rPr lang="en-US" dirty="0"/>
              <a:t>(MUG)</a:t>
            </a:r>
          </a:p>
        </p:txBody>
      </p:sp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8C0C055D-99BF-E9BE-54C9-A7F7BC4F98BA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444" r="14444"/>
          <a:stretch>
            <a:fillRect/>
          </a:stretch>
        </p:blipFill>
        <p:spPr/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1AF2A-8EF4-06D4-3AC6-67F299AFD10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CE406-61AC-1D1A-9C90-2E8B54EDBFD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E44D03-F38C-647C-0561-CB021159D4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3623" y="1737380"/>
            <a:ext cx="2344100" cy="31254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BD1901-3084-F654-F3A7-A6658A71D2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140565"/>
            <a:ext cx="2743200" cy="65836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B59D21F-49A2-7B5C-84F8-2F2B9FD484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1600200"/>
            <a:ext cx="3657600" cy="3657600"/>
          </a:xfrm>
          <a:prstGeom prst="rect">
            <a:avLst/>
          </a:prstGeom>
        </p:spPr>
      </p:pic>
      <p:pic>
        <p:nvPicPr>
          <p:cNvPr id="1026" name="Picture 2" descr="Learning MySQL, 2nd Edition [Book]">
            <a:extLst>
              <a:ext uri="{FF2B5EF4-FFF2-40B4-BE49-F238E27FC236}">
                <a16:creationId xmlns:a16="http://schemas.microsoft.com/office/drawing/2014/main" id="{78071459-D715-E8AF-F6A1-290773CC0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088" y="4358283"/>
            <a:ext cx="1369823" cy="1799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16AAC3-2C86-E931-BFBE-ECBC9EB855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9483" y="4890078"/>
            <a:ext cx="3886200" cy="73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73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2B099-E86E-9F88-565B-4C6927F4A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7BE88D-0719-9675-C94F-30076B80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pt-BR" noProof="0" smtClean="0"/>
              <a:pPr/>
              <a:t>3</a:t>
            </a:fld>
            <a:endParaRPr lang="pt-BR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2458F3-EE28-649D-2DAD-92631ABF0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2215"/>
            <a:ext cx="10158984" cy="1280160"/>
          </a:xfrm>
        </p:spPr>
        <p:txBody>
          <a:bodyPr/>
          <a:lstStyle/>
          <a:p>
            <a:r>
              <a:rPr lang="pt-BR" noProof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36BF0-6328-88A7-4912-5403970BC6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6689" y="1906859"/>
            <a:ext cx="10158984" cy="4070195"/>
          </a:xfrm>
        </p:spPr>
        <p:txBody>
          <a:bodyPr/>
          <a:lstStyle/>
          <a:p>
            <a:pPr marL="708660" lvl="1" indent="-342900"/>
            <a:r>
              <a:rPr lang="pt-BR" sz="2000" dirty="0"/>
              <a:t>Desafios</a:t>
            </a:r>
          </a:p>
          <a:p>
            <a:pPr marL="708660" lvl="1" indent="-342900"/>
            <a:endParaRPr lang="pt-BR" sz="2000" dirty="0"/>
          </a:p>
          <a:p>
            <a:pPr marL="708660" lvl="1" indent="-342900"/>
            <a:r>
              <a:rPr lang="pt-BR" sz="2000" dirty="0"/>
              <a:t>O Início: O desenvolvimento da solução.</a:t>
            </a:r>
          </a:p>
          <a:p>
            <a:pPr marL="708660" lvl="1" indent="-342900"/>
            <a:endParaRPr lang="pt-BR" sz="2000" dirty="0"/>
          </a:p>
          <a:p>
            <a:pPr marL="708660" lvl="1" indent="-342900"/>
            <a:r>
              <a:rPr lang="pt-BR" sz="2000" dirty="0"/>
              <a:t>Fase 2: Réplica: Adicionando redundância e MEMORY </a:t>
            </a:r>
            <a:r>
              <a:rPr lang="pt-BR" sz="2000" dirty="0" err="1"/>
              <a:t>Table</a:t>
            </a:r>
            <a:endParaRPr lang="pt-BR" sz="2000" dirty="0"/>
          </a:p>
          <a:p>
            <a:pPr marL="708660" lvl="1" indent="-342900"/>
            <a:endParaRPr lang="pt-BR" sz="2000" dirty="0"/>
          </a:p>
          <a:p>
            <a:pPr marL="708660" lvl="1" indent="-342900"/>
            <a:r>
              <a:rPr lang="pt-BR" sz="2000" dirty="0"/>
              <a:t>Fase 3: Adicionando mais recursos ao banco</a:t>
            </a:r>
          </a:p>
          <a:p>
            <a:pPr marL="708660" lvl="1" indent="-342900"/>
            <a:endParaRPr lang="pt-BR" sz="2000" dirty="0"/>
          </a:p>
          <a:p>
            <a:pPr marL="708660" lvl="1" indent="-342900"/>
            <a:r>
              <a:rPr lang="pt-BR" sz="2000" dirty="0"/>
              <a:t>Fase 4: Readyset e ProxySQL</a:t>
            </a:r>
          </a:p>
          <a:p>
            <a:pPr marL="708660" lvl="1" indent="-342900"/>
            <a:endParaRPr lang="pt-BR" sz="2000" dirty="0"/>
          </a:p>
          <a:p>
            <a:pPr marL="708660" lvl="1" indent="-342900"/>
            <a:r>
              <a:rPr lang="pt-BR" sz="2000" dirty="0"/>
              <a:t>A Marca dos 100k QPS: Resultados práticos e a evolução para um ecossistema de alta performance.</a:t>
            </a:r>
            <a:endParaRPr lang="pt-BR" sz="2000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22F8E-9419-A564-9C3F-7FB085E8580B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pt-BR" noProof="0"/>
              <a:t>ace.oracle.com</a:t>
            </a:r>
          </a:p>
        </p:txBody>
      </p:sp>
    </p:spTree>
    <p:extLst>
      <p:ext uri="{BB962C8B-B14F-4D97-AF65-F5344CB8AC3E}">
        <p14:creationId xmlns:p14="http://schemas.microsoft.com/office/powerpoint/2010/main" val="717819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06F83-42E5-116E-8436-3353B2FC5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D91A6-FAF5-5BC5-3518-734CC5D332A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BR" noProof="0" dirty="0"/>
              <a:t>Aplicação altamente sensível a latência.</a:t>
            </a:r>
          </a:p>
          <a:p>
            <a:pPr>
              <a:lnSpc>
                <a:spcPct val="150000"/>
              </a:lnSpc>
            </a:pPr>
            <a:r>
              <a:rPr lang="pt-BR" noProof="0" dirty="0"/>
              <a:t>Difícil de alterar o código.</a:t>
            </a:r>
          </a:p>
          <a:p>
            <a:pPr>
              <a:lnSpc>
                <a:spcPct val="150000"/>
              </a:lnSpc>
            </a:pPr>
            <a:r>
              <a:rPr lang="pt-BR" noProof="0" dirty="0"/>
              <a:t>Design do banco em si é simples. Porém o </a:t>
            </a:r>
            <a:r>
              <a:rPr lang="pt-BR" noProof="0" dirty="0" err="1"/>
              <a:t>workload</a:t>
            </a:r>
            <a:r>
              <a:rPr lang="pt-BR" noProof="0" dirty="0"/>
              <a:t> é difícil de reproduzir em QA.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6946B8-3996-C78F-20D0-8F5D7F5F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Desafios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3DF6D-2B01-3BFD-22C3-EF292C7477EF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CF4D9-4A20-A5CA-7D2C-94F6A3027C42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93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746E6B-DCDD-CD5A-6BC6-9C72B519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pt-BR" noProof="0" smtClean="0"/>
              <a:pPr/>
              <a:t>5</a:t>
            </a:fld>
            <a:endParaRPr lang="pt-BR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9FE502-A39A-2A87-8F1B-4F2827923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2215"/>
            <a:ext cx="10158984" cy="1280160"/>
          </a:xfrm>
        </p:spPr>
        <p:txBody>
          <a:bodyPr/>
          <a:lstStyle/>
          <a:p>
            <a:r>
              <a:rPr lang="pt-BR" sz="4800" noProof="0" dirty="0"/>
              <a:t>O Início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57640-03A6-BF5D-DB95-4D4FB08282C1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pt-BR" noProof="0" err="1"/>
              <a:t>ace.oracle.com</a:t>
            </a:r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39774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6B75F-15BD-C3AE-93D7-8F2FAE0F2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99C4001D-D076-60F3-87C0-6C6BBB273EB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noProof="0"/>
              <a:t>Único Servidor de Banco de dados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noProof="0"/>
              <a:t>64 Cores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noProof="0"/>
              <a:t>512 GB 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noProof="0"/>
              <a:t>6 TB Discos RAID 0 SAS 15K RPM na “Barriga”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noProof="0"/>
              <a:t>Percona Server for MySQL 5.7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FDA850-C94C-AAFE-E56A-C5CB6171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 anchor="b">
            <a:normAutofit/>
          </a:bodyPr>
          <a:lstStyle/>
          <a:p>
            <a:r>
              <a:rPr lang="pt-BR" dirty="0"/>
              <a:t>O Início</a:t>
            </a:r>
            <a:endParaRPr lang="pt-BR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A601F7-1F0E-C07E-FFE3-FC21CFDB9A2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2000" y="6423660"/>
            <a:ext cx="365760" cy="3657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45D60D9-5372-5F40-9443-0F9AE5BDC3C8}" type="slidenum">
              <a:rPr lang="pt-BR" noProof="0" smtClean="0"/>
              <a:pPr>
                <a:spcAft>
                  <a:spcPts val="600"/>
                </a:spcAft>
              </a:pPr>
              <a:t>6</a:t>
            </a:fld>
            <a:endParaRPr lang="pt-BR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1B2A5-7932-1007-C015-5C8BB04DEC4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24712" y="6424295"/>
            <a:ext cx="100584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 noProof="0" err="1"/>
              <a:t>ace.oracle.com</a:t>
            </a:r>
            <a:endParaRPr lang="pt-BR" noProof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CCDBE2-1FF4-BA41-43E6-38226DDD5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703" y="1838161"/>
            <a:ext cx="725869" cy="8229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51CD9E7-BAD8-5D59-595A-3B33DC1F5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494" y="3833925"/>
            <a:ext cx="735079" cy="876440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F398490-5D9E-1DEA-7384-388FB07D8CA6}"/>
              </a:ext>
            </a:extLst>
          </p:cNvPr>
          <p:cNvCxnSpPr>
            <a:cxnSpLocks/>
            <a:stCxn id="19" idx="2"/>
            <a:endCxn id="24" idx="0"/>
          </p:cNvCxnSpPr>
          <p:nvPr/>
        </p:nvCxnSpPr>
        <p:spPr>
          <a:xfrm flipH="1">
            <a:off x="8839034" y="2661121"/>
            <a:ext cx="4604" cy="11728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766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03574-422F-0A2A-E16B-F6EC9EF4A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4E84EA-FB65-147A-2AA4-C490AD7C5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 anchor="b">
            <a:normAutofit/>
          </a:bodyPr>
          <a:lstStyle/>
          <a:p>
            <a:r>
              <a:rPr lang="pt-BR" noProof="0" dirty="0"/>
              <a:t>Adicionando Observabilidade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CF21E1-8A3F-07FC-1ADD-553D490C95D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2000" y="6423660"/>
            <a:ext cx="365760" cy="3657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45D60D9-5372-5F40-9443-0F9AE5BDC3C8}" type="slidenum">
              <a:rPr lang="pt-BR" noProof="0" smtClean="0"/>
              <a:pPr>
                <a:spcAft>
                  <a:spcPts val="600"/>
                </a:spcAft>
              </a:pPr>
              <a:t>7</a:t>
            </a:fld>
            <a:endParaRPr lang="pt-BR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828B0-724B-D8BB-F834-C46A6C3FF36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24712" y="6424295"/>
            <a:ext cx="100584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 noProof="0" err="1"/>
              <a:t>ace.oracle.com</a:t>
            </a:r>
            <a:endParaRPr lang="pt-BR" noProof="0"/>
          </a:p>
        </p:txBody>
      </p:sp>
      <p:pic>
        <p:nvPicPr>
          <p:cNvPr id="2050" name="Picture 2" descr="Percona Monitoring and Management">
            <a:extLst>
              <a:ext uri="{FF2B5EF4-FFF2-40B4-BE49-F238E27FC236}">
                <a16:creationId xmlns:a16="http://schemas.microsoft.com/office/drawing/2014/main" id="{9E60CF93-69CE-AB8B-017E-BD60EF987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93453"/>
            <a:ext cx="1841253" cy="962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0BBECE-2AE1-02BB-FF96-3C907DDC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979" y="1409356"/>
            <a:ext cx="4877128" cy="19275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F1E6A7-80F0-D669-AAD8-FB2F837BB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43598"/>
            <a:ext cx="5291615" cy="17269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ABDF49-A3E6-1CE5-229D-ED8B0E075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979" y="3908364"/>
            <a:ext cx="5230174" cy="192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803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87A48-9B2E-69EB-A2C9-79A69CA52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B882E-170C-0893-71E1-6E1750C1B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72440"/>
            <a:ext cx="10671048" cy="822960"/>
          </a:xfrm>
        </p:spPr>
        <p:txBody>
          <a:bodyPr/>
          <a:lstStyle/>
          <a:p>
            <a:pPr algn="ctr"/>
            <a:r>
              <a:rPr lang="en-US" sz="3200" dirty="0"/>
              <a:t>Demo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6D6D7-0E70-BD03-7422-0DD54892F5F9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52F28-159A-1123-F102-C89154DC796C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8826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A3F9D-4E4F-4866-73D7-2B12728C3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2CECF-C0B1-2D3B-09C4-841EBDD3F25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r>
              <a:rPr lang="en-US" dirty="0"/>
              <a:t>OS Best Practices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www.percona.com</a:t>
            </a:r>
            <a:r>
              <a:rPr lang="en-US" dirty="0">
                <a:hlinkClick r:id="rId2"/>
              </a:rPr>
              <a:t>/blog/</a:t>
            </a:r>
            <a:r>
              <a:rPr lang="en-US" dirty="0" err="1">
                <a:hlinkClick r:id="rId2"/>
              </a:rPr>
              <a:t>linux</a:t>
            </a:r>
            <a:r>
              <a:rPr lang="en-US" dirty="0">
                <a:hlinkClick r:id="rId2"/>
              </a:rPr>
              <a:t>-</a:t>
            </a:r>
            <a:r>
              <a:rPr lang="en-US" dirty="0" err="1">
                <a:hlinkClick r:id="rId2"/>
              </a:rPr>
              <a:t>os</a:t>
            </a:r>
            <a:r>
              <a:rPr lang="en-US" dirty="0">
                <a:hlinkClick r:id="rId2"/>
              </a:rPr>
              <a:t>-tuning-for-</a:t>
            </a:r>
            <a:r>
              <a:rPr lang="en-US" dirty="0" err="1">
                <a:hlinkClick r:id="rId2"/>
              </a:rPr>
              <a:t>mysql</a:t>
            </a:r>
            <a:r>
              <a:rPr lang="en-US" dirty="0">
                <a:hlinkClick r:id="rId2"/>
              </a:rPr>
              <a:t>-database-performance/</a:t>
            </a:r>
            <a:endParaRPr lang="en-US" dirty="0"/>
          </a:p>
          <a:p>
            <a:endParaRPr lang="en-US" dirty="0"/>
          </a:p>
          <a:p>
            <a:pPr>
              <a:buFont typeface="+mj-lt"/>
              <a:buAutoNum type="arabicPeriod" startAt="2"/>
            </a:pPr>
            <a:r>
              <a:rPr lang="en-US" dirty="0"/>
              <a:t>MySQL Best Practices</a:t>
            </a:r>
          </a:p>
          <a:p>
            <a:pPr marL="0" indent="0">
              <a:buNone/>
            </a:pP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  <a:hlinkClick r:id="rId3"/>
              </a:rPr>
              <a:t>https://www.percona.com/blog/innodb-performance-optimization-basics-updated</a:t>
            </a:r>
            <a:endParaRPr lang="en-US" dirty="0">
              <a:latin typeface="Oracle Sans Tab Light" panose="020B0403020204020204" pitchFamily="34" charset="0"/>
              <a:cs typeface="Oracle Sans Tab Light" panose="020B0403020204020204" pitchFamily="34" charset="0"/>
            </a:endParaRPr>
          </a:p>
          <a:p>
            <a:pPr marL="0" indent="0">
              <a:buNone/>
            </a:pPr>
            <a:endParaRPr lang="en-US" dirty="0">
              <a:latin typeface="Oracle Sans Tab Light" panose="020B0403020204020204" pitchFamily="34" charset="0"/>
              <a:cs typeface="Oracle Sans Tab Light" panose="020B0403020204020204" pitchFamily="34" charset="0"/>
            </a:endParaRPr>
          </a:p>
          <a:p>
            <a:pPr marL="0" indent="0">
              <a:buNone/>
            </a:pPr>
            <a:r>
              <a:rPr lang="en-US" dirty="0" err="1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innodb_flush_log_at_trx_commit</a:t>
            </a: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 = 2</a:t>
            </a:r>
          </a:p>
          <a:p>
            <a:pPr marL="0" indent="0">
              <a:buNone/>
            </a:pPr>
            <a:r>
              <a:rPr lang="en-US" dirty="0" err="1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sync_binlog</a:t>
            </a: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 = 0</a:t>
            </a:r>
          </a:p>
          <a:p>
            <a:pPr marL="0" indent="0">
              <a:buNone/>
            </a:pPr>
            <a:r>
              <a:rPr lang="en-US" dirty="0" err="1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innodb_buffer_pool_size</a:t>
            </a: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 = 700GB</a:t>
            </a:r>
          </a:p>
          <a:p>
            <a:pPr marL="0" indent="0">
              <a:buNone/>
            </a:pPr>
            <a:endParaRPr lang="en-US" dirty="0">
              <a:latin typeface="Oracle Sans Tab Light" panose="020B0403020204020204" pitchFamily="34" charset="0"/>
              <a:cs typeface="Oracle Sans Tab Light" panose="020B04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548B8C-396B-7CA7-3290-9BB90073B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OS and MySQL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01079-3021-BD2F-C0EB-F0789B2277D7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6C21A-EC3E-C81C-CF88-59E759256294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91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4D607-235F-ACAA-1413-C970A51D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F315D-9E75-C593-847A-E60A91BAB52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table_open_cache</a:t>
            </a: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 = 15000 </a:t>
            </a:r>
          </a:p>
          <a:p>
            <a:pPr marL="0" indent="0">
              <a:buNone/>
            </a:pPr>
            <a:r>
              <a:rPr lang="en-US" dirty="0" err="1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table_open_cache_instances</a:t>
            </a: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=6</a:t>
            </a:r>
          </a:p>
          <a:p>
            <a:pPr marL="0" indent="0">
              <a:buNone/>
            </a:pPr>
            <a:r>
              <a:rPr lang="en-US" dirty="0" err="1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innodb_log_buffer_size</a:t>
            </a: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 = 64M</a:t>
            </a:r>
          </a:p>
          <a:p>
            <a:pPr marL="0" indent="0">
              <a:buNone/>
            </a:pPr>
            <a:endParaRPr lang="en-US" dirty="0">
              <a:latin typeface="Oracle Sans Tab Light" panose="020B0403020204020204" pitchFamily="34" charset="0"/>
              <a:cs typeface="Oracle Sans Tab Light" panose="020B0403020204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# Replication</a:t>
            </a:r>
          </a:p>
          <a:p>
            <a:pPr marL="0" indent="0">
              <a:buNone/>
            </a:pPr>
            <a:r>
              <a:rPr lang="en-US" dirty="0" err="1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transaction_write_set_extraction</a:t>
            </a: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 = XXHASH64</a:t>
            </a:r>
          </a:p>
          <a:p>
            <a:pPr marL="0" indent="0">
              <a:buNone/>
            </a:pPr>
            <a:r>
              <a:rPr lang="en-US" dirty="0" err="1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binlog_row_image</a:t>
            </a: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 = MINIMAL</a:t>
            </a:r>
          </a:p>
          <a:p>
            <a:pPr marL="0" indent="0">
              <a:buNone/>
            </a:pPr>
            <a:r>
              <a:rPr lang="en-US" dirty="0" err="1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binlog_transaction_dependency_tracking</a:t>
            </a: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 = WRITESET</a:t>
            </a:r>
          </a:p>
          <a:p>
            <a:pPr marL="0" indent="0">
              <a:buNone/>
            </a:pPr>
            <a:r>
              <a:rPr lang="en-US" dirty="0" err="1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gtid_mode</a:t>
            </a: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=ON</a:t>
            </a:r>
          </a:p>
          <a:p>
            <a:pPr marL="0" indent="0">
              <a:buNone/>
            </a:pP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enforce-</a:t>
            </a:r>
            <a:r>
              <a:rPr lang="en-US" dirty="0" err="1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gtid</a:t>
            </a:r>
            <a:r>
              <a:rPr lang="en-US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-consistency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FB127C-02F1-1777-A1AA-89B71A059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OS and MySQL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73E70-21A1-1609-EB5B-23975B88293E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FAF03-42B8-A824-B51E-86E8FF64E523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5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F9AF4-3E0A-416C-9480-CFF5F066A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AE0F7C-B15C-B227-24C3-CBFBA5FE3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</p:spPr>
        <p:txBody>
          <a:bodyPr anchor="b">
            <a:normAutofit/>
          </a:bodyPr>
          <a:lstStyle/>
          <a:p>
            <a:r>
              <a:rPr lang="pt-BR" noProof="0" dirty="0"/>
              <a:t>Alarmes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EC4CF8-1187-1ED1-033D-088F8C92043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2000" y="6423660"/>
            <a:ext cx="365760" cy="36576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45D60D9-5372-5F40-9443-0F9AE5BDC3C8}" type="slidenum">
              <a:rPr lang="pt-BR" noProof="0" smtClean="0"/>
              <a:pPr>
                <a:spcAft>
                  <a:spcPts val="600"/>
                </a:spcAft>
              </a:pPr>
              <a:t>11</a:t>
            </a:fld>
            <a:endParaRPr lang="pt-BR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1DE83-B4A8-7005-ABE5-5BA9CF39124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24712" y="6424295"/>
            <a:ext cx="100584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pt-BR" noProof="0" err="1"/>
              <a:t>ace.oracle.com</a:t>
            </a:r>
            <a:endParaRPr lang="pt-BR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F3A861-5220-6234-89F9-27AAA0421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85154"/>
            <a:ext cx="4503479" cy="44580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882716-CA39-D208-54D6-D7B49B6B7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53" y="2880230"/>
            <a:ext cx="5592944" cy="109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959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39729-CCCE-0616-86D3-776433F6E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DE738-866E-4C7E-AB96-885950557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Início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4F0B0-FD9F-6886-7277-620D96411720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FADE8-1E9C-2CCB-0D49-97165C008E0A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854106-ADD2-EDFD-7999-88C8CE05A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32" y="2103978"/>
            <a:ext cx="725869" cy="822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4BEAF0-2EC6-1300-3E2C-D38804B05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423" y="4099742"/>
            <a:ext cx="735079" cy="87644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826727-F293-79E5-4AF9-FA1855A4766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5223963" y="2926938"/>
            <a:ext cx="4604" cy="11728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Percona Monitoring and Management (PMM) Discussions | G2">
            <a:extLst>
              <a:ext uri="{FF2B5EF4-FFF2-40B4-BE49-F238E27FC236}">
                <a16:creationId xmlns:a16="http://schemas.microsoft.com/office/drawing/2014/main" id="{F7042468-0E7B-D373-D571-DB1A7EBC9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663" y="3150532"/>
            <a:ext cx="1382126" cy="72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9F69CEC1-CDB0-914C-49A6-B0D125EE089E}"/>
              </a:ext>
            </a:extLst>
          </p:cNvPr>
          <p:cNvCxnSpPr>
            <a:cxnSpLocks/>
            <a:endCxn id="9" idx="3"/>
          </p:cNvCxnSpPr>
          <p:nvPr/>
        </p:nvCxnSpPr>
        <p:spPr>
          <a:xfrm rot="10800000" flipV="1">
            <a:off x="5591503" y="3506874"/>
            <a:ext cx="1633263" cy="1031087"/>
          </a:xfrm>
          <a:prstGeom prst="curved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903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211C-1929-7DEA-474B-C5E0C668A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65638F-C3A6-0DE1-FBAA-8C1873A38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pt-BR" noProof="0" smtClean="0"/>
              <a:pPr/>
              <a:t>13</a:t>
            </a:fld>
            <a:endParaRPr lang="pt-BR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C45B8C-AA11-B679-346C-9CA1DCCC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2215"/>
            <a:ext cx="10158984" cy="1280160"/>
          </a:xfrm>
        </p:spPr>
        <p:txBody>
          <a:bodyPr/>
          <a:lstStyle/>
          <a:p>
            <a:r>
              <a:rPr lang="pt-BR" sz="4800" dirty="0"/>
              <a:t>Fase 2: Réplica e MEMORY </a:t>
            </a:r>
            <a:r>
              <a:rPr lang="pt-BR" sz="4800" dirty="0" err="1"/>
              <a:t>Table</a:t>
            </a:r>
            <a:endParaRPr lang="pt-BR" sz="4800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A4155-0E0F-AD92-4CC9-F7E122888A7B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pt-BR" noProof="0" err="1"/>
              <a:t>ace.oracle.com</a:t>
            </a:r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91433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DA651-7D41-AFF6-19B8-6747A1205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55CC0-7354-D1AC-AC78-F3610DAB76F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noProof="0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Replicação Assíncrona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noProof="0" dirty="0">
              <a:latin typeface="Oracle Sans Tab Light" panose="020B0403020204020204" pitchFamily="34" charset="0"/>
              <a:cs typeface="Oracle Sans Tab Light" panose="020B04030202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noProof="0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Redundância (E acredite, já foi usado durante o incidente da ENEL em SP com a queda de energia)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noProof="0" dirty="0">
              <a:latin typeface="Oracle Sans Tab Light" panose="020B0403020204020204" pitchFamily="34" charset="0"/>
              <a:cs typeface="Oracle Sans Tab Light" panose="020B04030202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noProof="0" dirty="0" err="1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Offload</a:t>
            </a:r>
            <a:r>
              <a:rPr lang="pt-BR" noProof="0" dirty="0">
                <a:latin typeface="Oracle Sans Tab Light" panose="020B0403020204020204" pitchFamily="34" charset="0"/>
                <a:cs typeface="Oracle Sans Tab Light" panose="020B0403020204020204" pitchFamily="34" charset="0"/>
              </a:rPr>
              <a:t> de OLAP para a réplica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noProof="0" dirty="0">
              <a:latin typeface="Oracle Sans Tab Light" panose="020B0403020204020204" pitchFamily="34" charset="0"/>
              <a:cs typeface="Oracle Sans Tab Light" panose="020B04030202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A36998-731D-B5E1-C599-937A6772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Replica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25105-6B69-898A-7F04-D2AB98B4553C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13030-C502-DD60-A853-0B6331348A3A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09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5DB0F-DA9B-07AE-F8EE-0DFC61C1B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29AF6-0221-5BF6-D2D2-165ADFCC2EF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BR" noProof="1"/>
              <a:t>A </a:t>
            </a:r>
            <a:r>
              <a:rPr lang="pt-BR" b="1" noProof="1"/>
              <a:t>MEMORY Engine</a:t>
            </a:r>
            <a:r>
              <a:rPr lang="pt-BR" noProof="1"/>
              <a:t> (antigamente chamada de HEAP) é um mecanismo de armazenamento do MySQL que mantém </a:t>
            </a:r>
            <a:r>
              <a:rPr lang="pt-BR" b="1" noProof="1"/>
              <a:t>todos os dados armazenados em memória RAM</a:t>
            </a:r>
            <a:r>
              <a:rPr lang="pt-BR" noProof="1"/>
              <a:t>, em vez de disco.</a:t>
            </a:r>
          </a:p>
          <a:p>
            <a:pPr>
              <a:lnSpc>
                <a:spcPct val="150000"/>
              </a:lnSpc>
            </a:pPr>
            <a:r>
              <a:rPr lang="pt-BR" noProof="1"/>
              <a:t>Ideal para cache</a:t>
            </a:r>
          </a:p>
          <a:p>
            <a:pPr>
              <a:lnSpc>
                <a:spcPct val="150000"/>
              </a:lnSpc>
            </a:pPr>
            <a:r>
              <a:rPr lang="pt-BR" noProof="1"/>
              <a:t>Lookup de tabelas pequenas (ou que caibam em memória)</a:t>
            </a:r>
          </a:p>
          <a:p>
            <a:pPr>
              <a:lnSpc>
                <a:spcPct val="150000"/>
              </a:lnSpc>
            </a:pPr>
            <a:endParaRPr lang="pt-BR" noProof="1"/>
          </a:p>
          <a:p>
            <a:pPr marL="0" indent="0">
              <a:lnSpc>
                <a:spcPct val="150000"/>
              </a:lnSpc>
              <a:buNone/>
            </a:pPr>
            <a:r>
              <a:rPr lang="en-US" dirty="0" err="1"/>
              <a:t>Além</a:t>
            </a:r>
            <a:r>
              <a:rPr lang="en-US" dirty="0"/>
              <a:t> </a:t>
            </a:r>
            <a:r>
              <a:rPr lang="en-US" dirty="0" err="1"/>
              <a:t>disso</a:t>
            </a:r>
            <a:r>
              <a:rPr lang="en-US" dirty="0"/>
              <a:t>, o </a:t>
            </a:r>
            <a:r>
              <a:rPr lang="en-US" dirty="0" err="1"/>
              <a:t>uso</a:t>
            </a:r>
            <a:r>
              <a:rPr lang="en-US" dirty="0"/>
              <a:t> de </a:t>
            </a:r>
            <a:r>
              <a:rPr lang="en-US" b="1" dirty="0" err="1"/>
              <a:t>índices</a:t>
            </a:r>
            <a:r>
              <a:rPr lang="en-US" b="1" dirty="0"/>
              <a:t> HASH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padrão</a:t>
            </a:r>
            <a:r>
              <a:rPr lang="en-US" dirty="0"/>
              <a:t> </a:t>
            </a:r>
            <a:r>
              <a:rPr lang="en-US" dirty="0" err="1"/>
              <a:t>torna</a:t>
            </a:r>
            <a:r>
              <a:rPr lang="en-US" dirty="0"/>
              <a:t> </a:t>
            </a:r>
            <a:r>
              <a:rPr lang="en-US" dirty="0" err="1"/>
              <a:t>buscas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igualdade</a:t>
            </a:r>
            <a:r>
              <a:rPr lang="en-US" dirty="0"/>
              <a:t> (=) </a:t>
            </a:r>
            <a:r>
              <a:rPr lang="en-US" dirty="0" err="1"/>
              <a:t>muito</a:t>
            </a:r>
            <a:r>
              <a:rPr lang="en-US" dirty="0"/>
              <a:t> </a:t>
            </a:r>
            <a:r>
              <a:rPr lang="en-US" dirty="0" err="1"/>
              <a:t>rápidas</a:t>
            </a:r>
            <a:r>
              <a:rPr lang="en-US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pt-BR" noProof="1"/>
          </a:p>
          <a:p>
            <a:pPr>
              <a:lnSpc>
                <a:spcPct val="150000"/>
              </a:lnSpc>
            </a:pPr>
            <a:endParaRPr lang="pt-BR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9C45D-3AF4-532A-FC4D-AFCFC54D5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Engine PRÓS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F4F7F-CC88-1D43-2D34-A795D198F9F2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2EBFA-AFC2-5FF6-F817-FD89857F561F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69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D28BE-2C1B-0C17-64F7-2E09917D0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ECE72-1250-272F-0B5B-1AC4B11EE30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pt-BR" noProof="1"/>
              <a:t>Dados não persistentes. Problema se o banco cair e precisar syncar os dados em horário produtivo.</a:t>
            </a:r>
          </a:p>
          <a:p>
            <a:pPr>
              <a:lnSpc>
                <a:spcPct val="200000"/>
              </a:lnSpc>
            </a:pPr>
            <a:r>
              <a:rPr lang="pt-BR" noProof="1"/>
              <a:t>Não suporta transações</a:t>
            </a:r>
          </a:p>
          <a:p>
            <a:pPr>
              <a:lnSpc>
                <a:spcPct val="200000"/>
              </a:lnSpc>
            </a:pPr>
            <a:r>
              <a:rPr lang="pt-BR" noProof="1"/>
              <a:t>Usa Locking por tabela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EA2B38-83C3-04A9-2A30-8C3177993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Engine CONTRAS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0B1E3-3EBB-D3C5-A86E-64B71633F10C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AFDAD-982F-4001-47A3-DCAE3C16FA1D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15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290DF-3F4A-E9DA-6E59-3D8A403E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2B308-9C92-3E21-2B1A-71BF31A52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Fase 2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23047-38E5-BF2A-B472-CEC580C6CB64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296EE-E90A-D50C-45B5-E6CB24AF0B46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3E49E5-AB9C-41C1-8F72-9D0824945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32" y="945029"/>
            <a:ext cx="725869" cy="822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2E8466-56E8-BBF9-E77F-87DB490B4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423" y="2940793"/>
            <a:ext cx="735079" cy="87644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8B64793-71D4-7341-5CD0-94EAFC9F7F72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5223963" y="1767989"/>
            <a:ext cx="4604" cy="117280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Percona Monitoring and Management (PMM) Discussions | G2">
            <a:extLst>
              <a:ext uri="{FF2B5EF4-FFF2-40B4-BE49-F238E27FC236}">
                <a16:creationId xmlns:a16="http://schemas.microsoft.com/office/drawing/2014/main" id="{165DF4B1-FEC1-4421-DA6E-9DC0C190FA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663" y="1991583"/>
            <a:ext cx="1382126" cy="72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C76D7B7B-8F2F-A046-6F39-343B4828DE3C}"/>
              </a:ext>
            </a:extLst>
          </p:cNvPr>
          <p:cNvCxnSpPr>
            <a:cxnSpLocks/>
            <a:endCxn id="9" idx="3"/>
          </p:cNvCxnSpPr>
          <p:nvPr/>
        </p:nvCxnSpPr>
        <p:spPr>
          <a:xfrm rot="10800000" flipV="1">
            <a:off x="5591502" y="2361363"/>
            <a:ext cx="1613166" cy="1017650"/>
          </a:xfrm>
          <a:prstGeom prst="curved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14FE866-320D-299A-E026-F8A74E0A8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422" y="4551817"/>
            <a:ext cx="735079" cy="87644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5A3107-76F7-26F2-15FD-429DD3E3CDA1}"/>
              </a:ext>
            </a:extLst>
          </p:cNvPr>
          <p:cNvCxnSpPr>
            <a:stCxn id="9" idx="2"/>
            <a:endCxn id="3" idx="0"/>
          </p:cNvCxnSpPr>
          <p:nvPr/>
        </p:nvCxnSpPr>
        <p:spPr>
          <a:xfrm flipH="1">
            <a:off x="5223962" y="3817233"/>
            <a:ext cx="0" cy="734584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844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944FA-8374-CEBB-2691-E03D83325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3D36F2-F082-EF03-8E74-D22AE9F43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pt-BR" noProof="0" smtClean="0"/>
              <a:pPr/>
              <a:t>18</a:t>
            </a:fld>
            <a:endParaRPr lang="pt-BR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DBB1DF-F474-719A-1356-A2773BDA1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2215"/>
            <a:ext cx="10158984" cy="1280160"/>
          </a:xfrm>
        </p:spPr>
        <p:txBody>
          <a:bodyPr/>
          <a:lstStyle/>
          <a:p>
            <a:r>
              <a:rPr lang="pt-BR" sz="4800" dirty="0"/>
              <a:t>Fase 3: Mais recursos</a:t>
            </a:r>
            <a:endParaRPr lang="pt-BR" sz="4800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583E5-640C-2191-F22F-CD2B5B1A9856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pt-BR" noProof="0" err="1"/>
              <a:t>ace.oracle.com</a:t>
            </a:r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724371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3B931-B557-E2DC-8839-76F46BA14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7763-B29F-822C-B998-4C4C6FB48E0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200" b="1" noProof="1">
                <a:latin typeface="Courier New" panose="02070309020205020404" pitchFamily="49" charset="0"/>
                <a:cs typeface="Courier New" panose="02070309020205020404" pitchFamily="49" charset="0"/>
              </a:rPr>
              <a:t> Processors | physical = 2, cores = 128, virtual = 256, hyperthreading = yes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      Speeds | 227x1500.000, 27x2000.000, 1x2216.835, 1x3026.960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      Models | 256xAMD EPYC 7713 64-Core Processor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      Caches | 256x512 KB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  Designation               Configuration                  Size     Associativity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  ========================= ============================== ======== ======================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  Not Specified             Enabled, Not Socketed, Level 1 0 kB     8-way Set-associative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[...]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  Not Specified             Enabled, Not Socketed, Level 3 0 kB     16-way Set-associative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# Memory #####################################################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b="1" noProof="1">
                <a:latin typeface="Courier New" panose="02070309020205020404" pitchFamily="49" charset="0"/>
                <a:cs typeface="Courier New" panose="02070309020205020404" pitchFamily="49" charset="0"/>
              </a:rPr>
              <a:t>         Total | 1.4T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D35C4D-7B1A-C5C5-DEF2-8A115D6C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Mais </a:t>
            </a:r>
            <a:r>
              <a:rPr lang="en-US" dirty="0" err="1"/>
              <a:t>recursos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ABF5A-1B46-6893-3010-82EEF528563D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33AA6-FD5A-A325-1CE9-717E69A0EB3A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46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BC682-AF10-3981-B056-BBC5319F7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FF921-D0BE-B06C-C6EE-026F60A0702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52475" y="1176337"/>
            <a:ext cx="10687050" cy="450532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FIO Test Results - 32KiB RandRW, 4 jobs, iodepth=256, 120s runtime</a:t>
            </a:r>
          </a:p>
          <a:p>
            <a:pPr marL="0" indent="0">
              <a:lnSpc>
                <a:spcPct val="100000"/>
              </a:lnSpc>
              <a:buNone/>
            </a:pPr>
            <a:endParaRPr lang="pt-BR" sz="12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┌──────────────┬─────────────────────────────┐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│              │        Storage Result  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├──────────────┼─────────────────────────────┤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│ Read BW      │ 1765 MiB/s (~1851 MB/s)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b="1" noProof="1">
                <a:latin typeface="Courier New" panose="02070309020205020404" pitchFamily="49" charset="0"/>
                <a:cs typeface="Courier New" panose="02070309020205020404" pitchFamily="49" charset="0"/>
              </a:rPr>
              <a:t>│ Read IOPS    │ 56.5k                  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│ Read Latency │ avg: 8.06 ms           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│ p95          │ ~9.8 ms                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│ p99.9        │ ~14.2 ms               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├──────────────┼─────────────────────────────┤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│ Write BW     │ 1764 MiB/s (~1849 MB/s)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b="1" noProof="1">
                <a:latin typeface="Courier New" panose="02070309020205020404" pitchFamily="49" charset="0"/>
                <a:cs typeface="Courier New" panose="02070309020205020404" pitchFamily="49" charset="0"/>
              </a:rPr>
              <a:t>│ Write IOPS   │ 56.4k                  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│ Write Latency│ avg: 10.1 ms           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│ p95          │ ~13.0 ms               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│ p99.9        │ ~17.7 ms               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├──────────────┼─────────────────────────────┤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│ CPU (usr/sys)│ 3.1% / 42.9%           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│ IO Total     │ 207 GiB Read + 207 GiB Write│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│ Disk Util    │ ~100%                       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└──────────────┴─────────────────────────────┘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04692-D41E-83EE-3F13-6BC312D60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Mais </a:t>
            </a:r>
            <a:r>
              <a:rPr lang="en-US" dirty="0" err="1"/>
              <a:t>recursos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EC674-CDC9-2C8A-21F0-3B8DB895E700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77A4D-4B36-9F00-419A-47546D3BFB70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285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0E2B-7A07-57C9-C0BC-C7EF58E92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79C06-BFB6-EA09-4583-103E816DD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Fase 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B5028-1147-373D-8455-CAE388F8B6F5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2A080D-8455-5BB9-9AC0-A3776D68AAF2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CA147F-6F9E-219A-CDE0-0B8A2248D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32" y="945029"/>
            <a:ext cx="725869" cy="822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8B6293-5FEB-7193-6551-7A471783A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899" y="2347418"/>
            <a:ext cx="1382126" cy="164791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AE948A-1309-239B-9EFA-A75EFC42F3C3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5223962" y="1767989"/>
            <a:ext cx="4605" cy="57942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Percona Monitoring and Management (PMM) Discussions | G2">
            <a:extLst>
              <a:ext uri="{FF2B5EF4-FFF2-40B4-BE49-F238E27FC236}">
                <a16:creationId xmlns:a16="http://schemas.microsoft.com/office/drawing/2014/main" id="{1D6C0541-C15F-2791-8751-F0541A3CD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663" y="1991583"/>
            <a:ext cx="1382126" cy="72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5DDB05F4-06CC-683E-D5C7-458836553930}"/>
              </a:ext>
            </a:extLst>
          </p:cNvPr>
          <p:cNvCxnSpPr>
            <a:cxnSpLocks/>
            <a:endCxn id="9" idx="3"/>
          </p:cNvCxnSpPr>
          <p:nvPr/>
        </p:nvCxnSpPr>
        <p:spPr>
          <a:xfrm rot="10800000" flipV="1">
            <a:off x="5915026" y="2347417"/>
            <a:ext cx="1283217" cy="823959"/>
          </a:xfrm>
          <a:prstGeom prst="curved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DEA5A8C-EAC8-CBE9-F495-D5758CEA5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899" y="4551817"/>
            <a:ext cx="1382125" cy="1647918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71E4ED3-D1C4-099C-9859-3DD943DC7019}"/>
              </a:ext>
            </a:extLst>
          </p:cNvPr>
          <p:cNvCxnSpPr>
            <a:cxnSpLocks/>
            <a:stCxn id="9" idx="2"/>
            <a:endCxn id="3" idx="0"/>
          </p:cNvCxnSpPr>
          <p:nvPr/>
        </p:nvCxnSpPr>
        <p:spPr>
          <a:xfrm>
            <a:off x="5223962" y="3995336"/>
            <a:ext cx="0" cy="556481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988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B13D8-37B5-AD4F-C09A-F49CEF7A8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6036EB-DD5C-80EA-58EB-EB352CB4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pt-BR" noProof="0" smtClean="0"/>
              <a:pPr/>
              <a:t>22</a:t>
            </a:fld>
            <a:endParaRPr lang="pt-BR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EFFFFE-E022-C330-B691-21BF5D4E1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2215"/>
            <a:ext cx="10158984" cy="1280160"/>
          </a:xfrm>
        </p:spPr>
        <p:txBody>
          <a:bodyPr/>
          <a:lstStyle/>
          <a:p>
            <a:r>
              <a:rPr lang="pt-BR" sz="4800" dirty="0"/>
              <a:t>Fase 4: Readyset e ProxySQL</a:t>
            </a:r>
            <a:endParaRPr lang="pt-BR" sz="4800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49313-2335-C881-5D86-03624AA8918F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pt-BR" noProof="0" err="1"/>
              <a:t>ace.oracle.com</a:t>
            </a:r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848905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9E69-241C-0DC6-FCEE-447BBCE20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09701-CF41-4092-FB13-1C987D23B82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camada</a:t>
            </a:r>
            <a:r>
              <a:rPr lang="en-US" dirty="0"/>
              <a:t> </a:t>
            </a:r>
            <a:r>
              <a:rPr lang="en-US" dirty="0" err="1"/>
              <a:t>inteligente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fica</a:t>
            </a:r>
            <a:r>
              <a:rPr lang="en-US" dirty="0"/>
              <a:t> entre a </a:t>
            </a:r>
            <a:r>
              <a:rPr lang="en-US" dirty="0" err="1"/>
              <a:t>aplicação</a:t>
            </a:r>
            <a:r>
              <a:rPr lang="en-US" dirty="0"/>
              <a:t> e o banco (MySQL </a:t>
            </a:r>
            <a:r>
              <a:rPr lang="en-US" dirty="0" err="1"/>
              <a:t>ou</a:t>
            </a:r>
            <a:r>
              <a:rPr lang="en-US" dirty="0"/>
              <a:t> PostgreSQL), </a:t>
            </a:r>
            <a:r>
              <a:rPr lang="en-US" dirty="0" err="1"/>
              <a:t>intercepta</a:t>
            </a:r>
            <a:r>
              <a:rPr lang="en-US" dirty="0"/>
              <a:t> </a:t>
            </a:r>
            <a:r>
              <a:rPr lang="en-US" dirty="0" err="1"/>
              <a:t>consultas</a:t>
            </a:r>
            <a:r>
              <a:rPr lang="en-US" dirty="0"/>
              <a:t> de </a:t>
            </a:r>
            <a:r>
              <a:rPr lang="en-US" dirty="0" err="1"/>
              <a:t>leitura</a:t>
            </a:r>
            <a:r>
              <a:rPr lang="en-US" dirty="0"/>
              <a:t> e:</a:t>
            </a:r>
          </a:p>
          <a:p>
            <a:pPr>
              <a:lnSpc>
                <a:spcPct val="150000"/>
              </a:lnSpc>
            </a:pPr>
            <a:r>
              <a:rPr lang="en-US" dirty="0"/>
              <a:t>Cacheia </a:t>
            </a:r>
            <a:r>
              <a:rPr lang="en-US" dirty="0" err="1"/>
              <a:t>resultados</a:t>
            </a:r>
            <a:r>
              <a:rPr lang="en-US" dirty="0"/>
              <a:t> no </a:t>
            </a:r>
            <a:r>
              <a:rPr lang="en-US" dirty="0" err="1"/>
              <a:t>nível</a:t>
            </a:r>
            <a:r>
              <a:rPr lang="en-US" dirty="0"/>
              <a:t> SQL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Atualiza</a:t>
            </a:r>
            <a:r>
              <a:rPr lang="en-US" dirty="0"/>
              <a:t> esses </a:t>
            </a: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incrementalmente</a:t>
            </a:r>
            <a:r>
              <a:rPr lang="en-US" dirty="0"/>
              <a:t> </a:t>
            </a:r>
            <a:r>
              <a:rPr lang="en-US" dirty="0" err="1"/>
              <a:t>conforme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dados </a:t>
            </a:r>
            <a:r>
              <a:rPr lang="en-US" dirty="0" err="1"/>
              <a:t>mudam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Reduz</a:t>
            </a:r>
            <a:r>
              <a:rPr lang="en-US" dirty="0"/>
              <a:t> </a:t>
            </a:r>
            <a:r>
              <a:rPr lang="en-US" dirty="0" err="1"/>
              <a:t>drasticamente</a:t>
            </a:r>
            <a:r>
              <a:rPr lang="en-US" dirty="0"/>
              <a:t> o tempo de </a:t>
            </a:r>
            <a:r>
              <a:rPr lang="en-US" dirty="0" err="1"/>
              <a:t>resposta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escalar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alterar</a:t>
            </a:r>
            <a:r>
              <a:rPr lang="en-US" dirty="0"/>
              <a:t> </a:t>
            </a:r>
            <a:r>
              <a:rPr lang="en-US" dirty="0" err="1"/>
              <a:t>código</a:t>
            </a:r>
            <a:r>
              <a:rPr lang="en-US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F822AD-4941-B835-0301-5D8B23C6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Readyset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9E5E7-470F-A7E4-B232-F715D91064EA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02E5D-6657-1C8F-F8D8-98EA66862DAE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09ECC1-C6C0-A65F-5DA1-BB4316254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809" y="547892"/>
            <a:ext cx="1337930" cy="75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616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774A9-21EE-E838-F428-5C3DF1CE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C13DA-0EFA-0EFE-4443-555FBD03C92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show caches;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+--------------------+--------------------+--------------------------------------------------------------------------------------------------------------------------------------------------+-------------------+-------+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query id           | cache name         | query text                                                                                                                                       | fallback behavior | count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+--------------------+--------------------+--------------------------------------------------------------------------------------------------------------------------------------------------+-------------------+-------+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q_fe78d1f102633460 | q_fe78d1f102633460 | SELECT `&lt;DB_NAME&gt;`.`&lt;TABLE_1&gt;`.`&lt;COLUMN_1&gt;` FROM `&lt;DB_NAME&gt;`.`&lt;TABLE_1&gt;` WHERE (`&lt;DB_NAME&gt;`.`&lt;TABLE_1&gt;`.`&lt;COLUMN_1&gt;` = $1)                      | fallback allowed  | 0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q_8e56e719ae4400cc | q_8e56e719ae4400cc | SELECT count(`&lt;DB_NAME&gt;`.`&lt;TABLE_2&gt;`.`&lt;COLUMN_2&gt;`) AS `&lt;ALIAS&gt;` FROM `&lt;DB_NAME&gt;`.`&lt;TABLE_2&gt;` WHERE (`&lt;DB_NAME&gt;`.`&lt;TABLE_2&gt;`.`&lt;COLUMN_3&gt;` = $1)  | fallback allowed  | 0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+--------------------+--------------------+--------------------------------------------------------------------------------------------------------------------------------------------------+-------------------+-------+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2 rows in set (0.00 sec)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1F48E-70D8-F665-4F4D-F80D055A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Readyset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25700-F2FF-BFDF-A35F-9784B18041B5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B5920-D8DE-73F2-0608-0FAEB73DF718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33EB99-E6DA-5377-9C7F-82DEFEBEE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0809" y="547892"/>
            <a:ext cx="1337930" cy="75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5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643E0-5A29-46DD-A22D-AD9202D1E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CEFD2-711B-7CC8-5D8C-3662AF564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72440"/>
            <a:ext cx="10671048" cy="822960"/>
          </a:xfrm>
        </p:spPr>
        <p:txBody>
          <a:bodyPr/>
          <a:lstStyle/>
          <a:p>
            <a:pPr algn="ctr"/>
            <a:r>
              <a:rPr lang="en-US" sz="3200" dirty="0"/>
              <a:t>Demo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BCFE8-5DC5-DB33-032B-6061D7FAE0A4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510A-1057-8050-9BF9-7495F24BBF3F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686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4BE0-6A86-87C6-4AF2-A3B8820F4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B0CAC-027B-DFB4-830F-591480C3FC7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O </a:t>
            </a:r>
            <a:r>
              <a:rPr lang="en-US" b="1" dirty="0"/>
              <a:t>ProxySQL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um </a:t>
            </a:r>
            <a:r>
              <a:rPr lang="en-US" b="1" dirty="0"/>
              <a:t>proxy de banco de dados para MySQL e MariaDB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fica</a:t>
            </a:r>
            <a:r>
              <a:rPr lang="en-US" dirty="0"/>
              <a:t> entre a </a:t>
            </a:r>
            <a:r>
              <a:rPr lang="en-US" dirty="0" err="1"/>
              <a:t>aplicação</a:t>
            </a:r>
            <a:r>
              <a:rPr lang="en-US" dirty="0"/>
              <a:t> e o </a:t>
            </a:r>
            <a:r>
              <a:rPr lang="en-US" dirty="0" err="1"/>
              <a:t>servidor</a:t>
            </a:r>
            <a:r>
              <a:rPr lang="en-US" dirty="0"/>
              <a:t> MySQL, </a:t>
            </a:r>
            <a:r>
              <a:rPr lang="en-US" dirty="0" err="1"/>
              <a:t>permitindo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Roteamento</a:t>
            </a:r>
            <a:r>
              <a:rPr lang="en-US" dirty="0"/>
              <a:t> </a:t>
            </a:r>
            <a:r>
              <a:rPr lang="en-US" dirty="0" err="1"/>
              <a:t>inteligente</a:t>
            </a:r>
            <a:r>
              <a:rPr lang="en-US" dirty="0"/>
              <a:t> de queries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Balanceamento</a:t>
            </a:r>
            <a:r>
              <a:rPr lang="en-US" dirty="0"/>
              <a:t> de carga</a:t>
            </a:r>
          </a:p>
          <a:p>
            <a:pPr>
              <a:lnSpc>
                <a:spcPct val="150000"/>
              </a:lnSpc>
            </a:pPr>
            <a:r>
              <a:rPr lang="en-US" dirty="0"/>
              <a:t>Pool de </a:t>
            </a:r>
            <a:r>
              <a:rPr lang="en-US" dirty="0" err="1"/>
              <a:t>conexões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Query caching simples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BD2615-4011-26CC-371B-186EA745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ProxySQL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36180-961A-C506-F6A3-754CDA4E7C3B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2869A-4448-2D62-3486-515B167A0F43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5F827-7C66-48AA-FF4F-45067538E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377" y="313648"/>
            <a:ext cx="1071673" cy="106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990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8416-4900-0AD2-4010-9A725BB77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6B035-A1D6-C34D-DA37-8CE520DD9C4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18977" y="1609724"/>
            <a:ext cx="11873023" cy="450532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select * 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runtime_mysql_servers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+--------------+---------------+------+-----------+--------+--------+-------------+-----------------+---------------------+---------+----------------+------------------+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hostgroup_id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hostname      | port 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gtid_port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status | weight | compression 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max_connections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max_replication_lag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use_ssl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max_latency_ms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comment     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+--------------+---------------+------+-----------+--------+--------+-------------+-----------------+---------------------+---------+----------------+------------------+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10           | 127.0.0.1     | 3307 | 0         | ONLINE | 1      | 0           | 10000           | 0                   | 0       | 0              | Writer      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11           | 127.0.0.1     | 3307 | 0         | ONLINE | 1      | 0           | 10000           | 0                   | 0       | 0              | Writer      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11           | 192.168.200.5 | 3312 | 0         | ONLINE | 10000  | 0           | 10000           | 0                   | 0       | 0              | Replica vox1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12           | 127.0.0.1     | 3307 | 0         | ONLINE | 1      | 0           | 10000           | 0                   | 0       | 0              | Writer      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12           | 127.0.0.1     | 3309 | 0         | ONLINE | 10000  | 0           | 10000           | 0                   | 0       | 0              | Cache - Readyset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+--------------+---------------+------+-----------+--------+--------+-------------+-----------------+---------------------+---------+----------------+------------------+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5 rows in set (0.00 sec)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07982-9C93-946B-DE5F-FE8946297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ProxySQL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392C24-F23C-EBF1-3720-A4F66CA7773D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EC13A-9B8C-E934-6137-8059CF6A2EC7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8B654-2F7F-EB6E-3D54-43E4FF873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377" y="313648"/>
            <a:ext cx="1071673" cy="106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01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AB70C-1625-EB1E-C7B9-424CA2C87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B3329-01D0-A873-4931-C15CEACEFE7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18977" y="1609724"/>
            <a:ext cx="11873023" cy="450532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 SELECT hits,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mysql_query_rules.rule_id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digest,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match_digest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match_pattern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replace_pattern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cache_ttl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apply FROM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mysql_query_rules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NATURAL JOIN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stats.stats_mysql_query_rules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ORDER BY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mysql_query_rules.rule_id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+-----------+---------+--------------------+--------------+---------------+-----------------+-----------+-------+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hits      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rule_id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digest             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match_digest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match_pattern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replace_pattern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cache_ttl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 apply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+-----------+---------+--------------------+--------------+---------------+-----------------+-----------+-------+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154774756 | 11      | 0x9A8885CE1FF73896 | NULL         | NULL          | NULL            | NULL      | 1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105602764 | 12      | 0x7998A0615643369E | NULL         | NULL          | NULL            | NULL      | 1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429696875 | 14      | 0x1A438ECB805DDD72 | NULL         | NULL          | NULL            | NULL      | 1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20        | 15      | 0x01E46F998EB034DC | NULL         | NULL          | NULL            | NULL      | 1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70        | 16      | 0xDFFEC71B10F60F85 | NULL         | NULL          | NULL            | NULL      | 1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[…]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1         | 24      | 0xBE1E39C6E603EA61 | NULL         | NULL          | NULL            | NULL      | 1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232       | 25      | 0x8B6266EFE602E809 | NULL         | NULL          | NULL            | NULL      | 1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630       | 26      | 0x876ED3E056DAD619 | NULL         | NULL          | NULL            | NULL      | 1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| 990       | 27      | 0x38D2A8C1B3D9EFAB | NULL         | NULL          | NULL            | NULL      | 1     |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+-----------+---------+--------------------+--------------+---------------+-----------------+-----------+-------+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16 rows in set (0.00 sec)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4F16E-D869-C386-A5C9-94D50BCE4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ProxySQL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718CE-5231-27D2-B9B7-D8E55DD047B9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5D62E-21AB-C1DA-AED1-73431A6AD208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87D754-BCE2-7116-9823-3408314E8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377" y="313648"/>
            <a:ext cx="1071673" cy="106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53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FE538-3ADD-78DA-3C0E-4752A8C52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E70272-9D6D-1B3D-CA7D-0A7070B5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pt-BR" noProof="0" smtClean="0"/>
              <a:pPr/>
              <a:t>29</a:t>
            </a:fld>
            <a:endParaRPr lang="pt-BR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A485F3-7366-27E1-FBBE-8360CFD9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48586"/>
            <a:ext cx="10158984" cy="797442"/>
          </a:xfrm>
        </p:spPr>
        <p:txBody>
          <a:bodyPr/>
          <a:lstStyle/>
          <a:p>
            <a:r>
              <a:rPr lang="pt-BR" sz="4800" dirty="0"/>
              <a:t>A Marca dos 100k QPS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09EA3-BD5A-2C57-0CD9-717134DAF7A5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pt-BR" noProof="0" err="1"/>
              <a:t>ace.oracle.com</a:t>
            </a:r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599128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72168-584D-9109-DBE3-A85F929A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037C1AB-A33A-671C-F2F7-C24E937CBB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100K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94B23-1583-2656-394A-576E381A780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A2A23-AB7B-AD76-A092-26A6FCCD99F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90971C-F26F-C73E-1AFA-8F6E9D99A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509" y="2654300"/>
            <a:ext cx="38862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23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4B227-D185-4832-6111-A2BBD2947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F727-1843-A9E1-577E-AFEC797D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Final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1B748-64E9-0F16-12B6-62C5FB8F6899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CD3BA-E2DB-E456-0F97-8FA107CBE72E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4F4FE1-505D-8AF9-DF12-7C0B62F3E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32" y="945029"/>
            <a:ext cx="725869" cy="822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7BC744-5C64-14DE-B8BA-FAA6213A8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2172" y="3950244"/>
            <a:ext cx="735079" cy="87644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30BBE7-08F4-A231-4E9B-C9EF32D52590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 flipH="1">
            <a:off x="5223963" y="1767989"/>
            <a:ext cx="4604" cy="78324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Percona Monitoring and Management (PMM) Discussions | G2">
            <a:extLst>
              <a:ext uri="{FF2B5EF4-FFF2-40B4-BE49-F238E27FC236}">
                <a16:creationId xmlns:a16="http://schemas.microsoft.com/office/drawing/2014/main" id="{6F1D0E22-C60A-B71C-CF54-4039FF247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746" y="3475235"/>
            <a:ext cx="1382126" cy="72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B25CA757-B44D-5AE1-FCBE-06512FB95115}"/>
              </a:ext>
            </a:extLst>
          </p:cNvPr>
          <p:cNvCxnSpPr>
            <a:cxnSpLocks/>
            <a:endCxn id="9" idx="3"/>
          </p:cNvCxnSpPr>
          <p:nvPr/>
        </p:nvCxnSpPr>
        <p:spPr>
          <a:xfrm rot="10800000" flipV="1">
            <a:off x="5657252" y="3859618"/>
            <a:ext cx="2657409" cy="528845"/>
          </a:xfrm>
          <a:prstGeom prst="curved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3D6CC7D-143D-FB07-8A60-379FE7AFA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615" y="5431342"/>
            <a:ext cx="735079" cy="8764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A2C40B-7E1C-A283-73E1-DAA1B6854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4012" y="2551236"/>
            <a:ext cx="639902" cy="63790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A18AF7-F9E9-B113-9F00-73CAC13CA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5682" y="3502976"/>
            <a:ext cx="873146" cy="491145"/>
          </a:xfrm>
          <a:prstGeom prst="rect">
            <a:avLst/>
          </a:prstGeom>
        </p:spPr>
      </p:pic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7C4560D1-034D-8A4A-49FB-597B9EA3C358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 rot="16200000" flipH="1">
            <a:off x="5111457" y="3301644"/>
            <a:ext cx="2242204" cy="2017192"/>
          </a:xfrm>
          <a:prstGeom prst="curvedConnector3">
            <a:avLst>
              <a:gd name="adj1" fmla="val 24867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C12C91C0-CA94-8946-0F0B-CDBA212B30E9}"/>
              </a:ext>
            </a:extLst>
          </p:cNvPr>
          <p:cNvCxnSpPr>
            <a:stCxn id="4" idx="2"/>
            <a:endCxn id="9" idx="0"/>
          </p:cNvCxnSpPr>
          <p:nvPr/>
        </p:nvCxnSpPr>
        <p:spPr>
          <a:xfrm rot="16200000" flipH="1">
            <a:off x="4876284" y="3536816"/>
            <a:ext cx="761106" cy="65749"/>
          </a:xfrm>
          <a:prstGeom prst="curvedConnector3">
            <a:avLst>
              <a:gd name="adj1" fmla="val 50000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>
            <a:extLst>
              <a:ext uri="{FF2B5EF4-FFF2-40B4-BE49-F238E27FC236}">
                <a16:creationId xmlns:a16="http://schemas.microsoft.com/office/drawing/2014/main" id="{1B547A3F-8AC1-9A01-DC78-A6E4ECF72993}"/>
              </a:ext>
            </a:extLst>
          </p:cNvPr>
          <p:cNvCxnSpPr>
            <a:stCxn id="4" idx="2"/>
            <a:endCxn id="18" idx="0"/>
          </p:cNvCxnSpPr>
          <p:nvPr/>
        </p:nvCxnSpPr>
        <p:spPr>
          <a:xfrm rot="5400000">
            <a:off x="4581190" y="2860203"/>
            <a:ext cx="313838" cy="971708"/>
          </a:xfrm>
          <a:prstGeom prst="curved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59976BA3-ABB1-EBFF-8472-6491BD98283B}"/>
              </a:ext>
            </a:extLst>
          </p:cNvPr>
          <p:cNvCxnSpPr>
            <a:stCxn id="18" idx="2"/>
            <a:endCxn id="9" idx="1"/>
          </p:cNvCxnSpPr>
          <p:nvPr/>
        </p:nvCxnSpPr>
        <p:spPr>
          <a:xfrm rot="16200000" flipH="1">
            <a:off x="4390042" y="3856333"/>
            <a:ext cx="394343" cy="669917"/>
          </a:xfrm>
          <a:prstGeom prst="curved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A9AF107F-E241-3016-B36B-FB8A6BF33F7F}"/>
              </a:ext>
            </a:extLst>
          </p:cNvPr>
          <p:cNvCxnSpPr>
            <a:stCxn id="5122" idx="2"/>
            <a:endCxn id="3" idx="3"/>
          </p:cNvCxnSpPr>
          <p:nvPr/>
        </p:nvCxnSpPr>
        <p:spPr>
          <a:xfrm rot="5400000">
            <a:off x="7285397" y="4524149"/>
            <a:ext cx="1668711" cy="1022115"/>
          </a:xfrm>
          <a:prstGeom prst="curved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>
            <a:extLst>
              <a:ext uri="{FF2B5EF4-FFF2-40B4-BE49-F238E27FC236}">
                <a16:creationId xmlns:a16="http://schemas.microsoft.com/office/drawing/2014/main" id="{E447DDAF-B61C-C9BC-D651-71CBE110A2FD}"/>
              </a:ext>
            </a:extLst>
          </p:cNvPr>
          <p:cNvCxnSpPr>
            <a:stCxn id="9" idx="2"/>
            <a:endCxn id="3" idx="1"/>
          </p:cNvCxnSpPr>
          <p:nvPr/>
        </p:nvCxnSpPr>
        <p:spPr>
          <a:xfrm rot="16200000" flipH="1">
            <a:off x="5560224" y="4556171"/>
            <a:ext cx="1042878" cy="1583903"/>
          </a:xfrm>
          <a:prstGeom prst="curved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860CF691-A1A9-3687-47D1-F97AF2A4EE43}"/>
              </a:ext>
            </a:extLst>
          </p:cNvPr>
          <p:cNvSpPr/>
          <p:nvPr/>
        </p:nvSpPr>
        <p:spPr>
          <a:xfrm>
            <a:off x="3338623" y="2426511"/>
            <a:ext cx="3606396" cy="2602689"/>
          </a:xfrm>
          <a:prstGeom prst="rect">
            <a:avLst/>
          </a:prstGeom>
          <a:noFill/>
          <a:ln w="15875">
            <a:solidFill>
              <a:schemeClr val="accent1">
                <a:shade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262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DD859-C0CF-E767-7E8E-CDD2BBFB0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5FD9B-0AE6-5FFC-AB95-A1EAF1A83EC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Foi </a:t>
            </a:r>
            <a:r>
              <a:rPr lang="en-US" dirty="0" err="1"/>
              <a:t>necessário</a:t>
            </a:r>
            <a:r>
              <a:rPr lang="en-US" dirty="0"/>
              <a:t> </a:t>
            </a:r>
            <a:r>
              <a:rPr lang="en-US" dirty="0" err="1"/>
              <a:t>adaptação</a:t>
            </a:r>
            <a:r>
              <a:rPr lang="en-US" dirty="0"/>
              <a:t> e </a:t>
            </a:r>
            <a:r>
              <a:rPr lang="en-US" dirty="0" err="1"/>
              <a:t>experimentação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Inovação</a:t>
            </a:r>
            <a:r>
              <a:rPr lang="en-US" dirty="0"/>
              <a:t> </a:t>
            </a: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necessária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É</a:t>
            </a:r>
            <a:r>
              <a:rPr lang="en-US" dirty="0"/>
              <a:t> </a:t>
            </a:r>
            <a:r>
              <a:rPr lang="en-US" dirty="0" err="1"/>
              <a:t>necessário</a:t>
            </a:r>
            <a:r>
              <a:rPr lang="en-US" dirty="0"/>
              <a:t> </a:t>
            </a:r>
            <a:r>
              <a:rPr lang="en-US" dirty="0" err="1"/>
              <a:t>observação</a:t>
            </a:r>
            <a:r>
              <a:rPr lang="en-US" dirty="0"/>
              <a:t> continua. </a:t>
            </a:r>
            <a:r>
              <a:rPr lang="en-US" dirty="0" err="1"/>
              <a:t>Alguns</a:t>
            </a:r>
            <a:r>
              <a:rPr lang="en-US" dirty="0"/>
              <a:t> </a:t>
            </a:r>
            <a:r>
              <a:rPr lang="en-US" dirty="0" err="1"/>
              <a:t>parâmetros</a:t>
            </a:r>
            <a:r>
              <a:rPr lang="en-US" dirty="0"/>
              <a:t> </a:t>
            </a:r>
            <a:r>
              <a:rPr lang="en-US" dirty="0" err="1"/>
              <a:t>foram</a:t>
            </a:r>
            <a:r>
              <a:rPr lang="en-US" dirty="0"/>
              <a:t> </a:t>
            </a:r>
            <a:r>
              <a:rPr lang="en-US" dirty="0" err="1"/>
              <a:t>reavaliados</a:t>
            </a:r>
            <a:r>
              <a:rPr lang="en-US" dirty="0"/>
              <a:t> e </a:t>
            </a:r>
            <a:r>
              <a:rPr lang="en-US" dirty="0" err="1"/>
              <a:t>sofreram</a:t>
            </a:r>
            <a:r>
              <a:rPr lang="en-US" dirty="0"/>
              <a:t> rollback. </a:t>
            </a:r>
            <a:r>
              <a:rPr lang="en-US" dirty="0" err="1"/>
              <a:t>Exemplo</a:t>
            </a:r>
            <a:r>
              <a:rPr lang="en-US" dirty="0"/>
              <a:t>: </a:t>
            </a:r>
            <a:r>
              <a:rPr lang="en-US" dirty="0" err="1"/>
              <a:t>sync_binlog</a:t>
            </a:r>
            <a:r>
              <a:rPr lang="en-US" dirty="0"/>
              <a:t> e </a:t>
            </a:r>
            <a:r>
              <a:rPr lang="en-US" dirty="0" err="1"/>
              <a:t>innodb_flush_log_at_trx_commit</a:t>
            </a:r>
            <a:r>
              <a:rPr lang="en-US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83B1D-86B0-3AB6-0213-7094DAED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Lições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F2CE8-E0E0-5CD6-7F5A-5883D8E98C6D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/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C9807-08C4-0CBB-0DE7-BC2EBAE96678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972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6B8DD-76A2-3547-7FC3-CF53C82C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93F93-A324-F0E6-5156-D8CCF0BF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Perguntas</a:t>
            </a:r>
            <a:r>
              <a:rPr lang="en-US" dirty="0"/>
              <a:t>?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912BA-985B-119E-E902-4EEB4190CFA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054D40-26C0-8637-47B7-6FD05C06EFC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05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F0CA2-2A69-08D4-7044-3345E6250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06C60-72D2-EBF0-6260-931CDD444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30277"/>
            <a:ext cx="8949283" cy="653835"/>
          </a:xfrm>
        </p:spPr>
        <p:txBody>
          <a:bodyPr/>
          <a:lstStyle/>
          <a:p>
            <a:r>
              <a:rPr lang="en-US" b="1" dirty="0"/>
              <a:t>https://</a:t>
            </a:r>
            <a:r>
              <a:rPr lang="en-US" b="1" dirty="0" err="1"/>
              <a:t>comunidademysql.com.br</a:t>
            </a:r>
            <a:r>
              <a:rPr lang="en-US" b="1" dirty="0"/>
              <a:t>/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58E14-B288-4505-E2A5-2C95F09E42B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44098D2-6D21-24D1-947B-1A5534850A5B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538F47-3127-F49A-3513-A7937C385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846142"/>
            <a:ext cx="7772400" cy="403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544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10922-A30C-E9D2-FBB9-6FCCE28A2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7C682-8FAF-29DC-2E65-03D5A647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63287-94E3-9E27-DE42-0EA89F89960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336C5C-CE35-74A3-0491-6874C425BA0C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0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arent Master">
  <a:themeElements>
    <a:clrScheme name="Oracle Redwood 08-26-2020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Presentation16" id="{6391EB39-2F7E-7E48-B8E0-526BE2EC03D5}" vid="{AE088C0C-C74B-2744-B44F-F37E1D6E1089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acle Redwood 06-2020">
    <a:dk1>
      <a:srgbClr val="312D2A"/>
    </a:dk1>
    <a:lt1>
      <a:srgbClr val="FCFBFA"/>
    </a:lt1>
    <a:dk2>
      <a:srgbClr val="312D2A"/>
    </a:dk2>
    <a:lt2>
      <a:srgbClr val="FCFBFA"/>
    </a:lt2>
    <a:accent1>
      <a:srgbClr val="C74634"/>
    </a:accent1>
    <a:accent2>
      <a:srgbClr val="FACD62"/>
    </a:accent2>
    <a:accent3>
      <a:srgbClr val="94AFAF"/>
    </a:accent3>
    <a:accent4>
      <a:srgbClr val="2B6242"/>
    </a:accent4>
    <a:accent5>
      <a:srgbClr val="AE562C"/>
    </a:accent5>
    <a:accent6>
      <a:srgbClr val="759C6C"/>
    </a:accent6>
    <a:hlink>
      <a:srgbClr val="2C5967"/>
    </a:hlink>
    <a:folHlink>
      <a:srgbClr val="2C5967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  <wetp:taskpane dockstate="right" visibility="0" width="35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62FD4167-0456-4742-A34A-11E5C014D877}">
  <we:reference id="wa200005594" version="1.0.0.0" store="en-SG" storeType="OMEX"/>
  <we:alternateReferences>
    <we:reference id="WA200005594" version="1.0.0.0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F8B8910-5F22-D44D-B1BB-447D859A081B}">
  <we:reference id="wa104381063" version="1.0.0.1" store="en-US" storeType="OMEX"/>
  <we:alternateReferences>
    <we:reference id="WA104381063" version="1.0.0.1" store="WA104381063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7023421-BD2A-0D44-A6E8-162C54D1D40A}">
  <we:reference id="wa104381411" version="2.4.5.0" store="en-US" storeType="OMEX"/>
  <we:alternateReferences>
    <we:reference id="WA104381411" version="2.4.5.0" store="WA10438141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Parent Master Pillars</Template>
  <TotalTime>3871</TotalTime>
  <Words>1722</Words>
  <Application>Microsoft Macintosh PowerPoint</Application>
  <PresentationFormat>Widescreen</PresentationFormat>
  <Paragraphs>259</Paragraphs>
  <Slides>35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Courier New</vt:lpstr>
      <vt:lpstr>Oracle Sans Light</vt:lpstr>
      <vt:lpstr>Oracle Sans Tab</vt:lpstr>
      <vt:lpstr>Oracle Sans Tab Light</vt:lpstr>
      <vt:lpstr>System Font Regular</vt:lpstr>
      <vt:lpstr>Parent Master</vt:lpstr>
      <vt:lpstr>Além do Scaling Up: Como a Lemit atingiu 100k QPS usando Readyset</vt:lpstr>
      <vt:lpstr>SELECT * FROM person WHERE name LIKE ‘Vini’;</vt:lpstr>
      <vt:lpstr>Agenda</vt:lpstr>
      <vt:lpstr>Desafios</vt:lpstr>
      <vt:lpstr>O Início</vt:lpstr>
      <vt:lpstr>O Início</vt:lpstr>
      <vt:lpstr>Adicionando Observabilidade</vt:lpstr>
      <vt:lpstr>Demo</vt:lpstr>
      <vt:lpstr>Tuning OS and MySQL</vt:lpstr>
      <vt:lpstr>Tuning OS and MySQL</vt:lpstr>
      <vt:lpstr>Alarmes</vt:lpstr>
      <vt:lpstr>O Início</vt:lpstr>
      <vt:lpstr>Fase 2: Réplica e MEMORY Table</vt:lpstr>
      <vt:lpstr>Replica</vt:lpstr>
      <vt:lpstr>MEMORY Engine PRÓS</vt:lpstr>
      <vt:lpstr>MEMORY Engine CONTRAS</vt:lpstr>
      <vt:lpstr>Fase 2</vt:lpstr>
      <vt:lpstr>Fase 3: Mais recursos</vt:lpstr>
      <vt:lpstr>Mais recursos</vt:lpstr>
      <vt:lpstr>Mais recursos</vt:lpstr>
      <vt:lpstr>Fase 3</vt:lpstr>
      <vt:lpstr>Fase 4: Readyset e ProxySQL</vt:lpstr>
      <vt:lpstr>Readyset</vt:lpstr>
      <vt:lpstr>Readyset</vt:lpstr>
      <vt:lpstr>Demo</vt:lpstr>
      <vt:lpstr>ProxySQL</vt:lpstr>
      <vt:lpstr>ProxySQL</vt:lpstr>
      <vt:lpstr>ProxySQL</vt:lpstr>
      <vt:lpstr>A Marca dos 100k QPS</vt:lpstr>
      <vt:lpstr>PowerPoint Presentation</vt:lpstr>
      <vt:lpstr>Final</vt:lpstr>
      <vt:lpstr>Lições</vt:lpstr>
      <vt:lpstr>Perguntas?</vt:lpstr>
      <vt:lpstr>https://comunidademysql.com.br/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What’s different about this template?</dc:title>
  <dc:creator>Bob Daly</dc:creator>
  <cp:lastModifiedBy>Vinicius Grippa</cp:lastModifiedBy>
  <cp:revision>47</cp:revision>
  <dcterms:created xsi:type="dcterms:W3CDTF">2023-05-09T20:20:48Z</dcterms:created>
  <dcterms:modified xsi:type="dcterms:W3CDTF">2026-02-22T14:04:40Z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MSIP_Label_a4de43ec-192a-49eb-8e54-baeb8c71bbbe_Enabled">
    <vt:lpwstr>true</vt:lpwstr>
  </property>
  <property fmtid="{D5CDD505-2E9C-101B-9397-08002B2CF9AE}" pid="6" name="MSIP_Label_a4de43ec-192a-49eb-8e54-baeb8c71bbbe_SetDate">
    <vt:lpwstr>2025-09-01T11:40:58Z</vt:lpwstr>
  </property>
  <property fmtid="{D5CDD505-2E9C-101B-9397-08002B2CF9AE}" pid="7" name="MSIP_Label_a4de43ec-192a-49eb-8e54-baeb8c71bbbe_Method">
    <vt:lpwstr>Standard</vt:lpwstr>
  </property>
  <property fmtid="{D5CDD505-2E9C-101B-9397-08002B2CF9AE}" pid="8" name="MSIP_Label_a4de43ec-192a-49eb-8e54-baeb8c71bbbe_Name">
    <vt:lpwstr>Confidential – Oracle Internal</vt:lpwstr>
  </property>
  <property fmtid="{D5CDD505-2E9C-101B-9397-08002B2CF9AE}" pid="9" name="MSIP_Label_a4de43ec-192a-49eb-8e54-baeb8c71bbbe_SiteId">
    <vt:lpwstr>4e2c6054-71cb-48f1-bd6c-3a9705aca71b</vt:lpwstr>
  </property>
  <property fmtid="{D5CDD505-2E9C-101B-9397-08002B2CF9AE}" pid="10" name="MSIP_Label_a4de43ec-192a-49eb-8e54-baeb8c71bbbe_ActionId">
    <vt:lpwstr>c59bc70f-6891-4b44-a251-6c6874559074</vt:lpwstr>
  </property>
  <property fmtid="{D5CDD505-2E9C-101B-9397-08002B2CF9AE}" pid="11" name="MSIP_Label_a4de43ec-192a-49eb-8e54-baeb8c71bbbe_ContentBits">
    <vt:lpwstr>2</vt:lpwstr>
  </property>
  <property fmtid="{D5CDD505-2E9C-101B-9397-08002B2CF9AE}" pid="12" name="MSIP_Label_a4de43ec-192a-49eb-8e54-baeb8c71bbbe_Tag">
    <vt:lpwstr>50, 3, 0, 1</vt:lpwstr>
  </property>
  <property fmtid="{D5CDD505-2E9C-101B-9397-08002B2CF9AE}" pid="13" name="ClassificationContentMarkingFooterLocations">
    <vt:lpwstr>Parent Master:5</vt:lpwstr>
  </property>
  <property fmtid="{D5CDD505-2E9C-101B-9397-08002B2CF9AE}" pid="14" name="ClassificationContentMarkingFooterText">
    <vt:lpwstr>Confidential – Oracle Internal</vt:lpwstr>
  </property>
</Properties>
</file>