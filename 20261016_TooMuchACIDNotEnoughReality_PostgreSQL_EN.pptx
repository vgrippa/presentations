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256" r:id="rId2"/>
    <p:sldId id="290" r:id="rId3"/>
    <p:sldId id="294" r:id="rId4"/>
    <p:sldId id="259" r:id="rId5"/>
    <p:sldId id="293" r:id="rId6"/>
    <p:sldId id="291" r:id="rId7"/>
    <p:sldId id="292" r:id="rId8"/>
    <p:sldId id="260" r:id="rId9"/>
    <p:sldId id="1009" r:id="rId10"/>
    <p:sldId id="295" r:id="rId11"/>
    <p:sldId id="296" r:id="rId12"/>
    <p:sldId id="297" r:id="rId13"/>
    <p:sldId id="298" r:id="rId14"/>
    <p:sldId id="299" r:id="rId15"/>
    <p:sldId id="265" r:id="rId16"/>
    <p:sldId id="268" r:id="rId17"/>
    <p:sldId id="269" r:id="rId18"/>
    <p:sldId id="270" r:id="rId19"/>
    <p:sldId id="300" r:id="rId20"/>
    <p:sldId id="302" r:id="rId21"/>
    <p:sldId id="304" r:id="rId22"/>
    <p:sldId id="306" r:id="rId23"/>
    <p:sldId id="307" r:id="rId24"/>
    <p:sldId id="305" r:id="rId25"/>
    <p:sldId id="1010" r:id="rId26"/>
    <p:sldId id="308" r:id="rId27"/>
    <p:sldId id="309" r:id="rId28"/>
    <p:sldId id="310" r:id="rId29"/>
    <p:sldId id="1011" r:id="rId30"/>
    <p:sldId id="311" r:id="rId31"/>
    <p:sldId id="312" r:id="rId32"/>
    <p:sldId id="313" r:id="rId33"/>
    <p:sldId id="314" r:id="rId34"/>
    <p:sldId id="1001" r:id="rId35"/>
    <p:sldId id="1002" r:id="rId36"/>
    <p:sldId id="1003" r:id="rId37"/>
    <p:sldId id="1004" r:id="rId38"/>
    <p:sldId id="1006" r:id="rId39"/>
    <p:sldId id="1008" r:id="rId40"/>
    <p:sldId id="315" r:id="rId41"/>
    <p:sldId id="316" r:id="rId42"/>
    <p:sldId id="317" r:id="rId43"/>
    <p:sldId id="289" r:id="rId44"/>
  </p:sldIdLst>
  <p:sldSz cx="9144000" cy="5143500" type="screen16x9"/>
  <p:notesSz cx="6858000" cy="9144000"/>
  <p:defaultTextStyle>
    <a:defPPr>
      <a:defRPr lang="en-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6330D6-3F49-9185-78A6-001DFB547E59}" v="16" dt="2026-09-25T13:19:00.546"/>
    <p1510:client id="{5938E318-F965-0C46-A466-6260FA19D97B}" v="153" dt="2026-09-25T13:45:58.6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68"/>
    <p:restoredTop sz="94656"/>
  </p:normalViewPr>
  <p:slideViewPr>
    <p:cSldViewPr snapToGrid="0">
      <p:cViewPr varScale="1">
        <p:scale>
          <a:sx n="235" d="100"/>
          <a:sy n="235" d="100"/>
        </p:scale>
        <p:origin x="21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PostgreSQL edition. The talk distinguishes transaction guarantees from the age of an answer at response arrival. PostgreSQL 18 is the semantic reference. Readyset product behavior depends on the deployed release.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a85691b02d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8" name="Google Shape;298;g3a85691b02d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dirty="0"/>
              <a:t>The book title and community affiliation are historical facts, not database names to substitute for a new audience. Learning MySQL, second edition, by Vinicius M. Grippa and Sergey </a:t>
            </a:r>
            <a:r>
              <a:rPr dirty="0" err="1"/>
              <a:t>Kuzmichev</a:t>
            </a:r>
            <a:r>
              <a:rPr dirty="0"/>
              <a:t>. https://</a:t>
            </a:r>
            <a:r>
              <a:rPr dirty="0" err="1"/>
              <a:t>www.oreilly.com</a:t>
            </a:r>
            <a:r>
              <a:rPr dirty="0"/>
              <a:t>/library/view/learning-mysql-2nd/9781492085911/</a:t>
            </a:r>
          </a:p>
          <a:p>
            <a:r>
              <a:rPr dirty="0"/>
              <a:t>https://</a:t>
            </a:r>
            <a:r>
              <a:rPr dirty="0" err="1"/>
              <a:t>www.odbms.org</a:t>
            </a:r>
            <a:r>
              <a:rPr dirty="0"/>
              <a:t>/2026/01/on-</a:t>
            </a:r>
            <a:r>
              <a:rPr dirty="0" err="1"/>
              <a:t>brazils</a:t>
            </a:r>
            <a:r>
              <a:rPr dirty="0"/>
              <a:t>-</a:t>
            </a:r>
            <a:r>
              <a:rPr dirty="0" err="1"/>
              <a:t>mysql</a:t>
            </a:r>
            <a:r>
              <a:rPr dirty="0"/>
              <a:t>-landscape-</a:t>
            </a:r>
            <a:r>
              <a:rPr dirty="0" err="1"/>
              <a:t>qa</a:t>
            </a:r>
            <a:r>
              <a:rPr dirty="0"/>
              <a:t>-with-</a:t>
            </a:r>
            <a:r>
              <a:rPr dirty="0" err="1"/>
              <a:t>vinicius</a:t>
            </a:r>
            <a:r>
              <a:rPr dirty="0"/>
              <a:t>-</a:t>
            </a:r>
            <a:r>
              <a:rPr dirty="0" err="1"/>
              <a:t>grippa</a:t>
            </a:r>
            <a:r>
              <a:rPr dirty="0"/>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timelines illustrate semantics rather than a measured three-destination PostgreSQL experiment. The later throughput benchmark is a separate published experiment. It does not measure freshness. https://</a:t>
            </a:r>
            <a:r>
              <a:rPr dirty="0" err="1"/>
              <a:t>www.postgresql.org</a:t>
            </a:r>
            <a:r>
              <a:rPr dirty="0"/>
              <a:t>/docs/18/transaction-</a:t>
            </a:r>
            <a:r>
              <a:rPr dirty="0" err="1"/>
              <a:t>iso.html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Audience question introducing the ACID properties of PostgreSQL transactions.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FC3F4-8976-9D7F-34D9-AC56E32E0B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CFF62-A6A1-054A-5989-143F9DC08D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EB098A-85D7-B2FE-06F6-63587DC6767B}"/>
              </a:ext>
            </a:extLst>
          </p:cNvPr>
          <p:cNvSpPr>
            <a:spLocks noGrp="1"/>
          </p:cNvSpPr>
          <p:nvPr>
            <p:ph type="body" idx="1"/>
          </p:nvPr>
        </p:nvSpPr>
        <p:spPr/>
        <p:txBody>
          <a:bodyPr/>
          <a:lstStyle/>
          <a:p>
            <a:r>
              <a:rPr dirty="0"/>
              <a:t>Audience quiz. ACID means Atomicity, Consistency, Isolation, and Durability. The following slides explain PostgreSQL behavior using transaction timelines. Illustrations are not benchmark measurements.</a:t>
            </a:r>
          </a:p>
        </p:txBody>
      </p:sp>
      <p:sp>
        <p:nvSpPr>
          <p:cNvPr id="4" name="Slide Number Placeholder 3">
            <a:extLst>
              <a:ext uri="{FF2B5EF4-FFF2-40B4-BE49-F238E27FC236}">
                <a16:creationId xmlns:a16="http://schemas.microsoft.com/office/drawing/2014/main" id="{AA93C60F-2B1B-7269-5F99-43BCD62DF47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330351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4069C-92A7-CC91-205A-E4C3F74DEC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9C3EDE-A529-4E93-6FD6-F2813563E4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F0B482-B166-AC08-13A9-C68425C29BDA}"/>
              </a:ext>
            </a:extLst>
          </p:cNvPr>
          <p:cNvSpPr>
            <a:spLocks noGrp="1"/>
          </p:cNvSpPr>
          <p:nvPr>
            <p:ph type="body" idx="1"/>
          </p:nvPr>
        </p:nvSpPr>
        <p:spPr/>
        <p:txBody>
          <a:bodyPr/>
          <a:lstStyle/>
          <a:p>
            <a:r>
              <a:rPr dirty="0"/>
              <a:t>PostgreSQL uses tuple versions and transaction visibility for MVCC, WAL for crash recovery, and locks plus Serializable Snapshot Isolation for concurrency control. https://</a:t>
            </a:r>
            <a:r>
              <a:rPr dirty="0" err="1"/>
              <a:t>www.postgresql.org</a:t>
            </a:r>
            <a:r>
              <a:rPr dirty="0"/>
              <a:t>/docs/18/transaction-</a:t>
            </a:r>
            <a:r>
              <a:rPr dirty="0" err="1"/>
              <a:t>iso.html</a:t>
            </a:r>
            <a:endParaRPr dirty="0"/>
          </a:p>
          <a:p>
            <a:r>
              <a:rPr dirty="0"/>
              <a:t>https://</a:t>
            </a:r>
            <a:r>
              <a:rPr dirty="0" err="1"/>
              <a:t>www.postgresql.org</a:t>
            </a:r>
            <a:r>
              <a:rPr dirty="0"/>
              <a:t>/docs/18/runtime-config-</a:t>
            </a:r>
            <a:r>
              <a:rPr dirty="0" err="1"/>
              <a:t>wal.html</a:t>
            </a:r>
            <a:endParaRPr dirty="0"/>
          </a:p>
        </p:txBody>
      </p:sp>
      <p:sp>
        <p:nvSpPr>
          <p:cNvPr id="4" name="Slide Number Placeholder 3">
            <a:extLst>
              <a:ext uri="{FF2B5EF4-FFF2-40B4-BE49-F238E27FC236}">
                <a16:creationId xmlns:a16="http://schemas.microsoft.com/office/drawing/2014/main" id="{A3A7DAC3-BFF1-F519-8B2E-416D7446375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61261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Atomicity applies to transactional changes. Sequence increments are a notable exception: </a:t>
            </a:r>
            <a:r>
              <a:rPr dirty="0" err="1"/>
              <a:t>nextval</a:t>
            </a:r>
            <a:r>
              <a:rPr dirty="0"/>
              <a:t> is not rolled back. Consistency covers declared constraints, while applications must encode other invariants. Isolation varies with the level. Durable commit assumes logged tables, appropriate WAL settings, and reliable storage. https://</a:t>
            </a:r>
            <a:r>
              <a:rPr dirty="0" err="1"/>
              <a:t>www.postgresql.org</a:t>
            </a:r>
            <a:r>
              <a:rPr dirty="0"/>
              <a:t>/docs/18/transaction-</a:t>
            </a:r>
            <a:r>
              <a:rPr dirty="0" err="1"/>
              <a:t>iso.html</a:t>
            </a:r>
            <a:endParaRPr dirty="0"/>
          </a:p>
          <a:p>
            <a:r>
              <a:rPr dirty="0"/>
              <a:t>https://</a:t>
            </a:r>
            <a:r>
              <a:rPr dirty="0" err="1"/>
              <a:t>www.postgresql.org</a:t>
            </a:r>
            <a:r>
              <a:rPr dirty="0"/>
              <a:t>/docs/18/runtime-config-</a:t>
            </a:r>
            <a:r>
              <a:rPr dirty="0" err="1"/>
              <a:t>wal.html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Continuous embedded animation. It starts automatically in Slide Show and contains deliberate pauses. Hover over the movie to pause or replay. The slide itself does not advance automatically.</a:t>
            </a:r>
          </a:p>
          <a:p>
            <a:endParaRPr dirty="0"/>
          </a:p>
          <a:p>
            <a:r>
              <a:rPr dirty="0"/>
              <a:t>Successful transfer only. Alice starts at 500 and Bob at 200. BEGIN, debit Alice by 100, and credit Bob by 100. The transaction has pending balances of 400 and 300. COMMIT makes the complete transfer durable and visible to eligible new snapshots. There is no rollback in this scenario. An already-running SELECT or a Repeatable Read snapshot may continue to see older committed values.</a:t>
            </a:r>
          </a:p>
          <a:p>
            <a:endParaRPr dirty="0"/>
          </a:p>
          <a:p>
            <a:r>
              <a:rPr dirty="0"/>
              <a:t>Character artwork adapted from the supplied presentation.</a:t>
            </a:r>
          </a:p>
          <a:p>
            <a:endParaRPr dirty="0"/>
          </a:p>
          <a:p>
            <a:r>
              <a:rPr dirty="0"/>
              <a:t>Sources and artwork:</a:t>
            </a:r>
          </a:p>
          <a:p>
            <a:r>
              <a:rPr dirty="0"/>
              <a:t>https://</a:t>
            </a:r>
            <a:r>
              <a:rPr dirty="0" err="1"/>
              <a:t>www.postgresql.org</a:t>
            </a:r>
            <a:r>
              <a:rPr dirty="0"/>
              <a:t>/docs/18/tutorial-</a:t>
            </a:r>
            <a:r>
              <a:rPr dirty="0" err="1"/>
              <a:t>transactions.html</a:t>
            </a:r>
            <a:endParaRPr dirty="0"/>
          </a:p>
          <a:p>
            <a:r>
              <a:rPr dirty="0"/>
              <a:t>https://</a:t>
            </a:r>
            <a:r>
              <a:rPr dirty="0" err="1"/>
              <a:t>www.postgresql.org</a:t>
            </a:r>
            <a:r>
              <a:rPr dirty="0"/>
              <a:t>/docs/18/routine-</a:t>
            </a:r>
            <a:r>
              <a:rPr dirty="0" err="1"/>
              <a:t>vacuuming.html</a:t>
            </a:r>
            <a:endParaRPr dirty="0"/>
          </a:p>
          <a:p>
            <a:r>
              <a:rPr dirty="0"/>
              <a:t>https://</a:t>
            </a:r>
            <a:r>
              <a:rPr dirty="0" err="1"/>
              <a:t>www.postgresql.org</a:t>
            </a:r>
            <a:r>
              <a:rPr dirty="0"/>
              <a:t>/media/</a:t>
            </a:r>
            <a:r>
              <a:rPr dirty="0" err="1"/>
              <a:t>img</a:t>
            </a:r>
            <a:r>
              <a:rPr dirty="0"/>
              <a:t>/about/press/</a:t>
            </a:r>
            <a:r>
              <a:rPr dirty="0" err="1"/>
              <a:t>elephant.png</a:t>
            </a:r>
            <a:endParaRPr dirty="0"/>
          </a:p>
          <a:p>
            <a:r>
              <a:rPr dirty="0"/>
              <a:t>https://</a:t>
            </a:r>
            <a:r>
              <a:rPr dirty="0" err="1"/>
              <a:t>wiki.postgresql.org</a:t>
            </a:r>
            <a:r>
              <a:rPr dirty="0"/>
              <a:t>/wiki/Logo</a:t>
            </a:r>
          </a:p>
          <a:p>
            <a:r>
              <a:rPr dirty="0"/>
              <a:t>https://</a:t>
            </a:r>
            <a:r>
              <a:rPr dirty="0" err="1"/>
              <a:t>www.postgresql.org</a:t>
            </a:r>
            <a:r>
              <a:rPr dirty="0"/>
              <a:t>/docs/18/transaction-</a:t>
            </a:r>
            <a:r>
              <a:rPr dirty="0" err="1"/>
              <a:t>iso.html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Continuous embedded animation. It starts automatically in Slide Show and contains deliberate pauses. Hover over the movie to pause or replay. The slide itself does not advance automatically.</a:t>
            </a:r>
          </a:p>
          <a:p>
            <a:endParaRPr dirty="0"/>
          </a:p>
          <a:p>
            <a:r>
              <a:rPr dirty="0"/>
              <a:t>Independent failed transfer. Alice starts at 500 and Bob at 200. BEGIN, then debit Alice by 100 inside the transaction. The attempted credit fails. ROLLBACK discards the pending debit, leaving the committed balances at 500 and 200. No retry or commit follows. This illustrates all-or-nothing handling of the transfer, not a rollback phase within a successful commit.</a:t>
            </a:r>
          </a:p>
          <a:p>
            <a:endParaRPr dirty="0"/>
          </a:p>
          <a:p>
            <a:r>
              <a:rPr dirty="0"/>
              <a:t>Character artwork adapted from the supplied presentation.</a:t>
            </a:r>
          </a:p>
          <a:p>
            <a:endParaRPr dirty="0"/>
          </a:p>
          <a:p>
            <a:r>
              <a:rPr dirty="0"/>
              <a:t>Sources and artwork:</a:t>
            </a:r>
          </a:p>
          <a:p>
            <a:r>
              <a:rPr dirty="0"/>
              <a:t>https://</a:t>
            </a:r>
            <a:r>
              <a:rPr dirty="0" err="1"/>
              <a:t>www.postgresql.org</a:t>
            </a:r>
            <a:r>
              <a:rPr dirty="0"/>
              <a:t>/docs/18/tutorial-</a:t>
            </a:r>
            <a:r>
              <a:rPr dirty="0" err="1"/>
              <a:t>transactions.html</a:t>
            </a:r>
            <a:endParaRPr dirty="0"/>
          </a:p>
          <a:p>
            <a:r>
              <a:rPr dirty="0"/>
              <a:t>https://</a:t>
            </a:r>
            <a:r>
              <a:rPr dirty="0" err="1"/>
              <a:t>www.postgresql.org</a:t>
            </a:r>
            <a:r>
              <a:rPr dirty="0"/>
              <a:t>/docs/18/routine-</a:t>
            </a:r>
            <a:r>
              <a:rPr dirty="0" err="1"/>
              <a:t>vacuuming.html</a:t>
            </a:r>
            <a:endParaRPr dirty="0"/>
          </a:p>
          <a:p>
            <a:r>
              <a:rPr dirty="0"/>
              <a:t>https://</a:t>
            </a:r>
            <a:r>
              <a:rPr dirty="0" err="1"/>
              <a:t>www.postgresql.org</a:t>
            </a:r>
            <a:r>
              <a:rPr dirty="0"/>
              <a:t>/media/</a:t>
            </a:r>
            <a:r>
              <a:rPr dirty="0" err="1"/>
              <a:t>img</a:t>
            </a:r>
            <a:r>
              <a:rPr dirty="0"/>
              <a:t>/about/press/</a:t>
            </a:r>
            <a:r>
              <a:rPr dirty="0" err="1"/>
              <a:t>elephant.png</a:t>
            </a:r>
            <a:endParaRPr dirty="0"/>
          </a:p>
          <a:p>
            <a:r>
              <a:rPr dirty="0"/>
              <a:t>https://</a:t>
            </a:r>
            <a:r>
              <a:rPr dirty="0" err="1"/>
              <a:t>wiki.postgresql.org</a:t>
            </a:r>
            <a:r>
              <a:rPr dirty="0"/>
              <a:t>/wiki/Logo</a:t>
            </a:r>
          </a:p>
          <a:p>
            <a:r>
              <a:rPr dirty="0"/>
              <a:t>https://</a:t>
            </a:r>
            <a:r>
              <a:rPr dirty="0" err="1"/>
              <a:t>www.postgresql.org</a:t>
            </a:r>
            <a:r>
              <a:rPr dirty="0"/>
              <a:t>/docs/18/transaction-</a:t>
            </a:r>
            <a:r>
              <a:rPr dirty="0" err="1"/>
              <a:t>iso.html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Continuous embedded animation. It starts automatically in Slide Show and contains deliberate pauses. Hover over the movie to pause or replay. The slide itself does not advance automatically.</a:t>
            </a:r>
          </a:p>
          <a:p>
            <a:endParaRPr dirty="0"/>
          </a:p>
          <a:p>
            <a:r>
              <a:rPr dirty="0"/>
              <a:t>One invalid withdrawal only. The account begins at 100 and the application attempts to withdraw 150, which would produce -50. CHECK (balance &gt;= 0) rejects that row value. The final committed balance remains 100. The explicit transaction must be rolled back after the error. There is no successful retry in this movie; recovery with a </a:t>
            </a:r>
            <a:r>
              <a:rPr dirty="0" err="1"/>
              <a:t>savepoint</a:t>
            </a:r>
            <a:r>
              <a:rPr dirty="0"/>
              <a:t> is outside the example.</a:t>
            </a:r>
          </a:p>
          <a:p>
            <a:endParaRPr dirty="0"/>
          </a:p>
          <a:p>
            <a:r>
              <a:rPr dirty="0"/>
              <a:t>Character artwork adapted from the supplied presentation.</a:t>
            </a:r>
          </a:p>
          <a:p>
            <a:endParaRPr dirty="0"/>
          </a:p>
          <a:p>
            <a:r>
              <a:rPr dirty="0"/>
              <a:t>Sources and artwork:</a:t>
            </a:r>
          </a:p>
          <a:p>
            <a:r>
              <a:rPr dirty="0"/>
              <a:t>https://</a:t>
            </a:r>
            <a:r>
              <a:rPr dirty="0" err="1"/>
              <a:t>www.postgresql.org</a:t>
            </a:r>
            <a:r>
              <a:rPr dirty="0"/>
              <a:t>/docs/18/</a:t>
            </a:r>
            <a:r>
              <a:rPr dirty="0" err="1"/>
              <a:t>ddl-constraints.html</a:t>
            </a:r>
            <a:endParaRPr dirty="0"/>
          </a:p>
          <a:p>
            <a:r>
              <a:rPr dirty="0"/>
              <a:t>https://</a:t>
            </a:r>
            <a:r>
              <a:rPr dirty="0" err="1"/>
              <a:t>www.postgresql.org</a:t>
            </a:r>
            <a:r>
              <a:rPr dirty="0"/>
              <a:t>/docs/18/tutorial-</a:t>
            </a:r>
            <a:r>
              <a:rPr dirty="0" err="1"/>
              <a:t>transactions.html</a:t>
            </a:r>
            <a:endParaRPr dirty="0"/>
          </a:p>
          <a:p>
            <a:r>
              <a:rPr dirty="0"/>
              <a:t>https://</a:t>
            </a:r>
            <a:r>
              <a:rPr dirty="0" err="1"/>
              <a:t>www.postgresql.org</a:t>
            </a:r>
            <a:r>
              <a:rPr dirty="0"/>
              <a:t>/media/</a:t>
            </a:r>
            <a:r>
              <a:rPr dirty="0" err="1"/>
              <a:t>img</a:t>
            </a:r>
            <a:r>
              <a:rPr dirty="0"/>
              <a:t>/about/press/</a:t>
            </a:r>
            <a:r>
              <a:rPr dirty="0" err="1"/>
              <a:t>elephant.png</a:t>
            </a:r>
            <a:endParaRPr dirty="0"/>
          </a:p>
          <a:p>
            <a:r>
              <a:rPr dirty="0"/>
              <a:t>https://</a:t>
            </a:r>
            <a:r>
              <a:rPr dirty="0" err="1"/>
              <a:t>wiki.postgresql.org</a:t>
            </a:r>
            <a:r>
              <a:rPr dirty="0"/>
              <a:t>/wiki/Logo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Continuous embedded animation. It starts automatically in Slide Show and contains deliberate pauses. Hover over the movie to pause or replay. The slide itself does not advance automatically.</a:t>
            </a:r>
          </a:p>
          <a:p>
            <a:endParaRPr dirty="0"/>
          </a:p>
          <a:p>
            <a:r>
              <a:rPr dirty="0"/>
              <a:t>Ordinary SELECTs in Read Committed, using two sessions. Reader A reads 100. Writer B changes the balance to 200 but has not committed, so A cannot see that pending value and still reads 100. B then commits. A's next SELECT takes a fresh statement snapshot and reads 200. A can remain in one transaction throughout. PostgreSQL uses Read Committed by default.</a:t>
            </a:r>
          </a:p>
          <a:p>
            <a:endParaRPr dirty="0"/>
          </a:p>
          <a:p>
            <a:r>
              <a:rPr dirty="0"/>
              <a:t>Character artwork adapted from the supplied presentation.</a:t>
            </a:r>
          </a:p>
          <a:p>
            <a:endParaRPr dirty="0"/>
          </a:p>
          <a:p>
            <a:r>
              <a:rPr dirty="0"/>
              <a:t>Sources and artwork:</a:t>
            </a:r>
          </a:p>
          <a:p>
            <a:r>
              <a:rPr dirty="0"/>
              <a:t>https://</a:t>
            </a:r>
            <a:r>
              <a:rPr dirty="0" err="1"/>
              <a:t>www.postgresql.org</a:t>
            </a:r>
            <a:r>
              <a:rPr dirty="0"/>
              <a:t>/docs/18/transaction-</a:t>
            </a:r>
            <a:r>
              <a:rPr dirty="0" err="1"/>
              <a:t>iso.html</a:t>
            </a:r>
            <a:endParaRPr dirty="0"/>
          </a:p>
          <a:p>
            <a:r>
              <a:rPr dirty="0"/>
              <a:t>https://</a:t>
            </a:r>
            <a:r>
              <a:rPr dirty="0" err="1"/>
              <a:t>www.postgresql.org</a:t>
            </a:r>
            <a:r>
              <a:rPr dirty="0"/>
              <a:t>/media/</a:t>
            </a:r>
            <a:r>
              <a:rPr dirty="0" err="1"/>
              <a:t>img</a:t>
            </a:r>
            <a:r>
              <a:rPr dirty="0"/>
              <a:t>/about/press/</a:t>
            </a:r>
            <a:r>
              <a:rPr dirty="0" err="1"/>
              <a:t>elephant.png</a:t>
            </a:r>
            <a:endParaRPr dirty="0"/>
          </a:p>
          <a:p>
            <a:r>
              <a:rPr dirty="0"/>
              <a:t>https://</a:t>
            </a:r>
            <a:r>
              <a:rPr dirty="0" err="1"/>
              <a:t>wiki.postgresql.org</a:t>
            </a:r>
            <a:r>
              <a:rPr dirty="0"/>
              <a:t>/wiki/Logo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Continuous embedded animation. It starts automatically in Slide Show and contains deliberate pauses. Hover over the movie to pause or replay. The slide itself does not advance automatically.</a:t>
            </a:r>
          </a:p>
          <a:p>
            <a:endParaRPr dirty="0"/>
          </a:p>
          <a:p>
            <a:r>
              <a:rPr dirty="0"/>
              <a:t>The initial balance is 100 and the transaction changes it to 200. The client requests COMMIT. With </a:t>
            </a:r>
            <a:r>
              <a:rPr dirty="0" err="1"/>
              <a:t>fsync</a:t>
            </a:r>
            <a:r>
              <a:rPr dirty="0"/>
              <a:t>=on and </a:t>
            </a:r>
            <a:r>
              <a:rPr dirty="0" err="1"/>
              <a:t>synchronous_commit</a:t>
            </a:r>
            <a:r>
              <a:rPr dirty="0"/>
              <a:t>=on, PostgreSQL makes the required local WAL durable before acknowledging COMMIT. Data pages may be written later. The server then crashes; restart and WAL recovery restore the committed value 200. Storage must honor flushes. Synchronous standby configuration can add a remote wait.</a:t>
            </a:r>
          </a:p>
          <a:p>
            <a:endParaRPr dirty="0"/>
          </a:p>
          <a:p>
            <a:r>
              <a:rPr dirty="0"/>
              <a:t>Character artwork adapted from the supplied presentation.</a:t>
            </a:r>
          </a:p>
          <a:p>
            <a:endParaRPr dirty="0"/>
          </a:p>
          <a:p>
            <a:r>
              <a:rPr dirty="0"/>
              <a:t>Sources and artwork:</a:t>
            </a:r>
          </a:p>
          <a:p>
            <a:r>
              <a:rPr dirty="0"/>
              <a:t>https://</a:t>
            </a:r>
            <a:r>
              <a:rPr dirty="0" err="1"/>
              <a:t>www.postgresql.org</a:t>
            </a:r>
            <a:r>
              <a:rPr dirty="0"/>
              <a:t>/docs/18/runtime-config-</a:t>
            </a:r>
            <a:r>
              <a:rPr dirty="0" err="1"/>
              <a:t>wal.html</a:t>
            </a:r>
            <a:endParaRPr dirty="0"/>
          </a:p>
          <a:p>
            <a:r>
              <a:rPr dirty="0"/>
              <a:t>https://</a:t>
            </a:r>
            <a:r>
              <a:rPr dirty="0" err="1"/>
              <a:t>www.postgresql.org</a:t>
            </a:r>
            <a:r>
              <a:rPr dirty="0"/>
              <a:t>/media/</a:t>
            </a:r>
            <a:r>
              <a:rPr dirty="0" err="1"/>
              <a:t>img</a:t>
            </a:r>
            <a:r>
              <a:rPr dirty="0"/>
              <a:t>/about/press/</a:t>
            </a:r>
            <a:r>
              <a:rPr dirty="0" err="1"/>
              <a:t>elephant.png</a:t>
            </a:r>
            <a:endParaRPr dirty="0"/>
          </a:p>
          <a:p>
            <a:r>
              <a:rPr dirty="0"/>
              <a:t>https://</a:t>
            </a:r>
            <a:r>
              <a:rPr dirty="0" err="1"/>
              <a:t>wiki.postgresql.org</a:t>
            </a:r>
            <a:r>
              <a:rPr dirty="0"/>
              <a:t>/wiki/Logo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PostgreSQL stores row versions in heap tuples. Tuple </a:t>
            </a:r>
            <a:r>
              <a:rPr dirty="0" err="1"/>
              <a:t>xmin</a:t>
            </a:r>
            <a:r>
              <a:rPr dirty="0"/>
              <a:t>/</a:t>
            </a:r>
            <a:r>
              <a:rPr dirty="0" err="1"/>
              <a:t>xmax</a:t>
            </a:r>
            <a:r>
              <a:rPr dirty="0"/>
              <a:t> and transaction status determine visibility. ROLLBACK marks the transaction aborted, so its versions are not visible as committed rows. VACUUM removes versions no active snapshot needs. The arrows group version history conceptually; they do not imply an </a:t>
            </a:r>
            <a:r>
              <a:rPr dirty="0" err="1"/>
              <a:t>InnoDB</a:t>
            </a:r>
            <a:r>
              <a:rPr dirty="0"/>
              <a:t> undo chain or a guaranteed physical tuple layout. Long transactions can delay cleanup and increase bloat. https://</a:t>
            </a:r>
            <a:r>
              <a:rPr dirty="0" err="1"/>
              <a:t>www.postgresql.org</a:t>
            </a:r>
            <a:r>
              <a:rPr dirty="0"/>
              <a:t>/docs/18/routine-</a:t>
            </a:r>
            <a:r>
              <a:rPr dirty="0" err="1"/>
              <a:t>vacuuming.html</a:t>
            </a:r>
            <a:endParaRPr dirty="0"/>
          </a:p>
          <a:p>
            <a:r>
              <a:rPr dirty="0"/>
              <a:t>https://</a:t>
            </a:r>
            <a:r>
              <a:rPr dirty="0" err="1"/>
              <a:t>www.postgresql.org</a:t>
            </a:r>
            <a:r>
              <a:rPr dirty="0"/>
              <a:t>/docs/18/</a:t>
            </a:r>
            <a:r>
              <a:rPr dirty="0" err="1"/>
              <a:t>ddl</a:t>
            </a:r>
            <a:r>
              <a:rPr dirty="0"/>
              <a:t>-system-</a:t>
            </a:r>
            <a:r>
              <a:rPr dirty="0" err="1"/>
              <a:t>columns.html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With client </a:t>
            </a:r>
            <a:r>
              <a:rPr dirty="0" err="1"/>
              <a:t>autocommit</a:t>
            </a:r>
            <a:r>
              <a:rPr dirty="0"/>
              <a:t> enabled, individual statements run in implicit transactions. BEGIN groups statements into one transaction. Under READ COMMITTED, each statement still gets a fresh snapshot. Under REPEATABLE READ and SERIALIZABLE, the first non-transaction-control statement establishes the transaction snapshot. Own prior writes remain visible. https://</a:t>
            </a:r>
            <a:r>
              <a:rPr dirty="0" err="1"/>
              <a:t>www.postgresql.org</a:t>
            </a:r>
            <a:r>
              <a:rPr dirty="0"/>
              <a:t>/docs/18/transaction-</a:t>
            </a:r>
            <a:r>
              <a:rPr dirty="0" err="1"/>
              <a:t>iso.html</a:t>
            </a:r>
            <a:endParaRPr dirty="0"/>
          </a:p>
          <a:p>
            <a:r>
              <a:rPr dirty="0"/>
              <a:t>https://</a:t>
            </a:r>
            <a:r>
              <a:rPr dirty="0" err="1"/>
              <a:t>www.postgresql.org</a:t>
            </a:r>
            <a:r>
              <a:rPr dirty="0"/>
              <a:t>/docs/18/tutorial-</a:t>
            </a:r>
            <a:r>
              <a:rPr dirty="0" err="1"/>
              <a:t>transactions.html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PostgreSQL accepts four SQL isolation names but offers three behaviors. READ UNCOMMITTED maps to READ COMMITTED. REPEATABLE READ prevents phantom reads but permits serialization anomalies. SERIALIZABLE adds SSI conflict detection. https://</a:t>
            </a:r>
            <a:r>
              <a:rPr dirty="0" err="1"/>
              <a:t>www.postgresql.org</a:t>
            </a:r>
            <a:r>
              <a:rPr dirty="0"/>
              <a:t>/docs/18/transaction-</a:t>
            </a:r>
            <a:r>
              <a:rPr dirty="0" err="1"/>
              <a:t>iso.html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Continuous embedded animation. It starts automatically in Slide Show and contains deliberate pauses. Hover over the movie to pause or replay. The slide itself does not advance automatically.</a:t>
            </a:r>
          </a:p>
          <a:p>
            <a:endParaRPr dirty="0"/>
          </a:p>
          <a:p>
            <a:r>
              <a:rPr dirty="0"/>
              <a:t>Reader A requests READ UNCOMMITTED and reads 100. PostgreSQL implements this level as Read Committed. Writer B's pending update to 200 remains invisible to A, which still reads 100. After B commits, A's next SELECT takes a new statement snapshot and reads 200. No dirty read occurs.</a:t>
            </a:r>
          </a:p>
          <a:p>
            <a:endParaRPr dirty="0"/>
          </a:p>
          <a:p>
            <a:r>
              <a:rPr dirty="0"/>
              <a:t>Character artwork adapted from the supplied presentation.</a:t>
            </a:r>
          </a:p>
          <a:p>
            <a:endParaRPr dirty="0"/>
          </a:p>
          <a:p>
            <a:r>
              <a:rPr dirty="0"/>
              <a:t>Sources and artwork:</a:t>
            </a:r>
          </a:p>
          <a:p>
            <a:r>
              <a:rPr dirty="0"/>
              <a:t>https://</a:t>
            </a:r>
            <a:r>
              <a:rPr dirty="0" err="1"/>
              <a:t>www.postgresql.org</a:t>
            </a:r>
            <a:r>
              <a:rPr dirty="0"/>
              <a:t>/docs/18/transaction-</a:t>
            </a:r>
            <a:r>
              <a:rPr dirty="0" err="1"/>
              <a:t>iso.html</a:t>
            </a:r>
            <a:endParaRPr dirty="0"/>
          </a:p>
          <a:p>
            <a:r>
              <a:rPr dirty="0"/>
              <a:t>https://</a:t>
            </a:r>
            <a:r>
              <a:rPr dirty="0" err="1"/>
              <a:t>www.postgresql.org</a:t>
            </a:r>
            <a:r>
              <a:rPr dirty="0"/>
              <a:t>/media/</a:t>
            </a:r>
            <a:r>
              <a:rPr dirty="0" err="1"/>
              <a:t>img</a:t>
            </a:r>
            <a:r>
              <a:rPr dirty="0"/>
              <a:t>/about/press/</a:t>
            </a:r>
            <a:r>
              <a:rPr dirty="0" err="1"/>
              <a:t>elephant.png</a:t>
            </a:r>
            <a:endParaRPr dirty="0"/>
          </a:p>
          <a:p>
            <a:r>
              <a:rPr dirty="0"/>
              <a:t>https://</a:t>
            </a:r>
            <a:r>
              <a:rPr dirty="0" err="1"/>
              <a:t>wiki.postgresql.org</a:t>
            </a:r>
            <a:r>
              <a:rPr dirty="0"/>
              <a:t>/wiki/Logo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Continuous embedded animation. It starts automatically in Slide Show and contains deliberate pauses. Hover over the movie to pause or replay. The slide itself does not advance automatically.</a:t>
            </a:r>
          </a:p>
          <a:p>
            <a:endParaRPr dirty="0"/>
          </a:p>
          <a:p>
            <a:r>
              <a:rPr dirty="0"/>
              <a:t>Ordinary SELECTs in Read Committed, using two sessions. Reader A reads 100. Writer B changes the balance to 200 but has not committed, so A cannot see that pending value and still reads 100. B then commits. A's next SELECT takes a fresh statement snapshot and reads 200. A can remain in one transaction throughout. PostgreSQL uses Read Committed by default.</a:t>
            </a:r>
          </a:p>
          <a:p>
            <a:endParaRPr dirty="0"/>
          </a:p>
          <a:p>
            <a:r>
              <a:rPr dirty="0"/>
              <a:t>Character artwork adapted from the supplied presentation.</a:t>
            </a:r>
          </a:p>
          <a:p>
            <a:endParaRPr dirty="0"/>
          </a:p>
          <a:p>
            <a:r>
              <a:rPr dirty="0"/>
              <a:t>Sources and artwork:</a:t>
            </a:r>
          </a:p>
          <a:p>
            <a:r>
              <a:rPr dirty="0"/>
              <a:t>https://</a:t>
            </a:r>
            <a:r>
              <a:rPr dirty="0" err="1"/>
              <a:t>www.postgresql.org</a:t>
            </a:r>
            <a:r>
              <a:rPr dirty="0"/>
              <a:t>/docs/18/transaction-</a:t>
            </a:r>
            <a:r>
              <a:rPr dirty="0" err="1"/>
              <a:t>iso.html</a:t>
            </a:r>
            <a:endParaRPr dirty="0"/>
          </a:p>
          <a:p>
            <a:r>
              <a:rPr dirty="0"/>
              <a:t>https://</a:t>
            </a:r>
            <a:r>
              <a:rPr dirty="0" err="1"/>
              <a:t>www.postgresql.org</a:t>
            </a:r>
            <a:r>
              <a:rPr dirty="0"/>
              <a:t>/media/</a:t>
            </a:r>
            <a:r>
              <a:rPr dirty="0" err="1"/>
              <a:t>img</a:t>
            </a:r>
            <a:r>
              <a:rPr dirty="0"/>
              <a:t>/about/press/</a:t>
            </a:r>
            <a:r>
              <a:rPr dirty="0" err="1"/>
              <a:t>elephant.png</a:t>
            </a:r>
            <a:endParaRPr dirty="0"/>
          </a:p>
          <a:p>
            <a:r>
              <a:rPr dirty="0"/>
              <a:t>https://</a:t>
            </a:r>
            <a:r>
              <a:rPr dirty="0" err="1"/>
              <a:t>wiki.postgresql.org</a:t>
            </a:r>
            <a:r>
              <a:rPr dirty="0"/>
              <a:t>/wiki/Logo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Continuous embedded animation. It starts automatically in Slide Show and contains deliberate pauses. Hover over the movie to pause or replay. The slide itself does not advance automatically.</a:t>
            </a:r>
          </a:p>
          <a:p>
            <a:endParaRPr dirty="0"/>
          </a:p>
          <a:p>
            <a:r>
              <a:rPr dirty="0"/>
              <a:t>Ordinary SELECTs in Repeatable Read. A's first non-transaction-control statement establishes its snapshot and reads 100. B updates the balance to 200 and commits. A's subsequent SELECT still reads 100 from the same transaction snapshot. The movie ends with that stable snapshot; it does not show A starting a new transaction. Concurrent row updates and write-skew cases have additional rules.</a:t>
            </a:r>
          </a:p>
          <a:p>
            <a:endParaRPr dirty="0"/>
          </a:p>
          <a:p>
            <a:r>
              <a:rPr dirty="0"/>
              <a:t>Character artwork adapted from the supplied presentation.</a:t>
            </a:r>
          </a:p>
          <a:p>
            <a:endParaRPr dirty="0"/>
          </a:p>
          <a:p>
            <a:r>
              <a:rPr dirty="0"/>
              <a:t>Sources and artwork:</a:t>
            </a:r>
          </a:p>
          <a:p>
            <a:r>
              <a:rPr dirty="0"/>
              <a:t>https://</a:t>
            </a:r>
            <a:r>
              <a:rPr dirty="0" err="1"/>
              <a:t>www.postgresql.org</a:t>
            </a:r>
            <a:r>
              <a:rPr dirty="0"/>
              <a:t>/docs/18/transaction-</a:t>
            </a:r>
            <a:r>
              <a:rPr dirty="0" err="1"/>
              <a:t>iso.html</a:t>
            </a:r>
            <a:endParaRPr dirty="0"/>
          </a:p>
          <a:p>
            <a:r>
              <a:rPr dirty="0"/>
              <a:t>https://</a:t>
            </a:r>
            <a:r>
              <a:rPr dirty="0" err="1"/>
              <a:t>www.postgresql.org</a:t>
            </a:r>
            <a:r>
              <a:rPr dirty="0"/>
              <a:t>/media/</a:t>
            </a:r>
            <a:r>
              <a:rPr dirty="0" err="1"/>
              <a:t>img</a:t>
            </a:r>
            <a:r>
              <a:rPr dirty="0"/>
              <a:t>/about/press/</a:t>
            </a:r>
            <a:r>
              <a:rPr dirty="0" err="1"/>
              <a:t>elephant.png</a:t>
            </a:r>
            <a:endParaRPr dirty="0"/>
          </a:p>
          <a:p>
            <a:r>
              <a:rPr dirty="0"/>
              <a:t>https://</a:t>
            </a:r>
            <a:r>
              <a:rPr dirty="0" err="1"/>
              <a:t>wiki.postgresql.org</a:t>
            </a:r>
            <a:r>
              <a:rPr dirty="0"/>
              <a:t>/wiki/Logo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PostgreSQL 18.3 local test, 16 October 2026. Two SERIALIZABLE transactions try to book Meeting room A at 10:00.</a:t>
            </a:r>
          </a:p>
          <a:p>
            <a:r>
              <a:rPr dirty="0"/>
              <a:t>1. Alice and Bob both SELECT availability and see no booking.</a:t>
            </a:r>
          </a:p>
          <a:p>
            <a:r>
              <a:rPr dirty="0"/>
              <a:t>2. Both INSERT a separate pending booking row for the same room and slot.</a:t>
            </a:r>
          </a:p>
          <a:p>
            <a:r>
              <a:rPr dirty="0"/>
              <a:t>3. Alice COMMIT succeeds.</a:t>
            </a:r>
          </a:p>
          <a:p>
            <a:r>
              <a:rPr dirty="0"/>
              <a:t>4. Bob COMMIT fails with SQLSTATE 40001: could not serialize access due to read/write dependencies among transactions.</a:t>
            </a:r>
          </a:p>
          <a:p>
            <a:r>
              <a:rPr dirty="0"/>
              <a:t>5. Bob retries the WHOLE transaction, including the availability SELECT. It now finds Alice's booking and does not INSERT.</a:t>
            </a:r>
          </a:p>
          <a:p>
            <a:r>
              <a:rPr dirty="0"/>
              <a:t>Only Alice's booking remains. In the control run with REPEATABLE READ, both transactions committed and two booking rows remained.</a:t>
            </a:r>
          </a:p>
          <a:p>
            <a:r>
              <a:rPr dirty="0"/>
              <a:t>The database display is COMMITTED room state; pending requests are not confirmations. SERIALIZABLE detects the dependency conflict; ordinary availability SELECTs do not block these inserts. The aborted transaction and error point can vary under another schedule.</a:t>
            </a:r>
          </a:p>
          <a:p>
            <a:r>
              <a:rPr dirty="0"/>
              <a:t>Teaching schema: primary key on id only, with no UNIQUE(</a:t>
            </a:r>
            <a:r>
              <a:rPr dirty="0" err="1"/>
              <a:t>room,slot</a:t>
            </a:r>
            <a:r>
              <a:rPr dirty="0"/>
              <a:t>) or exclusion constraint, so this example isolates SSI rather than a unique-key conflict. For actual fixed slots, a UNIQUE constraint can enforce room/slot uniqueness; ranges may need an exclusion constraint. Both participating transactions here use SERIALIZABLE and implement the availability check.</a:t>
            </a:r>
          </a:p>
          <a:p>
            <a:r>
              <a:rPr dirty="0"/>
              <a:t>The animation reproduces the observed sequence; its 32-second playback is not measured database latency.</a:t>
            </a:r>
          </a:p>
          <a:p>
            <a:r>
              <a:rPr dirty="0"/>
              <a:t>Local evidence: 20261016_PostgreSQL_SnapshotReplica_Tests.zip (</a:t>
            </a:r>
            <a:r>
              <a:rPr dirty="0" err="1"/>
              <a:t>results.json</a:t>
            </a:r>
            <a:r>
              <a:rPr dirty="0"/>
              <a:t> and executable </a:t>
            </a:r>
            <a:r>
              <a:rPr dirty="0" err="1"/>
              <a:t>test_replication.py</a:t>
            </a:r>
            <a:r>
              <a:rPr dirty="0"/>
              <a:t>).</a:t>
            </a:r>
          </a:p>
          <a:p>
            <a:r>
              <a:rPr dirty="0"/>
              <a:t>Sources:</a:t>
            </a:r>
          </a:p>
          <a:p>
            <a:r>
              <a:rPr dirty="0"/>
              <a:t>https://</a:t>
            </a:r>
            <a:r>
              <a:rPr dirty="0" err="1"/>
              <a:t>www.postgresql.org</a:t>
            </a:r>
            <a:r>
              <a:rPr dirty="0"/>
              <a:t>/docs/18/</a:t>
            </a:r>
            <a:r>
              <a:rPr dirty="0" err="1"/>
              <a:t>transaction-iso.html#XACT-SERIALIZABLE</a:t>
            </a:r>
            <a:endParaRPr dirty="0"/>
          </a:p>
          <a:p>
            <a:r>
              <a:rPr dirty="0"/>
              <a:t>https://</a:t>
            </a:r>
            <a:r>
              <a:rPr dirty="0" err="1"/>
              <a:t>www.postgresql.org</a:t>
            </a:r>
            <a:r>
              <a:rPr dirty="0"/>
              <a:t>/docs/18/</a:t>
            </a:r>
            <a:r>
              <a:rPr dirty="0" err="1"/>
              <a:t>ddl-constraints.html</a:t>
            </a:r>
            <a:endParaRPr dirty="0"/>
          </a:p>
          <a:p>
            <a:r>
              <a:rPr dirty="0"/>
              <a:t>Character artwork reused from the supplied presentation. PostgreSQL elephant:</a:t>
            </a:r>
          </a:p>
          <a:p>
            <a:r>
              <a:rPr dirty="0"/>
              <a:t>https://</a:t>
            </a:r>
            <a:r>
              <a:rPr dirty="0" err="1"/>
              <a:t>www.postgresql.org</a:t>
            </a:r>
            <a:r>
              <a:rPr dirty="0"/>
              <a:t>/media/</a:t>
            </a:r>
            <a:r>
              <a:rPr dirty="0" err="1"/>
              <a:t>img</a:t>
            </a:r>
            <a:r>
              <a:rPr dirty="0"/>
              <a:t>/about/press/</a:t>
            </a:r>
            <a:r>
              <a:rPr dirty="0" err="1"/>
              <a:t>elephant.png</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slide describes physical hot standby, not logical subscription apply. The recovery process replays WAL; it does not run the source SQL under a client isolation level. A replayed commit becomes visible to eligible new standby snapshots. Long queries can conflict with WAL cleanup or DDL replay. </a:t>
            </a:r>
            <a:r>
              <a:rPr dirty="0" err="1"/>
              <a:t>max_standby_streaming_delay</a:t>
            </a:r>
            <a:r>
              <a:rPr dirty="0"/>
              <a:t> bounds recovery waiting; queries may be canceled. </a:t>
            </a:r>
            <a:r>
              <a:rPr dirty="0" err="1"/>
              <a:t>hot_standby_feedback</a:t>
            </a:r>
            <a:r>
              <a:rPr dirty="0"/>
              <a:t> reduces cleanup conflicts but can increase primary bloat and cannot prevent every conflict. SERIALIZABLE is unavailable during hot standby. </a:t>
            </a:r>
            <a:r>
              <a:rPr dirty="0" err="1"/>
              <a:t>remote_apply</a:t>
            </a:r>
            <a:r>
              <a:rPr dirty="0"/>
              <a:t> can wait for a selected synchronous standby to replay a commit, but cannot refresh an existing reader snapshot or every replica. https://</a:t>
            </a:r>
            <a:r>
              <a:rPr dirty="0" err="1"/>
              <a:t>www.postgresql.org</a:t>
            </a:r>
            <a:r>
              <a:rPr dirty="0"/>
              <a:t>/docs/18/hot-</a:t>
            </a:r>
            <a:r>
              <a:rPr dirty="0" err="1"/>
              <a:t>standby.html</a:t>
            </a:r>
            <a:endParaRPr dirty="0"/>
          </a:p>
          <a:p>
            <a:r>
              <a:rPr dirty="0"/>
              <a:t>https://</a:t>
            </a:r>
            <a:r>
              <a:rPr dirty="0" err="1"/>
              <a:t>www.postgresql.org</a:t>
            </a:r>
            <a:r>
              <a:rPr dirty="0"/>
              <a:t>/docs/18/runtime-config-</a:t>
            </a:r>
            <a:r>
              <a:rPr dirty="0" err="1"/>
              <a:t>wal.html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DA556-2B97-3ADA-86ED-F0139C2063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BF4DD-54DE-2A93-D08B-DFE75E3354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E5ACF7-C10F-73B7-8A90-0FDD20C3D1E0}"/>
              </a:ext>
            </a:extLst>
          </p:cNvPr>
          <p:cNvSpPr>
            <a:spLocks noGrp="1"/>
          </p:cNvSpPr>
          <p:nvPr>
            <p:ph type="body" idx="1"/>
          </p:nvPr>
        </p:nvSpPr>
        <p:spPr/>
        <p:txBody>
          <a:bodyPr/>
          <a:lstStyle/>
          <a:p>
            <a:r>
              <a:rPr dirty="0"/>
              <a:t>Section transition. Readyset caching modes and PostgreSQL integration follow.</a:t>
            </a:r>
          </a:p>
        </p:txBody>
      </p:sp>
      <p:sp>
        <p:nvSpPr>
          <p:cNvPr id="4" name="Slide Number Placeholder 3">
            <a:extLst>
              <a:ext uri="{FF2B5EF4-FFF2-40B4-BE49-F238E27FC236}">
                <a16:creationId xmlns:a16="http://schemas.microsoft.com/office/drawing/2014/main" id="{FAE018EF-2E24-8F8D-D5FF-85D4DE5C436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882607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2" name="Google Shape;382;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Deep caching maintains supported results incrementally and is eventually consistent with the source. It does not provide a blanket always-consistent or latest-commit guarantee. https://</a:t>
            </a:r>
            <a:r>
              <a:rPr dirty="0" err="1"/>
              <a:t>readyset.io</a:t>
            </a:r>
            <a:r>
              <a:rPr dirty="0"/>
              <a:t>/docs/concepts/deep-caching</a:t>
            </a:r>
          </a:p>
          <a:p>
            <a:r>
              <a:rPr dirty="0"/>
              <a:t>https://</a:t>
            </a:r>
            <a:r>
              <a:rPr dirty="0" err="1"/>
              <a:t>www.usenix.org</a:t>
            </a:r>
            <a:r>
              <a:rPr dirty="0"/>
              <a:t>/conference/osdi18/presentation/</a:t>
            </a:r>
            <a:r>
              <a:rPr dirty="0" err="1"/>
              <a:t>gjengset</a:t>
            </a:r>
            <a:endParaRPr dirty="0"/>
          </a:p>
        </p:txBody>
      </p:sp>
      <p:sp>
        <p:nvSpPr>
          <p:cNvPr id="383" name="Google Shape;383;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BD50B-6B49-26CA-A18D-D3D93594A8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66BC46-8465-C60C-1633-076644BD2B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B8691E-8A46-AECC-0FF8-30DDC043E8D1}"/>
              </a:ext>
            </a:extLst>
          </p:cNvPr>
          <p:cNvSpPr>
            <a:spLocks noGrp="1"/>
          </p:cNvSpPr>
          <p:nvPr>
            <p:ph type="body" idx="1"/>
          </p:nvPr>
        </p:nvSpPr>
        <p:spPr/>
        <p:txBody>
          <a:bodyPr/>
          <a:lstStyle/>
          <a:p>
            <a:r>
              <a:rPr dirty="0"/>
              <a:t>Section transition. Readyset caching modes and PostgreSQL integration follow.</a:t>
            </a:r>
          </a:p>
        </p:txBody>
      </p:sp>
      <p:sp>
        <p:nvSpPr>
          <p:cNvPr id="4" name="Slide Number Placeholder 3">
            <a:extLst>
              <a:ext uri="{FF2B5EF4-FFF2-40B4-BE49-F238E27FC236}">
                <a16:creationId xmlns:a16="http://schemas.microsoft.com/office/drawing/2014/main" id="{CB5AA132-004C-1B95-6019-610D522E609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255425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7" name="Google Shape;447;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For eligible ordinary shallow entries, background refresh may return the existing result to the triggering request. Misses and expiration can require upstream work, so neither sub-millisecond latency nor zero tail latency is guaranteed. RLS-scoped caches refresh in-session on a miss rather than through background workers. The diagram depicts the ordinary eligible-entry flow. https://</a:t>
            </a:r>
            <a:r>
              <a:rPr dirty="0" err="1"/>
              <a:t>readyset.io</a:t>
            </a:r>
            <a:r>
              <a:rPr dirty="0"/>
              <a:t>/docs/concepts/shallow-caching</a:t>
            </a:r>
          </a:p>
          <a:p>
            <a:r>
              <a:rPr dirty="0"/>
              <a:t>https://</a:t>
            </a:r>
            <a:r>
              <a:rPr dirty="0" err="1"/>
              <a:t>readyset.io</a:t>
            </a:r>
            <a:r>
              <a:rPr dirty="0"/>
              <a:t>/docs/concepts/shallow-caching/row-level-security</a:t>
            </a:r>
          </a:p>
        </p:txBody>
      </p:sp>
      <p:sp>
        <p:nvSpPr>
          <p:cNvPr id="448" name="Google Shape;448;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Conceptual simulation of a warm shallow cache. Query: SELECT </a:t>
            </a:r>
            <a:r>
              <a:rPr dirty="0" err="1"/>
              <a:t>story_id</a:t>
            </a:r>
            <a:r>
              <a:rPr dirty="0"/>
              <a:t>, COUNT(*) AS votes FROM votes WHERE </a:t>
            </a:r>
            <a:r>
              <a:rPr dirty="0" err="1"/>
              <a:t>story_id</a:t>
            </a:r>
            <a:r>
              <a:rPr dirty="0"/>
              <a:t> = $1 GROUP BY </a:t>
            </a:r>
            <a:r>
              <a:rPr dirty="0" err="1"/>
              <a:t>story_id</a:t>
            </a:r>
            <a:r>
              <a:rPr dirty="0"/>
              <a:t>; parameter $1 = 2. The cached result starts as (2,25).</a:t>
            </a:r>
          </a:p>
          <a:p>
            <a:r>
              <a:rPr dirty="0"/>
              <a:t>A writer inserts (</a:t>
            </a:r>
            <a:r>
              <a:rPr dirty="0" err="1"/>
              <a:t>voter_id</a:t>
            </a:r>
            <a:r>
              <a:rPr dirty="0"/>
              <a:t>=88, </a:t>
            </a:r>
            <a:r>
              <a:rPr dirty="0" err="1"/>
              <a:t>story_id</a:t>
            </a:r>
            <a:r>
              <a:rPr dirty="0"/>
              <a:t>=2) and commits in PostgreSQL. The database count becomes 26, but this write does not directly refresh the shallow entry.</a:t>
            </a:r>
          </a:p>
          <a:p>
            <a:r>
              <a:rPr dirty="0"/>
              <a:t>A different reader session accesses the unexpired entry after its refresh interval. Readyset queues a background refresh and serves the existing 25. The worker reruns the query on PostgreSQL, replaces the stored result with (2,26), and a later read receives 26.</a:t>
            </a:r>
          </a:p>
          <a:p>
            <a:r>
              <a:rPr dirty="0"/>
              <a:t>Assumptions: on-access refresh, an ordinary non-RLS query, available refresh capacity, successful refresh, no additional writes or eviction. The proxy is implicit in the lower read path. The display isolates this key and omits connection management.</a:t>
            </a:r>
          </a:p>
          <a:p>
            <a:r>
              <a:rPr dirty="0"/>
              <a:t>TTL expiration and refresh eligibility are distinct. A cold or expired entry can wait for upstream. Scheduled refresh is another supported strategy. Failed or delayed refresh can extend staleness.</a:t>
            </a:r>
          </a:p>
          <a:p>
            <a:r>
              <a:rPr dirty="0"/>
              <a:t>Sources:</a:t>
            </a:r>
          </a:p>
          <a:p>
            <a:r>
              <a:rPr dirty="0"/>
              <a:t>https://</a:t>
            </a:r>
            <a:r>
              <a:rPr dirty="0" err="1"/>
              <a:t>readyset.io</a:t>
            </a:r>
            <a:r>
              <a:rPr dirty="0"/>
              <a:t>/docs/concepts/shallow-caching</a:t>
            </a:r>
          </a:p>
          <a:p>
            <a:r>
              <a:rPr dirty="0"/>
              <a:t>https://</a:t>
            </a:r>
            <a:r>
              <a:rPr dirty="0" err="1"/>
              <a:t>github.com</a:t>
            </a:r>
            <a:r>
              <a:rPr dirty="0"/>
              <a:t>/</a:t>
            </a:r>
            <a:r>
              <a:rPr dirty="0" err="1"/>
              <a:t>readysettech</a:t>
            </a:r>
            <a:r>
              <a:rPr dirty="0"/>
              <a:t>/</a:t>
            </a:r>
            <a:r>
              <a:rPr dirty="0" err="1"/>
              <a:t>readyset</a:t>
            </a:r>
            <a:r>
              <a:rPr dirty="0"/>
              <a:t>/blob/43859f170ac41362e92cfcc376f1ab9a45f44c08/</a:t>
            </a:r>
            <a:r>
              <a:rPr dirty="0" err="1"/>
              <a:t>readyset</a:t>
            </a:r>
            <a:r>
              <a:rPr dirty="0"/>
              <a:t>-shallow/</a:t>
            </a:r>
            <a:r>
              <a:rPr dirty="0" err="1"/>
              <a:t>src</a:t>
            </a:r>
            <a:r>
              <a:rPr dirty="0"/>
              <a:t>/cache.rs#L971-L1004</a:t>
            </a:r>
          </a:p>
          <a:p>
            <a:r>
              <a:rPr dirty="0"/>
              <a:t>https://</a:t>
            </a:r>
            <a:r>
              <a:rPr dirty="0" err="1"/>
              <a:t>github.com</a:t>
            </a:r>
            <a:r>
              <a:rPr dirty="0"/>
              <a:t>/</a:t>
            </a:r>
            <a:r>
              <a:rPr dirty="0" err="1"/>
              <a:t>readysettech</a:t>
            </a:r>
            <a:r>
              <a:rPr dirty="0"/>
              <a:t>/</a:t>
            </a:r>
            <a:r>
              <a:rPr dirty="0" err="1"/>
              <a:t>readyset</a:t>
            </a:r>
            <a:r>
              <a:rPr dirty="0"/>
              <a:t>/blob/43859f170ac41362e92cfcc376f1ab9a45f44c08/</a:t>
            </a:r>
            <a:r>
              <a:rPr dirty="0" err="1"/>
              <a:t>readyset</a:t>
            </a:r>
            <a:r>
              <a:rPr dirty="0"/>
              <a:t>-adapter/</a:t>
            </a:r>
            <a:r>
              <a:rPr dirty="0" err="1"/>
              <a:t>src</a:t>
            </a:r>
            <a:r>
              <a:rPr dirty="0"/>
              <a:t>/backend/shallow.rs#L343-L360</a:t>
            </a:r>
          </a:p>
          <a:p>
            <a:r>
              <a:rPr dirty="0"/>
              <a:t>https://</a:t>
            </a:r>
            <a:r>
              <a:rPr dirty="0" err="1"/>
              <a:t>github.com</a:t>
            </a:r>
            <a:r>
              <a:rPr dirty="0"/>
              <a:t>/</a:t>
            </a:r>
            <a:r>
              <a:rPr dirty="0" err="1"/>
              <a:t>readysettech</a:t>
            </a:r>
            <a:r>
              <a:rPr dirty="0"/>
              <a:t>/</a:t>
            </a:r>
            <a:r>
              <a:rPr dirty="0" err="1"/>
              <a:t>readyset</a:t>
            </a:r>
            <a:r>
              <a:rPr dirty="0"/>
              <a:t>/blob/43859f170ac41362e92cfcc376f1ab9a45f44c08/</a:t>
            </a:r>
            <a:r>
              <a:rPr dirty="0" err="1"/>
              <a:t>readyset</a:t>
            </a:r>
            <a:r>
              <a:rPr dirty="0"/>
              <a:t>-adapter/</a:t>
            </a:r>
            <a:r>
              <a:rPr dirty="0" err="1"/>
              <a:t>src</a:t>
            </a:r>
            <a:r>
              <a:rPr dirty="0"/>
              <a:t>/shallow_refresh_pool.rs#L410-L441</a:t>
            </a:r>
          </a:p>
          <a:p>
            <a:r>
              <a:rPr dirty="0"/>
              <a:t>Character artwork reused from the supplied deck. PostgreSQL logo: https://</a:t>
            </a:r>
            <a:r>
              <a:rPr dirty="0" err="1"/>
              <a:t>www.postgresql.org</a:t>
            </a:r>
            <a:r>
              <a:rPr dirty="0"/>
              <a:t>/media/</a:t>
            </a:r>
            <a:r>
              <a:rPr dirty="0" err="1"/>
              <a:t>img</a:t>
            </a:r>
            <a:r>
              <a:rPr dirty="0"/>
              <a:t>/about/press/</a:t>
            </a:r>
            <a:r>
              <a:rPr dirty="0" err="1"/>
              <a:t>elephant.png</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4" name="Google Shape;464;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Readyset ordinary shallow caches do not implement general upstream per-user GRANT enforcement. Supported PostgreSQL RLS policies partition entries by session inputs. Unsupported policies fall back to upstream. RLS entries skip background refresh. Policy polling has a separate staleness window, and failed polling can prolong stale policy state. Deep caches do not support RLS-protected tables. Verify the deployed release and access model. https://</a:t>
            </a:r>
            <a:r>
              <a:rPr dirty="0" err="1"/>
              <a:t>readyset.io</a:t>
            </a:r>
            <a:r>
              <a:rPr dirty="0"/>
              <a:t>/docs/concepts/shallow-caching/row-level-security</a:t>
            </a:r>
          </a:p>
          <a:p>
            <a:r>
              <a:rPr dirty="0"/>
              <a:t>https://</a:t>
            </a:r>
            <a:r>
              <a:rPr dirty="0" err="1"/>
              <a:t>readyset.io</a:t>
            </a:r>
            <a:r>
              <a:rPr dirty="0"/>
              <a:t>/docs/concepts/shallow-caching</a:t>
            </a:r>
          </a:p>
        </p:txBody>
      </p:sp>
      <p:sp>
        <p:nvSpPr>
          <p:cNvPr id="465" name="Google Shape;465;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4C71F-B9E8-813D-D21E-EC1D32C1D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D2AD2B-1530-E7B8-39CE-8C89ABA0C6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2FE30A-70DB-1296-196C-B1102500D547}"/>
              </a:ext>
            </a:extLst>
          </p:cNvPr>
          <p:cNvSpPr>
            <a:spLocks noGrp="1"/>
          </p:cNvSpPr>
          <p:nvPr>
            <p:ph type="body" idx="1"/>
          </p:nvPr>
        </p:nvSpPr>
        <p:spPr/>
        <p:txBody>
          <a:bodyPr/>
          <a:lstStyle/>
          <a:p>
            <a:r>
              <a:rPr dirty="0"/>
              <a:t>Section transition. Readyset caching modes and PostgreSQL integration follow.</a:t>
            </a:r>
          </a:p>
        </p:txBody>
      </p:sp>
      <p:sp>
        <p:nvSpPr>
          <p:cNvPr id="4" name="Slide Number Placeholder 3">
            <a:extLst>
              <a:ext uri="{FF2B5EF4-FFF2-40B4-BE49-F238E27FC236}">
                <a16:creationId xmlns:a16="http://schemas.microsoft.com/office/drawing/2014/main" id="{2C766EA8-DAAC-FB40-E372-15ECE438783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565038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5" name="Google Shape;665;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For PostgreSQL deep caching, Readyset takes a snapshot and follows logical replication. It is not a physical standby. </a:t>
            </a:r>
            <a:r>
              <a:rPr dirty="0" err="1"/>
              <a:t>wal_level</a:t>
            </a:r>
            <a:r>
              <a:rPr dirty="0"/>
              <a:t>=logical and suitable replication permissions/configuration are required. Monitor replication slot WAL retention and CDC lag. </a:t>
            </a:r>
            <a:r>
              <a:rPr dirty="0" err="1"/>
              <a:t>Uncached</a:t>
            </a:r>
            <a:r>
              <a:rPr dirty="0"/>
              <a:t> or unsupported queries route upstream. https://</a:t>
            </a:r>
            <a:r>
              <a:rPr dirty="0" err="1"/>
              <a:t>readyset.io</a:t>
            </a:r>
            <a:r>
              <a:rPr dirty="0"/>
              <a:t>/docs/cache/connect/</a:t>
            </a:r>
            <a:r>
              <a:rPr dirty="0" err="1"/>
              <a:t>postgres</a:t>
            </a:r>
            <a:endParaRPr dirty="0"/>
          </a:p>
          <a:p>
            <a:r>
              <a:rPr dirty="0"/>
              <a:t>https://</a:t>
            </a:r>
            <a:r>
              <a:rPr dirty="0" err="1"/>
              <a:t>readyset.io</a:t>
            </a:r>
            <a:r>
              <a:rPr dirty="0"/>
              <a:t>/docs/concepts/deep-caching</a:t>
            </a:r>
          </a:p>
        </p:txBody>
      </p:sp>
      <p:sp>
        <p:nvSpPr>
          <p:cNvPr id="666" name="Google Shape;666;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Conceptual simulation of an existing deep cache with story 2 materialized. Query: SELECT </a:t>
            </a:r>
            <a:r>
              <a:rPr dirty="0" err="1"/>
              <a:t>story_id</a:t>
            </a:r>
            <a:r>
              <a:rPr dirty="0"/>
              <a:t>, COUNT(*) AS votes FROM votes WHERE </a:t>
            </a:r>
            <a:r>
              <a:rPr dirty="0" err="1"/>
              <a:t>story_id</a:t>
            </a:r>
            <a:r>
              <a:rPr dirty="0"/>
              <a:t> = $1 GROUP BY </a:t>
            </a:r>
            <a:r>
              <a:rPr dirty="0" err="1"/>
              <a:t>story_id</a:t>
            </a:r>
            <a:r>
              <a:rPr dirty="0"/>
              <a:t>; parameter $1 = 2. Initial snapshot and warm-up are already complete.</a:t>
            </a:r>
          </a:p>
          <a:p>
            <a:r>
              <a:rPr dirty="0"/>
              <a:t>The writer inserts (</a:t>
            </a:r>
            <a:r>
              <a:rPr dirty="0" err="1"/>
              <a:t>voter_id</a:t>
            </a:r>
            <a:r>
              <a:rPr dirty="0"/>
              <a:t>=88, </a:t>
            </a:r>
            <a:r>
              <a:rPr dirty="0" err="1"/>
              <a:t>story_id</a:t>
            </a:r>
            <a:r>
              <a:rPr dirty="0"/>
              <a:t>=2) and commits in PostgreSQL. Its count becomes 26 while the Reader can still hold (2,25).</a:t>
            </a:r>
          </a:p>
          <a:p>
            <a:r>
              <a:rPr dirty="0"/>
              <a:t>Logical replication delivers the change through the Replicator to the votes base table. COUNT applies a positive record to the existing group: 25 + 1 = 26. The changed result propagates to the Reader. A later cached lookup for key 2 returns (2,26).</a:t>
            </a:r>
          </a:p>
          <a:p>
            <a:r>
              <a:rPr dirty="0"/>
              <a:t>The diagram simplifies the physical graph and shows one successful INSERT. The base-table row count shown is only for story 2. Other groups are unaffected. The proxy is implicit in the lower read path. Deletes subtract and updates can produce negative and positive records. This is incremental maintenance, with asynchronous propagation, rather than a periodic full SQL refresh.</a:t>
            </a:r>
          </a:p>
          <a:p>
            <a:r>
              <a:rPr dirty="0"/>
              <a:t>Cold or evicted keys can require replay/</a:t>
            </a:r>
            <a:r>
              <a:rPr dirty="0" err="1"/>
              <a:t>upquery</a:t>
            </a:r>
            <a:r>
              <a:rPr dirty="0"/>
              <a:t> work, covered in the following slides. This warm-key example is not a read-your-writes guarantee or a measured latency comparison.</a:t>
            </a:r>
          </a:p>
          <a:p>
            <a:r>
              <a:rPr dirty="0"/>
              <a:t>Sources:</a:t>
            </a:r>
          </a:p>
          <a:p>
            <a:r>
              <a:rPr dirty="0"/>
              <a:t>https://</a:t>
            </a:r>
            <a:r>
              <a:rPr dirty="0" err="1"/>
              <a:t>readyset.io</a:t>
            </a:r>
            <a:r>
              <a:rPr dirty="0"/>
              <a:t>/docs/concepts/deep-caching</a:t>
            </a:r>
          </a:p>
          <a:p>
            <a:r>
              <a:rPr dirty="0"/>
              <a:t>https://</a:t>
            </a:r>
            <a:r>
              <a:rPr dirty="0" err="1"/>
              <a:t>github.com</a:t>
            </a:r>
            <a:r>
              <a:rPr dirty="0"/>
              <a:t>/</a:t>
            </a:r>
            <a:r>
              <a:rPr dirty="0" err="1"/>
              <a:t>readysettech</a:t>
            </a:r>
            <a:r>
              <a:rPr dirty="0"/>
              <a:t>/</a:t>
            </a:r>
            <a:r>
              <a:rPr dirty="0" err="1"/>
              <a:t>readyset</a:t>
            </a:r>
            <a:r>
              <a:rPr dirty="0"/>
              <a:t>/blob/43859f170ac41362e92cfcc376f1ab9a45f44c08/replicators/</a:t>
            </a:r>
            <a:r>
              <a:rPr dirty="0" err="1"/>
              <a:t>src</a:t>
            </a:r>
            <a:r>
              <a:rPr dirty="0"/>
              <a:t>/</a:t>
            </a:r>
            <a:r>
              <a:rPr dirty="0" err="1"/>
              <a:t>postgres_connector</a:t>
            </a:r>
            <a:r>
              <a:rPr dirty="0"/>
              <a:t>/connector.rs#L1084-L1120</a:t>
            </a:r>
          </a:p>
          <a:p>
            <a:r>
              <a:rPr dirty="0"/>
              <a:t>https://</a:t>
            </a:r>
            <a:r>
              <a:rPr dirty="0" err="1"/>
              <a:t>github.com</a:t>
            </a:r>
            <a:r>
              <a:rPr dirty="0"/>
              <a:t>/</a:t>
            </a:r>
            <a:r>
              <a:rPr dirty="0" err="1"/>
              <a:t>readysettech</a:t>
            </a:r>
            <a:r>
              <a:rPr dirty="0"/>
              <a:t>/</a:t>
            </a:r>
            <a:r>
              <a:rPr dirty="0" err="1"/>
              <a:t>readyset</a:t>
            </a:r>
            <a:r>
              <a:rPr dirty="0"/>
              <a:t>/blob/43859f170ac41362e92cfcc376f1ab9a45f44c08/replicators/</a:t>
            </a:r>
            <a:r>
              <a:rPr dirty="0" err="1"/>
              <a:t>src</a:t>
            </a:r>
            <a:r>
              <a:rPr dirty="0"/>
              <a:t>/</a:t>
            </a:r>
            <a:r>
              <a:rPr dirty="0" err="1"/>
              <a:t>postgres_connector</a:t>
            </a:r>
            <a:r>
              <a:rPr dirty="0"/>
              <a:t>/connector.rs#L1174-L1192</a:t>
            </a:r>
          </a:p>
          <a:p>
            <a:r>
              <a:rPr dirty="0"/>
              <a:t>https://</a:t>
            </a:r>
            <a:r>
              <a:rPr dirty="0" err="1"/>
              <a:t>github.com</a:t>
            </a:r>
            <a:r>
              <a:rPr dirty="0"/>
              <a:t>/</a:t>
            </a:r>
            <a:r>
              <a:rPr dirty="0" err="1"/>
              <a:t>readysettech</a:t>
            </a:r>
            <a:r>
              <a:rPr dirty="0"/>
              <a:t>/</a:t>
            </a:r>
            <a:r>
              <a:rPr dirty="0" err="1"/>
              <a:t>readyset</a:t>
            </a:r>
            <a:r>
              <a:rPr dirty="0"/>
              <a:t>/blob/43859f170ac41362e92cfcc376f1ab9a45f44c08/</a:t>
            </a:r>
            <a:r>
              <a:rPr dirty="0" err="1"/>
              <a:t>readyset</a:t>
            </a:r>
            <a:r>
              <a:rPr dirty="0"/>
              <a:t>-dataflow/</a:t>
            </a:r>
            <a:r>
              <a:rPr dirty="0" err="1"/>
              <a:t>src</a:t>
            </a:r>
            <a:r>
              <a:rPr dirty="0"/>
              <a:t>/ops/grouped/aggregate.rs#L235-L249</a:t>
            </a:r>
          </a:p>
          <a:p>
            <a:r>
              <a:rPr dirty="0"/>
              <a:t>Character artwork reused from the supplied deck. PostgreSQL logo: https://</a:t>
            </a:r>
            <a:r>
              <a:rPr dirty="0" err="1"/>
              <a:t>www.postgresql.org</a:t>
            </a:r>
            <a:r>
              <a:rPr dirty="0"/>
              <a:t>/media/</a:t>
            </a:r>
            <a:r>
              <a:rPr dirty="0" err="1"/>
              <a:t>img</a:t>
            </a:r>
            <a:r>
              <a:rPr dirty="0"/>
              <a:t>/about/press/</a:t>
            </a:r>
            <a:r>
              <a:rPr dirty="0" err="1"/>
              <a:t>elephant.png</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0" name="Google Shape;700;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PostgreSQL prepared-statement parameters use $1. COUNT(*) counts joined vote rows. Explicit GROUP BY </a:t>
            </a:r>
            <a:r>
              <a:rPr dirty="0" err="1"/>
              <a:t>s.id</a:t>
            </a:r>
            <a:r>
              <a:rPr dirty="0"/>
              <a:t>, </a:t>
            </a:r>
            <a:r>
              <a:rPr dirty="0" err="1"/>
              <a:t>s.author</a:t>
            </a:r>
            <a:r>
              <a:rPr dirty="0"/>
              <a:t>, </a:t>
            </a:r>
            <a:r>
              <a:rPr dirty="0" err="1"/>
              <a:t>s.title</a:t>
            </a:r>
            <a:r>
              <a:rPr dirty="0"/>
              <a:t> avoids reliance on functional-dependency inference. The sample query was prepared and executed against local PostgreSQL 18.3 tables. This checks PostgreSQL syntax, not support by every Readyset release. https://</a:t>
            </a:r>
            <a:r>
              <a:rPr dirty="0" err="1"/>
              <a:t>readyset.io</a:t>
            </a:r>
            <a:r>
              <a:rPr dirty="0"/>
              <a:t>/docs/concepts/deep-caching</a:t>
            </a:r>
          </a:p>
        </p:txBody>
      </p:sp>
      <p:sp>
        <p:nvSpPr>
          <p:cNvPr id="701" name="Google Shape;701;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5" name="Google Shape;715;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Partial materialization applies to demand-driven state within the graph. Do not infer that every base-table copy contains only keys the application queried. Memory use also includes replicated base state and operator state. https://</a:t>
            </a:r>
            <a:r>
              <a:rPr dirty="0" err="1"/>
              <a:t>readyset.io</a:t>
            </a:r>
            <a:r>
              <a:rPr dirty="0"/>
              <a:t>/docs/concepts/deep-caching</a:t>
            </a:r>
          </a:p>
        </p:txBody>
      </p:sp>
      <p:sp>
        <p:nvSpPr>
          <p:cNvPr id="716" name="Google Shape;716;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7" name="Google Shape;737;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A cold result requires upstream graph work and may have higher latency. Warm hits avoid recomputing the supported result. Eviction can make a later request cold again. https://</a:t>
            </a:r>
            <a:r>
              <a:rPr dirty="0" err="1"/>
              <a:t>readyset.io</a:t>
            </a:r>
            <a:r>
              <a:rPr dirty="0"/>
              <a:t>/docs/concepts/deep-caching</a:t>
            </a:r>
          </a:p>
        </p:txBody>
      </p:sp>
      <p:sp>
        <p:nvSpPr>
          <p:cNvPr id="738" name="Google Shape;738;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dirty="0"/>
              <a:t>Incremental work depends on affected rows, operator state, and join fan-out, not only the number of input deltas. The Reader returns the new count after propagation reaches it. The animation does not claim every reader across different queries shares a PostgreSQL transaction snapshot. https://</a:t>
            </a:r>
            <a:r>
              <a:rPr dirty="0" err="1"/>
              <a:t>readyset.io</a:t>
            </a:r>
            <a:r>
              <a:rPr dirty="0"/>
              <a:t>/docs/concepts/deep-caching</a:t>
            </a:r>
          </a:p>
        </p:txBody>
      </p:sp>
      <p:sp>
        <p:nvSpPr>
          <p:cNvPr id="761" name="Google Shape;76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next slides distinguish a fresh source from the age of a query snapshot at response arrival. An illustrative timeline is not a benchmark. https://</a:t>
            </a:r>
            <a:r>
              <a:rPr dirty="0" err="1"/>
              <a:t>www.postgresql.org</a:t>
            </a:r>
            <a:r>
              <a:rPr dirty="0"/>
              <a:t>/docs/18/transaction-</a:t>
            </a:r>
            <a:r>
              <a:rPr dirty="0" err="1"/>
              <a:t>iso.html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An ordinary long-running SELECT under READ COMMITTED keeps its statement snapshot, even while concurrent transactions commit. REPEATABLE READ can use an even older transaction snapshot. This is about snapshot age, not a claim that every row changes or that every returned value is stale. https://</a:t>
            </a:r>
            <a:r>
              <a:rPr dirty="0" err="1"/>
              <a:t>www.postgresql.org</a:t>
            </a:r>
            <a:r>
              <a:rPr dirty="0"/>
              <a:t>/docs/18/transaction-</a:t>
            </a:r>
            <a:r>
              <a:rPr dirty="0" err="1"/>
              <a:t>iso.html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Illustration only: snapshot age is response time minus snapshot acquisition time. The snapshot age does not measure a particular row’s last change, replica replay lag, or a bounded application staleness guarantee.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Deep cache freshness depends on snapshot completion, replication lag, dataflow propagation, and the time to serve a lookup. Writes stay on the database path. https://</a:t>
            </a:r>
            <a:r>
              <a:rPr dirty="0" err="1"/>
              <a:t>readyset.io</a:t>
            </a:r>
            <a:r>
              <a:rPr dirty="0"/>
              <a:t>/docs/concepts/deep-caching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PostgreSQL 18.3 local verification, 16 October 2026: one primary and two asynchronous physical streaming replicas. Default READ COMMITTED, </a:t>
            </a:r>
            <a:r>
              <a:rPr dirty="0" err="1"/>
              <a:t>fsync</a:t>
            </a:r>
            <a:r>
              <a:rPr dirty="0"/>
              <a:t>=on, </a:t>
            </a:r>
            <a:r>
              <a:rPr dirty="0" err="1"/>
              <a:t>synchronous_commit</a:t>
            </a:r>
            <a:r>
              <a:rPr dirty="0"/>
              <a:t>=on, and no synchronous standby requirement.</a:t>
            </a:r>
          </a:p>
          <a:p>
            <a:r>
              <a:rPr dirty="0"/>
              <a:t>1. Start an ordinary primary SELECT with snapshot value 100. A materialized CTE plus </a:t>
            </a:r>
            <a:r>
              <a:rPr dirty="0" err="1"/>
              <a:t>pg_sleep</a:t>
            </a:r>
            <a:r>
              <a:rPr dirty="0"/>
              <a:t>(5) keeps that statement open; </a:t>
            </a:r>
            <a:r>
              <a:rPr dirty="0" err="1"/>
              <a:t>pg_stat_activity</a:t>
            </a:r>
            <a:r>
              <a:rPr dirty="0"/>
              <a:t> confirms </a:t>
            </a:r>
            <a:r>
              <a:rPr dirty="0" err="1"/>
              <a:t>PgSleep</a:t>
            </a:r>
            <a:r>
              <a:rPr dirty="0"/>
              <a:t> and a snapshot before the writer runs.</a:t>
            </a:r>
          </a:p>
          <a:p>
            <a:r>
              <a:rPr dirty="0"/>
              <a:t>2. Another session updates the value to 200 and COMMIT succeeds.</a:t>
            </a:r>
          </a:p>
          <a:p>
            <a:r>
              <a:rPr dirty="0"/>
              <a:t>3. Wait until replica A's replay LSN reaches the primary's post-commit WAL flush LSN. A NEW SELECT on replica A returns 200 while the earlier primary SELECT is still running. A new primary SELECT also returns 200.</a:t>
            </a:r>
          </a:p>
          <a:p>
            <a:r>
              <a:rPr dirty="0"/>
              <a:t>4. The earlier primary SELECT completes with 100. Its next READ COMMITTED statement returns 200. The schedule passed three times.</a:t>
            </a:r>
          </a:p>
          <a:p>
            <a:r>
              <a:rPr dirty="0"/>
              <a:t>Replica B control: confirmed replay was actually paused before COMMIT; a new SELECT returned 100. After replay resumed and reached the same WAL boundary, a new SELECT returned 200. A replica is not inherently fresher than the primary.</a:t>
            </a:r>
          </a:p>
          <a:p>
            <a:r>
              <a:rPr dirty="0"/>
              <a:t>Additional checks: a long-running SELECT on replica A also retained its earlier snapshot after replay caught up. REPEATABLE READ retained the first snapshot across statements on primary and both replicas; a new transaction saw replayed commits. READ COMMITTED refreshed on the next statement. A separate DROP TABLE replay conflict cancelled a standby SELECT with 40001 at a 1-second </a:t>
            </a:r>
            <a:r>
              <a:rPr dirty="0" err="1"/>
              <a:t>max_standby_streaming_delay</a:t>
            </a:r>
            <a:r>
              <a:rPr dirty="0"/>
              <a:t>.</a:t>
            </a:r>
          </a:p>
          <a:p>
            <a:r>
              <a:rPr dirty="0"/>
              <a:t>This is a controlled semantic test, not a query-speed or replication-latency benchmark. Sleep is deliberate. Animation timing is illustrative. No Readyset server was tested and no Readyset freshness or performance measurement is claimed.</a:t>
            </a:r>
          </a:p>
          <a:p>
            <a:r>
              <a:rPr dirty="0"/>
              <a:t>Local evidence: 20261016_PostgreSQL_SnapshotReplica_Tests.zip (</a:t>
            </a:r>
            <a:r>
              <a:rPr dirty="0" err="1"/>
              <a:t>results.json</a:t>
            </a:r>
            <a:r>
              <a:rPr dirty="0"/>
              <a:t> and executable </a:t>
            </a:r>
            <a:r>
              <a:rPr dirty="0" err="1"/>
              <a:t>test_replication.py</a:t>
            </a:r>
            <a:r>
              <a:rPr dirty="0"/>
              <a:t>).</a:t>
            </a:r>
          </a:p>
          <a:p>
            <a:r>
              <a:rPr dirty="0"/>
              <a:t>Sources:</a:t>
            </a:r>
          </a:p>
          <a:p>
            <a:r>
              <a:rPr dirty="0"/>
              <a:t>https://</a:t>
            </a:r>
            <a:r>
              <a:rPr dirty="0" err="1"/>
              <a:t>www.postgresql.org</a:t>
            </a:r>
            <a:r>
              <a:rPr dirty="0"/>
              <a:t>/docs/18/transaction-</a:t>
            </a:r>
            <a:r>
              <a:rPr dirty="0" err="1"/>
              <a:t>iso.html</a:t>
            </a:r>
            <a:endParaRPr dirty="0"/>
          </a:p>
          <a:p>
            <a:r>
              <a:rPr dirty="0"/>
              <a:t>https://</a:t>
            </a:r>
            <a:r>
              <a:rPr dirty="0" err="1"/>
              <a:t>www.postgresql.org</a:t>
            </a:r>
            <a:r>
              <a:rPr dirty="0"/>
              <a:t>/docs/18/hot-</a:t>
            </a:r>
            <a:r>
              <a:rPr dirty="0" err="1"/>
              <a:t>standby.html</a:t>
            </a:r>
            <a:endParaRPr dirty="0"/>
          </a:p>
          <a:p>
            <a:r>
              <a:rPr dirty="0"/>
              <a:t>https://</a:t>
            </a:r>
            <a:r>
              <a:rPr dirty="0" err="1"/>
              <a:t>www.postgresql.org</a:t>
            </a:r>
            <a:r>
              <a:rPr dirty="0"/>
              <a:t>/docs/18/</a:t>
            </a:r>
            <a:r>
              <a:rPr dirty="0" err="1"/>
              <a:t>functions-admin.html#FUNCTIONS-RECOVERY-CONTROL</a:t>
            </a:r>
            <a:endParaRPr dirty="0"/>
          </a:p>
          <a:p>
            <a:r>
              <a:rPr dirty="0"/>
              <a:t>Character artwork reused from the supplied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Compare the age of the applied state at response arrival, not query latency alone. A fast cache can return a newer result than a long snapshot query when its update delay plus lookup latency is smaller than that query snapshot age. A cache can also lose this comparison. Applications needing read-your-writes or stronger transaction guarantees must verify routing and consistency mechanisms. https://</a:t>
            </a:r>
            <a:r>
              <a:rPr dirty="0" err="1"/>
              <a:t>readyset.io</a:t>
            </a:r>
            <a:r>
              <a:rPr dirty="0"/>
              <a:t>/docs/concepts/deep-caching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9F5E0-F5EE-BC58-0C36-FAFF2A9B5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6FBBAD-F58F-E136-FB5E-F5C96C4804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772141-DE87-59BD-52BD-A47AEF8F9C56}"/>
              </a:ext>
            </a:extLst>
          </p:cNvPr>
          <p:cNvSpPr>
            <a:spLocks noGrp="1"/>
          </p:cNvSpPr>
          <p:nvPr>
            <p:ph type="body" idx="1"/>
          </p:nvPr>
        </p:nvSpPr>
        <p:spPr/>
        <p:txBody>
          <a:bodyPr/>
          <a:lstStyle/>
          <a:p>
            <a:r>
              <a:rPr dirty="0"/>
              <a:t>Published throughput experiment, not a PostgreSQL freshness benchmark. The peak Readyset measurement used the MySQL binary protocol. https://</a:t>
            </a:r>
            <a:r>
              <a:rPr dirty="0" err="1"/>
              <a:t>cms.readyset.io</a:t>
            </a:r>
            <a:r>
              <a:rPr dirty="0"/>
              <a:t>/files/uploads/71635221-6fa9-4b43-818e-e8374433dfc1.pdf</a:t>
            </a:r>
          </a:p>
        </p:txBody>
      </p:sp>
      <p:sp>
        <p:nvSpPr>
          <p:cNvPr id="4" name="Slide Number Placeholder 3">
            <a:extLst>
              <a:ext uri="{FF2B5EF4-FFF2-40B4-BE49-F238E27FC236}">
                <a16:creationId xmlns:a16="http://schemas.microsoft.com/office/drawing/2014/main" id="{9AA92240-AB1E-1A35-96A2-0E0B777AF78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960664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Table 1: 4,379,212 QPS at 6,720 connections, 2.26 </a:t>
            </a:r>
            <a:r>
              <a:rPr dirty="0" err="1"/>
              <a:t>ms</a:t>
            </a:r>
            <a:r>
              <a:rPr dirty="0"/>
              <a:t> p95. MySQL binary protocol, prepared point lookups, 100% cache hits. This isolates Readyset serving and excludes miss cost, live replication catch-up, write throughput, and general SQL execution. CPU percentages share a denominator: the cache read path is a subset of Readyset </a:t>
            </a:r>
            <a:r>
              <a:rPr dirty="0" err="1"/>
              <a:t>userspace</a:t>
            </a:r>
            <a:r>
              <a:rPr dirty="0"/>
              <a:t>, not an extra category to add. Measured 14 August 2026. https://</a:t>
            </a:r>
            <a:r>
              <a:rPr dirty="0" err="1"/>
              <a:t>cms.readyset.io</a:t>
            </a:r>
            <a:r>
              <a:rPr dirty="0"/>
              <a:t>/files/uploads/71635221-6fa9-4b43-818e-e8374433dfc1.pdf</a:t>
            </a:r>
          </a:p>
        </p:txBody>
      </p:sp>
      <p:sp>
        <p:nvSpPr>
          <p:cNvPr id="796" name="Google Shape;796;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9" name="Google Shape;819;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Use Table 3 for the comparison: Readyset 4,332,492 QPS; PostgreSQL 16 2,181,981; PostgreSQL plus </a:t>
            </a:r>
            <a:r>
              <a:rPr dirty="0" err="1"/>
              <a:t>PgBouncer</a:t>
            </a:r>
            <a:r>
              <a:rPr dirty="0"/>
              <a:t> 1,797,759; Percona MySQL 8.4 1,573,565. The Readyset Table 3 run differs from Table 1 (4,379,212). The paper identifies MySQL binary protocol on the Readyset serving path, so these are not all PostgreSQL-wire measurements. Retain Percona MySQL as the actual comparison system. </a:t>
            </a:r>
            <a:r>
              <a:rPr dirty="0" err="1"/>
              <a:t>PgBouncer</a:t>
            </a:r>
            <a:r>
              <a:rPr dirty="0"/>
              <a:t> ran six instances per generator, not six total, and exposed about 1,050 database connections. Its plateau does not establish that the pooler itself saturated: database CPU was near 99%. This point-lookup workload does not measure transaction equivalence, freshness, or end-to-end application gains. https://</a:t>
            </a:r>
            <a:r>
              <a:rPr dirty="0" err="1"/>
              <a:t>cms.readyset.io</a:t>
            </a:r>
            <a:r>
              <a:rPr dirty="0"/>
              <a:t>/files/uploads/71635221-6fa9-4b43-818e-e8374433dfc1.pdf</a:t>
            </a:r>
          </a:p>
        </p:txBody>
      </p:sp>
      <p:sp>
        <p:nvSpPr>
          <p:cNvPr id="820" name="Google Shape;820;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r>
              <a:rPr dirty="0"/>
              <a:t>Technical evidence from original slide:</a:t>
            </a:r>
          </a:p>
          <a:p>
            <a:r>
              <a:rPr dirty="0"/>
              <a:t>Thank you.</a:t>
            </a:r>
          </a:p>
          <a:p>
            <a:endParaRPr dirty="0"/>
          </a:p>
          <a:p>
            <a:r>
              <a:rPr dirty="0"/>
              <a:t>Questions?</a:t>
            </a:r>
          </a:p>
          <a:p>
            <a:endParaRPr dirty="0"/>
          </a:p>
          <a:p>
            <a:r>
              <a:rPr dirty="0" err="1"/>
              <a:t>readyset.io</a:t>
            </a:r>
            <a:endParaRPr dirty="0"/>
          </a:p>
          <a:p>
            <a:endParaRPr dirty="0"/>
          </a:p>
          <a:p>
            <a:r>
              <a:rPr dirty="0" err="1"/>
              <a:t>vinicius@readyset.io</a:t>
            </a:r>
            <a:endParaRPr dirty="0"/>
          </a:p>
          <a:p>
            <a:endParaRPr dirty="0"/>
          </a:p>
          <a:p>
            <a:r>
              <a:rPr dirty="0"/>
              <a:t>Bench, harness and every result file are in the talk repository</a:t>
            </a:r>
          </a:p>
          <a:p>
            <a:r>
              <a:rPr dirty="0"/>
              <a:t>Brand assets and palette: https://</a:t>
            </a:r>
            <a:r>
              <a:rPr dirty="0" err="1"/>
              <a:t>readyset.io</a:t>
            </a:r>
            <a:r>
              <a:rPr dirty="0"/>
              <a:t>/ ; glyphs: https://</a:t>
            </a:r>
            <a:r>
              <a:rPr dirty="0" err="1"/>
              <a:t>readyset.io</a:t>
            </a:r>
            <a:r>
              <a:rPr dirty="0"/>
              <a:t>/icons/sprite-</a:t>
            </a:r>
            <a:r>
              <a:rPr dirty="0" err="1"/>
              <a:t>bulk.svg</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00"/>
        <p:cNvGrpSpPr/>
        <p:nvPr/>
      </p:nvGrpSpPr>
      <p:grpSpPr>
        <a:xfrm>
          <a:off x="0" y="0"/>
          <a:ext cx="0" cy="0"/>
          <a:chOff x="0" y="0"/>
          <a:chExt cx="0" cy="0"/>
        </a:xfrm>
      </p:grpSpPr>
      <p:sp>
        <p:nvSpPr>
          <p:cNvPr id="101" name="Google Shape;101;p26"/>
          <p:cNvSpPr txBox="1">
            <a:spLocks noGrp="1"/>
          </p:cNvSpPr>
          <p:nvPr>
            <p:ph type="ctrTitle"/>
          </p:nvPr>
        </p:nvSpPr>
        <p:spPr>
          <a:xfrm>
            <a:off x="708625" y="341525"/>
            <a:ext cx="7726800" cy="619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000"/>
              <a:buNone/>
              <a:defRPr/>
            </a:lvl1pPr>
            <a:lvl2pPr lvl="1" algn="r">
              <a:lnSpc>
                <a:spcPct val="100000"/>
              </a:lnSpc>
              <a:spcBef>
                <a:spcPts val="0"/>
              </a:spcBef>
              <a:spcAft>
                <a:spcPts val="0"/>
              </a:spcAft>
              <a:buSzPts val="1800"/>
              <a:buNone/>
              <a:defRPr sz="1800"/>
            </a:lvl2pPr>
            <a:lvl3pPr lvl="2" algn="r">
              <a:lnSpc>
                <a:spcPct val="100000"/>
              </a:lnSpc>
              <a:spcBef>
                <a:spcPts val="0"/>
              </a:spcBef>
              <a:spcAft>
                <a:spcPts val="0"/>
              </a:spcAft>
              <a:buSzPts val="1800"/>
              <a:buNone/>
              <a:defRPr sz="1800"/>
            </a:lvl3pPr>
            <a:lvl4pPr lvl="3" algn="r">
              <a:lnSpc>
                <a:spcPct val="100000"/>
              </a:lnSpc>
              <a:spcBef>
                <a:spcPts val="0"/>
              </a:spcBef>
              <a:spcAft>
                <a:spcPts val="0"/>
              </a:spcAft>
              <a:buSzPts val="1800"/>
              <a:buNone/>
              <a:defRPr sz="1800"/>
            </a:lvl4pPr>
            <a:lvl5pPr lvl="4" algn="r">
              <a:lnSpc>
                <a:spcPct val="100000"/>
              </a:lnSpc>
              <a:spcBef>
                <a:spcPts val="0"/>
              </a:spcBef>
              <a:spcAft>
                <a:spcPts val="0"/>
              </a:spcAft>
              <a:buSzPts val="1800"/>
              <a:buNone/>
              <a:defRPr sz="1800"/>
            </a:lvl5pPr>
            <a:lvl6pPr lvl="5" algn="r">
              <a:lnSpc>
                <a:spcPct val="100000"/>
              </a:lnSpc>
              <a:spcBef>
                <a:spcPts val="0"/>
              </a:spcBef>
              <a:spcAft>
                <a:spcPts val="0"/>
              </a:spcAft>
              <a:buSzPts val="1800"/>
              <a:buNone/>
              <a:defRPr sz="1800"/>
            </a:lvl6pPr>
            <a:lvl7pPr lvl="6" algn="r">
              <a:lnSpc>
                <a:spcPct val="100000"/>
              </a:lnSpc>
              <a:spcBef>
                <a:spcPts val="0"/>
              </a:spcBef>
              <a:spcAft>
                <a:spcPts val="0"/>
              </a:spcAft>
              <a:buSzPts val="1800"/>
              <a:buNone/>
              <a:defRPr sz="1800"/>
            </a:lvl7pPr>
            <a:lvl8pPr lvl="7" algn="r">
              <a:lnSpc>
                <a:spcPct val="100000"/>
              </a:lnSpc>
              <a:spcBef>
                <a:spcPts val="0"/>
              </a:spcBef>
              <a:spcAft>
                <a:spcPts val="0"/>
              </a:spcAft>
              <a:buSzPts val="1800"/>
              <a:buNone/>
              <a:defRPr sz="1800"/>
            </a:lvl8pPr>
            <a:lvl9pPr lvl="8" algn="r">
              <a:lnSpc>
                <a:spcPct val="100000"/>
              </a:lnSpc>
              <a:spcBef>
                <a:spcPts val="0"/>
              </a:spcBef>
              <a:spcAft>
                <a:spcPts val="0"/>
              </a:spcAft>
              <a:buSzPts val="1800"/>
              <a:buNone/>
              <a:defRPr sz="1800"/>
            </a:lvl9pPr>
          </a:lstStyle>
          <a:p>
            <a:endParaRPr/>
          </a:p>
        </p:txBody>
      </p:sp>
      <p:sp>
        <p:nvSpPr>
          <p:cNvPr id="102" name="Google Shape;102;p26"/>
          <p:cNvSpPr txBox="1">
            <a:spLocks noGrp="1"/>
          </p:cNvSpPr>
          <p:nvPr>
            <p:ph type="sldNum" idx="12"/>
          </p:nvPr>
        </p:nvSpPr>
        <p:spPr>
          <a:xfrm>
            <a:off x="8556784" y="4708326"/>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Space Grotesk"/>
                <a:cs typeface="Space Grotesk"/>
                <a:sym typeface="Space Grotesk"/>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Space Grotesk"/>
                <a:cs typeface="Space Grotesk"/>
                <a:sym typeface="Space Grotesk"/>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Space Grotesk"/>
                <a:cs typeface="Space Grotesk"/>
                <a:sym typeface="Space Grotesk"/>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Space Grotesk"/>
                <a:cs typeface="Space Grotesk"/>
                <a:sym typeface="Space Grotesk"/>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Space Grotesk"/>
                <a:cs typeface="Space Grotesk"/>
                <a:sym typeface="Space Grotesk"/>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Space Grotesk"/>
                <a:cs typeface="Space Grotesk"/>
                <a:sym typeface="Space Grotesk"/>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Space Grotesk"/>
                <a:cs typeface="Space Grotesk"/>
                <a:sym typeface="Space Grotesk"/>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Space Grotesk"/>
                <a:cs typeface="Space Grotesk"/>
                <a:sym typeface="Space Grotesk"/>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Space Grotesk"/>
                <a:cs typeface="Space Grotesk"/>
                <a:sym typeface="Space Grotesk"/>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849890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extLst>
      <p:ext uri="{BB962C8B-B14F-4D97-AF65-F5344CB8AC3E}">
        <p14:creationId xmlns:p14="http://schemas.microsoft.com/office/powerpoint/2010/main" val="3407704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829331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a:lnSpc>
          <a:spcPct val="90000"/>
        </a:lnSpc>
        <a:spcBef>
          <a:spcPts val="0"/>
        </a:spcBef>
        <a:buNone/>
        <a:defRPr sz="4400">
          <a:solidFill>
            <a:schemeClr val="tx1"/>
          </a:solidFill>
          <a:latin typeface="Arial"/>
          <a:ea typeface="+mj-lt"/>
          <a:cs typeface="+mj-lt"/>
        </a:defRPr>
      </a:lvl1pPr>
    </p:titleStyle>
    <p:bodyStyle>
      <a:lvl1pPr marL="228600" indent="-228600" algn="l">
        <a:lnSpc>
          <a:spcPct val="90000"/>
        </a:lnSpc>
        <a:spcBef>
          <a:spcPts val="1000"/>
        </a:spcBef>
        <a:buChar char="•"/>
        <a:defRPr sz="2800">
          <a:solidFill>
            <a:schemeClr val="tx1"/>
          </a:solidFill>
          <a:latin typeface="Arial"/>
          <a:ea typeface="+mn-lt"/>
          <a:cs typeface="+mn-lt"/>
        </a:defRPr>
      </a:lvl1pPr>
      <a:lvl2pPr marL="685800" indent="-228600" algn="l">
        <a:lnSpc>
          <a:spcPct val="90000"/>
        </a:lnSpc>
        <a:spcBef>
          <a:spcPts val="500"/>
        </a:spcBef>
        <a:buChar char="•"/>
        <a:defRPr sz="2400">
          <a:solidFill>
            <a:schemeClr val="tx1"/>
          </a:solidFill>
          <a:latin typeface="Arial"/>
          <a:ea typeface="+mn-lt"/>
          <a:cs typeface="+mn-lt"/>
        </a:defRPr>
      </a:lvl2pPr>
      <a:lvl3pPr marL="1143000" indent="-228600" algn="l">
        <a:lnSpc>
          <a:spcPct val="90000"/>
        </a:lnSpc>
        <a:spcBef>
          <a:spcPts val="500"/>
        </a:spcBef>
        <a:buChar char="•"/>
        <a:defRPr sz="2000">
          <a:solidFill>
            <a:schemeClr val="tx1"/>
          </a:solidFill>
          <a:latin typeface="Arial"/>
          <a:ea typeface="+mn-lt"/>
          <a:cs typeface="+mn-lt"/>
        </a:defRPr>
      </a:lvl3pPr>
      <a:lvl4pPr marL="1600200" indent="-228600" algn="l">
        <a:lnSpc>
          <a:spcPct val="90000"/>
        </a:lnSpc>
        <a:spcBef>
          <a:spcPts val="500"/>
        </a:spcBef>
        <a:buChar char="•"/>
        <a:defRPr sz="1800">
          <a:solidFill>
            <a:schemeClr val="tx1"/>
          </a:solidFill>
          <a:latin typeface="Arial"/>
          <a:ea typeface="+mn-lt"/>
          <a:cs typeface="+mn-lt"/>
        </a:defRPr>
      </a:lvl4pPr>
      <a:lvl5pPr marL="2057400" indent="-228600" algn="l">
        <a:lnSpc>
          <a:spcPct val="90000"/>
        </a:lnSpc>
        <a:spcBef>
          <a:spcPts val="500"/>
        </a:spcBef>
        <a:buChar char="•"/>
        <a:defRPr sz="1800">
          <a:solidFill>
            <a:schemeClr val="tx1"/>
          </a:solidFill>
          <a:latin typeface="Arial"/>
          <a:ea typeface="+mn-lt"/>
          <a:cs typeface="+mn-lt"/>
        </a:defRPr>
      </a:lvl5pPr>
      <a:lvl6pPr marL="2514600" indent="-228600" algn="l">
        <a:lnSpc>
          <a:spcPct val="90000"/>
        </a:lnSpc>
        <a:spcBef>
          <a:spcPts val="500"/>
        </a:spcBef>
        <a:buChar char="•"/>
        <a:defRPr sz="1800">
          <a:solidFill>
            <a:schemeClr val="tx1"/>
          </a:solidFill>
          <a:latin typeface="Arial"/>
          <a:ea typeface="+mn-lt"/>
          <a:cs typeface="+mn-lt"/>
        </a:defRPr>
      </a:lvl6pPr>
      <a:lvl7pPr marL="2971800" indent="-228600" algn="l">
        <a:lnSpc>
          <a:spcPct val="90000"/>
        </a:lnSpc>
        <a:spcBef>
          <a:spcPts val="500"/>
        </a:spcBef>
        <a:buChar char="•"/>
        <a:defRPr sz="1800">
          <a:solidFill>
            <a:schemeClr val="tx1"/>
          </a:solidFill>
          <a:latin typeface="Arial"/>
          <a:ea typeface="+mn-lt"/>
          <a:cs typeface="+mn-lt"/>
        </a:defRPr>
      </a:lvl7pPr>
      <a:lvl8pPr marL="3429000" indent="-228600" algn="l">
        <a:lnSpc>
          <a:spcPct val="90000"/>
        </a:lnSpc>
        <a:spcBef>
          <a:spcPts val="500"/>
        </a:spcBef>
        <a:buChar char="•"/>
        <a:defRPr sz="1800">
          <a:solidFill>
            <a:schemeClr val="tx1"/>
          </a:solidFill>
          <a:latin typeface="Arial"/>
          <a:ea typeface="+mn-lt"/>
          <a:cs typeface="+mn-lt"/>
        </a:defRPr>
      </a:lvl8pPr>
      <a:lvl9pPr marL="3886200" indent="-228600" algn="l">
        <a:lnSpc>
          <a:spcPct val="90000"/>
        </a:lnSpc>
        <a:spcBef>
          <a:spcPts val="500"/>
        </a:spcBef>
        <a:buChar char="•"/>
        <a:defRPr sz="1800">
          <a:solidFill>
            <a:schemeClr val="tx1"/>
          </a:solidFill>
          <a:latin typeface="Arial"/>
          <a:ea typeface="+mn-lt"/>
          <a:cs typeface="+mn-lt"/>
        </a:defRPr>
      </a:lvl9pPr>
    </p:bodyStyle>
    <p:otherStyle>
      <a:lvl1pPr marL="0" algn="l">
        <a:buNone/>
        <a:defRPr sz="1800">
          <a:solidFill>
            <a:schemeClr val="tx1"/>
          </a:solidFill>
          <a:latin typeface="Arial"/>
          <a:ea typeface="+mn-lt"/>
          <a:cs typeface="+mn-lt"/>
        </a:defRPr>
      </a:lvl1pPr>
      <a:lvl2pPr marL="457200" algn="l">
        <a:buNone/>
        <a:defRPr sz="1800">
          <a:solidFill>
            <a:schemeClr val="tx1"/>
          </a:solidFill>
          <a:latin typeface="Arial"/>
          <a:ea typeface="+mn-lt"/>
          <a:cs typeface="+mn-lt"/>
        </a:defRPr>
      </a:lvl2pPr>
      <a:lvl3pPr marL="914400" algn="l">
        <a:buNone/>
        <a:defRPr sz="1800">
          <a:solidFill>
            <a:schemeClr val="tx1"/>
          </a:solidFill>
          <a:latin typeface="Arial"/>
          <a:ea typeface="+mn-lt"/>
          <a:cs typeface="+mn-lt"/>
        </a:defRPr>
      </a:lvl3pPr>
      <a:lvl4pPr marL="1371600" algn="l">
        <a:buNone/>
        <a:defRPr sz="1800">
          <a:solidFill>
            <a:schemeClr val="tx1"/>
          </a:solidFill>
          <a:latin typeface="Arial"/>
          <a:ea typeface="+mn-lt"/>
          <a:cs typeface="+mn-lt"/>
        </a:defRPr>
      </a:lvl4pPr>
      <a:lvl5pPr marL="1828800" algn="l">
        <a:buNone/>
        <a:defRPr sz="1800">
          <a:solidFill>
            <a:schemeClr val="tx1"/>
          </a:solidFill>
          <a:latin typeface="Arial"/>
          <a:ea typeface="+mn-lt"/>
          <a:cs typeface="+mn-lt"/>
        </a:defRPr>
      </a:lvl5pPr>
      <a:lvl6pPr marL="2286000" algn="l">
        <a:buNone/>
        <a:defRPr sz="1800">
          <a:solidFill>
            <a:schemeClr val="tx1"/>
          </a:solidFill>
          <a:latin typeface="Arial"/>
          <a:ea typeface="+mn-lt"/>
          <a:cs typeface="+mn-lt"/>
        </a:defRPr>
      </a:lvl6pPr>
      <a:lvl7pPr marL="2743200" algn="l">
        <a:buNone/>
        <a:defRPr sz="1800">
          <a:solidFill>
            <a:schemeClr val="tx1"/>
          </a:solidFill>
          <a:latin typeface="Arial"/>
          <a:ea typeface="+mn-lt"/>
          <a:cs typeface="+mn-lt"/>
        </a:defRPr>
      </a:lvl7pPr>
      <a:lvl8pPr marL="3200400" algn="l">
        <a:buNone/>
        <a:defRPr sz="1800">
          <a:solidFill>
            <a:schemeClr val="tx1"/>
          </a:solidFill>
          <a:latin typeface="Arial"/>
          <a:ea typeface="+mn-lt"/>
          <a:cs typeface="+mn-lt"/>
        </a:defRPr>
      </a:lvl8pPr>
      <a:lvl9pPr marL="3657600" algn="l">
        <a:buNone/>
        <a:defRPr sz="1800">
          <a:solidFill>
            <a:schemeClr val="tx1"/>
          </a:solidFill>
          <a:latin typeface="Arial"/>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7.mp4"/><Relationship Id="rId1" Type="http://schemas.microsoft.com/office/2007/relationships/media" Target="../media/media7.mp4"/><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8.mp4"/><Relationship Id="rId1" Type="http://schemas.microsoft.com/office/2007/relationships/media" Target="../media/media8.mp4"/><Relationship Id="rId6" Type="http://schemas.openxmlformats.org/officeDocument/2006/relationships/image" Target="../media/image17.png"/><Relationship Id="rId5" Type="http://schemas.openxmlformats.org/officeDocument/2006/relationships/image" Target="../media/image5.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9.mp4"/><Relationship Id="rId1" Type="http://schemas.microsoft.com/office/2007/relationships/media" Target="../media/media9.mp4"/><Relationship Id="rId6" Type="http://schemas.openxmlformats.org/officeDocument/2006/relationships/image" Target="../media/image19.png"/><Relationship Id="rId5" Type="http://schemas.openxmlformats.org/officeDocument/2006/relationships/image" Target="../media/image5.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0.mp4"/><Relationship Id="rId1" Type="http://schemas.microsoft.com/office/2007/relationships/media" Target="../media/media10.mp4"/><Relationship Id="rId6" Type="http://schemas.openxmlformats.org/officeDocument/2006/relationships/image" Target="../media/image24.png"/><Relationship Id="rId5" Type="http://schemas.openxmlformats.org/officeDocument/2006/relationships/image" Target="../media/image5.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4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p:cNvGrpSpPr/>
        <p:nvPr/>
      </p:nvGrpSpPr>
      <p:grpSpPr>
        <a:xfrm>
          <a:off x="0" y="0"/>
          <a:ext cx="0" cy="0"/>
          <a:chOff x="0" y="0"/>
          <a:chExt cx="0" cy="0"/>
        </a:xfrm>
      </p:grpSpPr>
      <p:sp>
        <p:nvSpPr>
          <p:cNvPr id="3" name="Slide title">
            <a:extLst>
              <a:ext uri="{FF2B5EF4-FFF2-40B4-BE49-F238E27FC236}">
                <a16:creationId xmlns:a16="http://schemas.microsoft.com/office/drawing/2014/main" id="{3D3C29E2-C77A-4A5E-87B7-C977A4179D9F}"/>
              </a:ext>
            </a:extLst>
          </p:cNvPr>
          <p:cNvSpPr>
            <a:spLocks noGrp="1"/>
          </p:cNvSpPr>
          <p:nvPr/>
        </p:nvSpPr>
        <p:spPr>
          <a:xfrm>
            <a:off x="457200" y="1543050"/>
            <a:ext cx="8191500" cy="1000125"/>
          </a:xfrm>
          <a:prstGeom prst="rect">
            <a:avLst/>
          </a:prstGeom>
          <a:noFill/>
          <a:ln w="0">
            <a:noFill/>
          </a:ln>
        </p:spPr>
        <p:txBody>
          <a:bodyPr wrap="none" lIns="0" tIns="0" rIns="0" bIns="0">
            <a:noAutofit/>
          </a:bodyPr>
          <a:lstStyle/>
          <a:p>
            <a:pPr>
              <a:lnSpc>
                <a:spcPct val="110000"/>
              </a:lnSpc>
              <a:buNone/>
              <a:defRPr sz="6000" b="1">
                <a:solidFill>
                  <a:srgbClr val="EDEDEC"/>
                </a:solidFill>
                <a:latin typeface="Arial"/>
                <a:ea typeface="Arial"/>
                <a:cs typeface="Arial"/>
              </a:defRPr>
            </a:pPr>
            <a:r>
              <a:rPr lang="en-US" sz="3600" b="1" dirty="0">
                <a:solidFill>
                  <a:srgbClr val="EDEDEC"/>
                </a:solidFill>
                <a:latin typeface="Arial"/>
                <a:ea typeface="Arial"/>
                <a:cs typeface="Arial"/>
              </a:rPr>
              <a:t>Too Much ACID, Not Enough Reality</a:t>
            </a:r>
            <a:endParaRPr sz="3600" b="1" dirty="0">
              <a:solidFill>
                <a:srgbClr val="EDEDEC"/>
              </a:solidFill>
              <a:latin typeface="Arial"/>
              <a:ea typeface="Arial"/>
              <a:cs typeface="Arial"/>
            </a:endParaRPr>
          </a:p>
        </p:txBody>
      </p:sp>
      <p:sp>
        <p:nvSpPr>
          <p:cNvPr id="4" name="text-1">
            <a:extLst>
              <a:ext uri="{FF2B5EF4-FFF2-40B4-BE49-F238E27FC236}">
                <a16:creationId xmlns:a16="http://schemas.microsoft.com/office/drawing/2014/main" id="{A16CB5C1-0DF5-4DBC-888D-6C8B7CFED0D7}"/>
              </a:ext>
            </a:extLst>
          </p:cNvPr>
          <p:cNvSpPr>
            <a:spLocks noGrp="1"/>
          </p:cNvSpPr>
          <p:nvPr/>
        </p:nvSpPr>
        <p:spPr>
          <a:xfrm>
            <a:off x="495300" y="2714625"/>
            <a:ext cx="7620000" cy="352901"/>
          </a:xfrm>
          <a:prstGeom prst="rect">
            <a:avLst/>
          </a:prstGeom>
          <a:noFill/>
          <a:ln w="0">
            <a:noFill/>
          </a:ln>
        </p:spPr>
        <p:txBody>
          <a:bodyPr wrap="square" lIns="0" tIns="0" rIns="0" bIns="0">
            <a:noAutofit/>
          </a:bodyPr>
          <a:lstStyle>
            <a:defPPr>
              <a:defRPr sz="2100"/>
            </a:defPPr>
          </a:lstStyle>
          <a:p>
            <a:pPr algn="ctr">
              <a:buNone/>
              <a:defRPr sz="2100"/>
            </a:pPr>
            <a:r>
              <a:rPr sz="2100">
                <a:solidFill>
                  <a:srgbClr val="888888"/>
                </a:solidFill>
                <a:latin typeface="Arial"/>
                <a:ea typeface="Arial"/>
                <a:cs typeface="Arial"/>
              </a:rPr>
              <a:t>A PostgreSQL tour of what your SELECT thinks happened</a:t>
            </a:r>
            <a:endParaRPr sz="2400" b="0"/>
          </a:p>
        </p:txBody>
      </p:sp>
      <p:sp>
        <p:nvSpPr>
          <p:cNvPr id="7" name="TextBox 6">
            <a:extLst>
              <a:ext uri="{FF2B5EF4-FFF2-40B4-BE49-F238E27FC236}">
                <a16:creationId xmlns:a16="http://schemas.microsoft.com/office/drawing/2014/main" id="{68C73911-956F-5CE3-9F4D-CD99E265566B}"/>
              </a:ext>
            </a:extLst>
          </p:cNvPr>
          <p:cNvSpPr txBox="1"/>
          <p:nvPr/>
        </p:nvSpPr>
        <p:spPr>
          <a:xfrm>
            <a:off x="2286000" y="4400437"/>
            <a:ext cx="4572000" cy="307777"/>
          </a:xfrm>
          <a:prstGeom prst="rect">
            <a:avLst/>
          </a:prstGeom>
          <a:noFill/>
        </p:spPr>
        <p:txBody>
          <a:bodyPr wrap="square">
            <a:spAutoFit/>
          </a:bodyPr>
          <a:lstStyle/>
          <a:p>
            <a:pPr algn="ctr" rtl="0">
              <a:buNone/>
            </a:pPr>
            <a:r>
              <a:rPr lang="en-BR" sz="1400" b="0" i="0" u="none" strike="noStrike" dirty="0">
                <a:solidFill>
                  <a:srgbClr val="CCCCCC"/>
                </a:solidFill>
                <a:effectLst/>
                <a:latin typeface="Arial" panose="020F0502020204030203" pitchFamily="34" charset="0"/>
              </a:rPr>
              <a:t>Lead Database Engineer</a:t>
            </a:r>
            <a:endParaRPr lang="en-BR" b="0" dirty="0">
              <a:effectLst/>
            </a:endParaRPr>
          </a:p>
        </p:txBody>
      </p:sp>
      <p:pic>
        <p:nvPicPr>
          <p:cNvPr id="8" name="Picture 7" descr="image.png">
            <a:extLst>
              <a:ext uri="{FF2B5EF4-FFF2-40B4-BE49-F238E27FC236}">
                <a16:creationId xmlns:a16="http://schemas.microsoft.com/office/drawing/2014/main" id="{2B6F992F-18DB-65B2-18D3-DAD1E0BB38AA}"/>
              </a:ext>
            </a:extLst>
          </p:cNvPr>
          <p:cNvPicPr>
            <a:picLocks noChangeAspect="1"/>
          </p:cNvPicPr>
          <p:nvPr/>
        </p:nvPicPr>
        <p:blipFill>
          <a:blip r:embed="rId3"/>
          <a:stretch>
            <a:fillRect/>
          </a:stretch>
        </p:blipFill>
        <p:spPr>
          <a:xfrm>
            <a:off x="3113432" y="3954834"/>
            <a:ext cx="2917135" cy="583427"/>
          </a:xfrm>
          <a:prstGeom prst="rect">
            <a:avLst/>
          </a:prstGeom>
        </p:spPr>
      </p:pic>
      <p:sp>
        <p:nvSpPr>
          <p:cNvPr id="9" name="TextBox 8">
            <a:extLst>
              <a:ext uri="{FF2B5EF4-FFF2-40B4-BE49-F238E27FC236}">
                <a16:creationId xmlns:a16="http://schemas.microsoft.com/office/drawing/2014/main" id="{752ADCAD-E75B-34BA-C4A3-F53DD31E8469}"/>
              </a:ext>
            </a:extLst>
          </p:cNvPr>
          <p:cNvSpPr txBox="1"/>
          <p:nvPr/>
        </p:nvSpPr>
        <p:spPr>
          <a:xfrm>
            <a:off x="2286000" y="4092660"/>
            <a:ext cx="4572000" cy="307777"/>
          </a:xfrm>
          <a:prstGeom prst="rect">
            <a:avLst/>
          </a:prstGeom>
          <a:noFill/>
        </p:spPr>
        <p:txBody>
          <a:bodyPr wrap="square">
            <a:spAutoFit/>
          </a:bodyPr>
          <a:lstStyle/>
          <a:p>
            <a:pPr algn="ctr" rtl="0">
              <a:buNone/>
            </a:pPr>
            <a:r>
              <a:rPr lang="en-BR" sz="1400" b="1" i="0" u="none" strike="noStrike" dirty="0">
                <a:solidFill>
                  <a:srgbClr val="FFFFFF"/>
                </a:solidFill>
                <a:effectLst/>
                <a:latin typeface="Arial" panose="020F0502020204030203" pitchFamily="34" charset="0"/>
              </a:rPr>
              <a:t>Vinicius Grippa</a:t>
            </a:r>
            <a:endParaRPr lang="pt-BR" dirty="0"/>
          </a:p>
        </p:txBody>
      </p:sp>
      <p:pic>
        <p:nvPicPr>
          <p:cNvPr id="10" name="Google Shape;293;p54">
            <a:extLst>
              <a:ext uri="{FF2B5EF4-FFF2-40B4-BE49-F238E27FC236}">
                <a16:creationId xmlns:a16="http://schemas.microsoft.com/office/drawing/2014/main" id="{031B5D13-B6D6-E799-F355-467735CFA60D}"/>
              </a:ext>
            </a:extLst>
          </p:cNvPr>
          <p:cNvPicPr preferRelativeResize="0"/>
          <p:nvPr/>
        </p:nvPicPr>
        <p:blipFill rotWithShape="1">
          <a:blip r:embed="rId4">
            <a:alphaModFix/>
          </a:blip>
          <a:srcRect/>
          <a:stretch/>
        </p:blipFill>
        <p:spPr>
          <a:xfrm>
            <a:off x="3241136" y="605239"/>
            <a:ext cx="2661725" cy="509907"/>
          </a:xfrm>
          <a:prstGeom prst="rect">
            <a:avLst/>
          </a:prstGeom>
          <a:noFill/>
          <a:ln>
            <a:noFill/>
          </a:ln>
        </p:spPr>
      </p:pic>
      <p:sp>
        <p:nvSpPr>
          <p:cNvPr id="9501"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01</a:t>
            </a:r>
          </a:p>
        </p:txBody>
      </p:sp>
    </p:spTree>
    <p:extLst>
      <p:ext uri="{BB962C8B-B14F-4D97-AF65-F5344CB8AC3E}">
        <p14:creationId xmlns:p14="http://schemas.microsoft.com/office/powerpoint/2010/main" val="950542172"/>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a16="http://schemas.microsoft.com/office/drawing/2014/main"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299"/>
        <p:cNvGrpSpPr/>
        <p:nvPr/>
      </p:nvGrpSpPr>
      <p:grpSpPr>
        <a:xfrm>
          <a:off x="0" y="0"/>
          <a:ext cx="0" cy="0"/>
          <a:chOff x="0" y="0"/>
          <a:chExt cx="0" cy="0"/>
        </a:xfrm>
      </p:grpSpPr>
      <p:sp>
        <p:nvSpPr>
          <p:cNvPr id="300" name="Google Shape;300;p55"/>
          <p:cNvSpPr txBox="1">
            <a:spLocks noGrp="1"/>
          </p:cNvSpPr>
          <p:nvPr>
            <p:ph type="ctrTitle"/>
          </p:nvPr>
        </p:nvSpPr>
        <p:spPr>
          <a:xfrm>
            <a:off x="457200" y="790575"/>
            <a:ext cx="8229600" cy="457200"/>
          </a:xfrm>
          <a:prstGeom prst="rect">
            <a:avLst/>
          </a:prstGeom>
          <a:noFill/>
          <a:ln>
            <a:noFill/>
          </a:ln>
        </p:spPr>
        <p:txBody>
          <a:bodyPr spcFirstLastPara="1" wrap="square" lIns="0" tIns="0" rIns="0" bIns="0" anchor="t" anchorCtr="0">
            <a:noAutofit/>
          </a:bodyPr>
          <a:lstStyle/>
          <a:p>
            <a:pPr marL="0" lvl="0" indent="0" algn="l" rtl="0">
              <a:buSzPts val="2000"/>
              <a:buNone/>
            </a:pPr>
            <a:r>
              <a:rPr lang="en" sz="2700" b="1">
                <a:solidFill>
                  <a:srgbClr val="171717"/>
                </a:solidFill>
                <a:latin typeface="Arial"/>
                <a:ea typeface="Arial"/>
                <a:cs typeface="Arial"/>
                <a:sym typeface="Arial"/>
              </a:rPr>
              <a:t>About Me</a:t>
            </a:r>
            <a:endParaRPr sz="2700" b="1">
              <a:solidFill>
                <a:srgbClr val="171717"/>
              </a:solidFill>
              <a:latin typeface="Arial"/>
              <a:ea typeface="Arial"/>
              <a:cs typeface="Arial"/>
              <a:sym typeface="Arial"/>
            </a:endParaRPr>
          </a:p>
        </p:txBody>
      </p:sp>
      <p:pic>
        <p:nvPicPr>
          <p:cNvPr id="302" name="Google Shape;302;p55"/>
          <p:cNvPicPr preferRelativeResize="0"/>
          <p:nvPr/>
        </p:nvPicPr>
        <p:blipFill rotWithShape="1">
          <a:blip r:embed="rId3">
            <a:alphaModFix/>
          </a:blip>
          <a:srcRect t="12500" b="12500"/>
          <a:stretch/>
        </p:blipFill>
        <p:spPr>
          <a:xfrm>
            <a:off x="742950" y="1704975"/>
            <a:ext cx="2286000" cy="2286000"/>
          </a:xfrm>
          <a:prstGeom prst="ellipse">
            <a:avLst/>
          </a:prstGeom>
          <a:noFill/>
          <a:ln>
            <a:noFill/>
          </a:ln>
        </p:spPr>
      </p:pic>
      <p:sp>
        <p:nvSpPr>
          <p:cNvPr id="303" name="Google Shape;303;p55"/>
          <p:cNvSpPr txBox="1"/>
          <p:nvPr/>
        </p:nvSpPr>
        <p:spPr>
          <a:xfrm>
            <a:off x="3429000" y="1381125"/>
            <a:ext cx="5257800" cy="533400"/>
          </a:xfrm>
          <a:prstGeom prst="rect">
            <a:avLst/>
          </a:prstGeom>
          <a:noFill/>
          <a:ln>
            <a:noFill/>
          </a:ln>
        </p:spPr>
        <p:txBody>
          <a:bodyPr spcFirstLastPara="1" wrap="square" lIns="0" tIns="0" rIns="0" bIns="0" anchor="t">
            <a:noAutofit/>
          </a:bodyPr>
          <a:lstStyle/>
          <a:p>
            <a:pPr marL="0" marR="0" lvl="0" indent="0" algn="l">
              <a:buClr>
                <a:schemeClr val="dk1"/>
              </a:buClr>
              <a:buSzPts val="2000"/>
              <a:buFont typeface="Inter"/>
              <a:buNone/>
            </a:pPr>
            <a:r>
              <a:rPr sz="1600" b="1" i="0" u="none" strike="noStrike" cap="none">
                <a:solidFill>
                  <a:srgbClr val="171717"/>
                </a:solidFill>
                <a:latin typeface="Arial"/>
                <a:ea typeface="Arial"/>
                <a:cs typeface="Arial"/>
              </a:rPr>
              <a:t>SELECT * FROM person WHERE name LIKE 'Vini';</a:t>
            </a:r>
            <a:endParaRPr sz="1600" b="1">
              <a:solidFill>
                <a:srgbClr val="171717"/>
              </a:solidFill>
            </a:endParaRPr>
          </a:p>
        </p:txBody>
      </p:sp>
      <p:sp>
        <p:nvSpPr>
          <p:cNvPr id="9100" name="Google Shape;304;p55"/>
          <p:cNvSpPr txBox="1"/>
          <p:nvPr/>
        </p:nvSpPr>
        <p:spPr>
          <a:xfrm>
            <a:off x="3429000" y="2028825"/>
            <a:ext cx="5257800" cy="247650"/>
          </a:xfrm>
          <a:prstGeom prst="rect">
            <a:avLst/>
          </a:prstGeom>
          <a:noFill/>
          <a:ln>
            <a:noFill/>
          </a:ln>
        </p:spPr>
        <p:txBody>
          <a:bodyPr spcFirstLastPara="1" wrap="square" lIns="0" tIns="0" rIns="0" bIns="0" anchor="t" anchorCtr="0">
            <a:noAutofit/>
          </a:bodyPr>
          <a:lstStyle/>
          <a:p>
            <a:pPr marL="152400" marR="0" lvl="0" indent="-152400" algn="l" rtl="0">
              <a:buClr>
                <a:srgbClr val="000000"/>
              </a:buClr>
              <a:buSzPts val="1400"/>
              <a:buFont typeface="Arial"/>
              <a:buChar char="•"/>
            </a:pPr>
            <a:r>
              <a:rPr lang="en" sz="1400" b="0" i="0" u="none" strike="noStrike" cap="none" dirty="0">
                <a:solidFill>
                  <a:srgbClr val="171717"/>
                </a:solidFill>
                <a:latin typeface="Arial"/>
                <a:ea typeface="Arial"/>
                <a:cs typeface="Arial"/>
                <a:sym typeface="Arial"/>
              </a:rPr>
              <a:t>Lead Database Engineer at </a:t>
            </a:r>
            <a:r>
              <a:rPr lang="en" sz="1400" b="1" i="0" u="none" strike="noStrike" cap="none" dirty="0">
                <a:solidFill>
                  <a:srgbClr val="171717"/>
                </a:solidFill>
                <a:latin typeface="Arial"/>
                <a:ea typeface="Arial"/>
                <a:cs typeface="Arial"/>
                <a:sym typeface="Arial"/>
              </a:rPr>
              <a:t>Readyset</a:t>
            </a:r>
            <a:endParaRPr sz="1400" dirty="0">
              <a:solidFill>
                <a:srgbClr val="171717"/>
              </a:solidFill>
            </a:endParaRPr>
          </a:p>
        </p:txBody>
      </p:sp>
      <p:sp>
        <p:nvSpPr>
          <p:cNvPr id="9101" name="Google Shape;304;p55"/>
          <p:cNvSpPr txBox="1"/>
          <p:nvPr/>
        </p:nvSpPr>
        <p:spPr>
          <a:xfrm>
            <a:off x="3429000" y="2276475"/>
            <a:ext cx="5257800" cy="247650"/>
          </a:xfrm>
          <a:prstGeom prst="rect">
            <a:avLst/>
          </a:prstGeom>
          <a:noFill/>
          <a:ln>
            <a:noFill/>
          </a:ln>
        </p:spPr>
        <p:txBody>
          <a:bodyPr spcFirstLastPara="1" wrap="square" lIns="0" tIns="0" rIns="0" bIns="0" anchor="t">
            <a:noAutofit/>
          </a:bodyPr>
          <a:lstStyle/>
          <a:p>
            <a:pPr marL="152400" marR="0" lvl="0" indent="-152400" algn="l">
              <a:buClr>
                <a:srgbClr val="000000"/>
              </a:buClr>
              <a:buSzPts val="1400"/>
              <a:buFont typeface="Arial"/>
              <a:buChar char="•"/>
            </a:pPr>
            <a:r>
              <a:rPr sz="1400" b="0" i="0" u="none" strike="noStrike" cap="none">
                <a:solidFill>
                  <a:srgbClr val="171717"/>
                </a:solidFill>
                <a:latin typeface="Arial"/>
                <a:ea typeface="Arial"/>
                <a:cs typeface="Arial"/>
              </a:rPr>
              <a:t>Previously at Percona, working across database technologies</a:t>
            </a:r>
            <a:endParaRPr sz="1400">
              <a:solidFill>
                <a:srgbClr val="171717"/>
              </a:solidFill>
            </a:endParaRPr>
          </a:p>
        </p:txBody>
      </p:sp>
      <p:sp>
        <p:nvSpPr>
          <p:cNvPr id="9102" name="Google Shape;304;p55"/>
          <p:cNvSpPr txBox="1"/>
          <p:nvPr/>
        </p:nvSpPr>
        <p:spPr>
          <a:xfrm>
            <a:off x="3429000" y="2524125"/>
            <a:ext cx="5257800" cy="247650"/>
          </a:xfrm>
          <a:prstGeom prst="rect">
            <a:avLst/>
          </a:prstGeom>
          <a:noFill/>
          <a:ln>
            <a:noFill/>
          </a:ln>
        </p:spPr>
        <p:txBody>
          <a:bodyPr spcFirstLastPara="1" wrap="square" lIns="0" tIns="0" rIns="0" bIns="0" anchor="t">
            <a:noAutofit/>
          </a:bodyPr>
          <a:lstStyle/>
          <a:p>
            <a:pPr marL="152400" marR="0" lvl="0" indent="-152400" algn="l">
              <a:buClr>
                <a:srgbClr val="000000"/>
              </a:buClr>
              <a:buSzPts val="1400"/>
              <a:buFont typeface="Arial"/>
              <a:buChar char="•"/>
            </a:pPr>
            <a:r>
              <a:rPr sz="1400" b="0" i="0" u="none" strike="noStrike" cap="none">
                <a:solidFill>
                  <a:srgbClr val="171717"/>
                </a:solidFill>
                <a:latin typeface="Arial"/>
                <a:ea typeface="Arial"/>
                <a:cs typeface="Arial"/>
              </a:rPr>
              <a:t>Co-author of the book Learning MySQL</a:t>
            </a:r>
            <a:endParaRPr sz="1400">
              <a:solidFill>
                <a:srgbClr val="171717"/>
              </a:solidFill>
            </a:endParaRPr>
          </a:p>
        </p:txBody>
      </p:sp>
      <p:sp>
        <p:nvSpPr>
          <p:cNvPr id="9103" name="Google Shape;304;p55"/>
          <p:cNvSpPr txBox="1"/>
          <p:nvPr/>
        </p:nvSpPr>
        <p:spPr>
          <a:xfrm>
            <a:off x="3429000" y="2771775"/>
            <a:ext cx="5257800" cy="247650"/>
          </a:xfrm>
          <a:prstGeom prst="rect">
            <a:avLst/>
          </a:prstGeom>
          <a:noFill/>
          <a:ln>
            <a:noFill/>
          </a:ln>
        </p:spPr>
        <p:txBody>
          <a:bodyPr spcFirstLastPara="1" wrap="square" lIns="0" tIns="0" rIns="0" bIns="0" anchor="t">
            <a:noAutofit/>
          </a:bodyPr>
          <a:lstStyle/>
          <a:p>
            <a:pPr marL="152400" marR="0" lvl="0" indent="-152400" algn="l">
              <a:buClr>
                <a:srgbClr val="000000"/>
              </a:buClr>
              <a:buSzPts val="1400"/>
              <a:buFont typeface="Arial"/>
              <a:buChar char="•"/>
            </a:pPr>
            <a:r>
              <a:rPr sz="1400" b="0" i="0" u="none" strike="noStrike" cap="none">
                <a:solidFill>
                  <a:srgbClr val="171717"/>
                </a:solidFill>
                <a:latin typeface="Arial"/>
                <a:ea typeface="Arial"/>
                <a:cs typeface="Arial"/>
              </a:rPr>
              <a:t>Organizer of the MySQL community in Brazil (MUG)</a:t>
            </a:r>
            <a:endParaRPr sz="1400">
              <a:solidFill>
                <a:srgbClr val="171717"/>
              </a:solidFill>
            </a:endParaRPr>
          </a:p>
        </p:txBody>
      </p:sp>
      <p:pic>
        <p:nvPicPr>
          <p:cNvPr id="305" name="Google Shape;305;p55" descr="Learning MySQL, 2nd Edition [Book]"/>
          <p:cNvPicPr preferRelativeResize="0"/>
          <p:nvPr/>
        </p:nvPicPr>
        <p:blipFill rotWithShape="1">
          <a:blip r:embed="rId4">
            <a:alphaModFix/>
          </a:blip>
          <a:srcRect/>
          <a:stretch/>
        </p:blipFill>
        <p:spPr>
          <a:xfrm>
            <a:off x="5210175" y="3267075"/>
            <a:ext cx="847725" cy="1114425"/>
          </a:xfrm>
          <a:prstGeom prst="rect">
            <a:avLst/>
          </a:prstGeom>
          <a:noFill/>
          <a:ln>
            <a:noFill/>
          </a:ln>
        </p:spPr>
      </p:pic>
      <p:pic>
        <p:nvPicPr>
          <p:cNvPr id="9002" name="Readyset standard logo 2"/>
          <p:cNvPicPr>
            <a:picLocks noChangeAspect="1"/>
          </p:cNvPicPr>
          <p:nvPr/>
        </p:nvPicPr>
        <p:blipFill>
          <a:blip r:embed="rId5"/>
          <a:stretch/>
        </p:blipFill>
        <p:spPr>
          <a:xfrm>
            <a:off x="457200" y="239275"/>
            <a:ext cx="952500" cy="216776"/>
          </a:xfrm>
          <a:prstGeom prst="rect">
            <a:avLst/>
          </a:prstGeom>
        </p:spPr>
      </p:pic>
      <p:sp>
        <p:nvSpPr>
          <p:cNvPr id="9502"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02</a:t>
            </a: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457200" y="239275"/>
            <a:ext cx="952500" cy="216776"/>
          </a:xfrm>
          <a:prstGeom prst="rect">
            <a:avLst/>
          </a:prstGeom>
        </p:spPr>
      </p:pic>
      <p:sp>
        <p:nvSpPr>
          <p:cNvPr id="3" name="Slide title">
            <a:extLst>
              <a:ext uri="{FF2B5EF4-FFF2-40B4-BE49-F238E27FC236}">
                <a16:creationId xmlns:a16="http://schemas.microsoft.com/office/drawing/2014/main" id="{D2ED8ADB-2C60-4BC2-B31B-6EADAB2588FD}"/>
              </a:ext>
            </a:extLst>
          </p:cNvPr>
          <p:cNvSpPr>
            <a:spLocks noGrp="1"/>
          </p:cNvSpPr>
          <p:nvPr/>
        </p:nvSpPr>
        <p:spPr>
          <a:xfrm>
            <a:off x="457200" y="790575"/>
            <a:ext cx="8229600" cy="460248"/>
          </a:xfrm>
          <a:prstGeom prst="rect">
            <a:avLst/>
          </a:prstGeom>
          <a:noFill/>
          <a:ln w="0">
            <a:noFill/>
          </a:ln>
        </p:spPr>
        <p:txBody>
          <a:bodyPr wrap="square" lIns="0" tIns="0" rIns="0" bIns="0">
            <a:noAutofit/>
          </a:bodyPr>
          <a:lstStyle/>
          <a:p>
            <a:pPr>
              <a:lnSpc>
                <a:spcPct val="106000"/>
              </a:lnSpc>
              <a:buNone/>
              <a:defRPr sz="2700" b="1">
                <a:solidFill>
                  <a:srgbClr val="1A1A1A"/>
                </a:solidFill>
                <a:latin typeface="Arial"/>
                <a:ea typeface="Arial"/>
                <a:cs typeface="Arial"/>
              </a:defRPr>
            </a:pPr>
            <a:r>
              <a:rPr sz="2700" b="1">
                <a:solidFill>
                  <a:srgbClr val="1A1A1A"/>
                </a:solidFill>
                <a:latin typeface="Arial"/>
                <a:ea typeface="Arial"/>
                <a:cs typeface="Arial"/>
              </a:rPr>
              <a:t>Three questions about freshness</a:t>
            </a:r>
          </a:p>
        </p:txBody>
      </p:sp>
      <p:sp>
        <p:nvSpPr>
          <p:cNvPr id="4" name="text-11">
            <a:extLst>
              <a:ext uri="{FF2B5EF4-FFF2-40B4-BE49-F238E27FC236}">
                <a16:creationId xmlns:a16="http://schemas.microsoft.com/office/drawing/2014/main" id="{E9366091-0264-4154-AC2C-C84EF5323EFE}"/>
              </a:ext>
            </a:extLst>
          </p:cNvPr>
          <p:cNvSpPr>
            <a:spLocks noGrp="1"/>
          </p:cNvSpPr>
          <p:nvPr/>
        </p:nvSpPr>
        <p:spPr>
          <a:xfrm>
            <a:off x="457200" y="1762125"/>
            <a:ext cx="2476500" cy="342900"/>
          </a:xfrm>
          <a:prstGeom prst="rect">
            <a:avLst/>
          </a:prstGeom>
          <a:noFill/>
          <a:ln w="0">
            <a:noFill/>
          </a:ln>
        </p:spPr>
        <p:txBody>
          <a:bodyPr wrap="none" lIns="0" tIns="0" rIns="0" bIns="0">
            <a:noAutofit/>
          </a:bodyPr>
          <a:lstStyle/>
          <a:p>
            <a:pPr>
              <a:lnSpc>
                <a:spcPct val="100000"/>
              </a:lnSpc>
              <a:buNone/>
              <a:defRPr sz="1875" b="1">
                <a:solidFill>
                  <a:srgbClr val="171717"/>
                </a:solidFill>
                <a:latin typeface="Arial"/>
                <a:ea typeface="Arial"/>
                <a:cs typeface="Arial"/>
              </a:defRPr>
            </a:pPr>
            <a:r>
              <a:rPr sz="1875" b="1" dirty="0">
                <a:solidFill>
                  <a:srgbClr val="171717"/>
                </a:solidFill>
                <a:latin typeface="Arial"/>
                <a:ea typeface="Arial"/>
                <a:cs typeface="Arial"/>
              </a:rPr>
              <a:t>01  </a:t>
            </a:r>
            <a:r>
              <a:rPr lang="en-BR" sz="1875" dirty="0">
                <a:solidFill>
                  <a:srgbClr val="171717"/>
                </a:solidFill>
                <a:latin typeface="Arial"/>
              </a:rPr>
              <a:t>PostgreSQL</a:t>
            </a:r>
            <a:endParaRPr sz="1875" b="1" dirty="0">
              <a:solidFill>
                <a:srgbClr val="171717"/>
              </a:solidFill>
              <a:latin typeface="Arial"/>
              <a:ea typeface="Arial"/>
              <a:cs typeface="Arial"/>
            </a:endParaRPr>
          </a:p>
        </p:txBody>
      </p:sp>
      <p:sp>
        <p:nvSpPr>
          <p:cNvPr id="5" name="text-12">
            <a:extLst>
              <a:ext uri="{FF2B5EF4-FFF2-40B4-BE49-F238E27FC236}">
                <a16:creationId xmlns:a16="http://schemas.microsoft.com/office/drawing/2014/main" id="{142DACC3-A873-47E5-A7F9-F3C525308697}"/>
              </a:ext>
            </a:extLst>
          </p:cNvPr>
          <p:cNvSpPr>
            <a:spLocks noGrp="1"/>
          </p:cNvSpPr>
          <p:nvPr/>
        </p:nvSpPr>
        <p:spPr>
          <a:xfrm>
            <a:off x="3143250" y="1762125"/>
            <a:ext cx="5486400" cy="332232"/>
          </a:xfrm>
          <a:prstGeom prst="rect">
            <a:avLst/>
          </a:prstGeom>
          <a:noFill/>
          <a:ln w="0">
            <a:noFill/>
          </a:ln>
        </p:spPr>
        <p:txBody>
          <a:bodyPr wrap="none" lIns="0" tIns="0" rIns="0" bIns="0">
            <a:noAutofit/>
          </a:bodyPr>
          <a:lstStyle/>
          <a:p>
            <a:pPr>
              <a:lnSpc>
                <a:spcPct val="106000"/>
              </a:lnSpc>
              <a:buNone/>
              <a:defRPr sz="1800" b="0">
                <a:solidFill>
                  <a:srgbClr val="1A1A1A"/>
                </a:solidFill>
                <a:latin typeface="Arial"/>
                <a:ea typeface="Arial"/>
                <a:cs typeface="Arial"/>
              </a:defRPr>
            </a:pPr>
            <a:r>
              <a:rPr sz="1800" b="0" dirty="0">
                <a:solidFill>
                  <a:srgbClr val="1A1A1A"/>
                </a:solidFill>
                <a:latin typeface="Arial"/>
                <a:ea typeface="Arial"/>
                <a:cs typeface="Arial"/>
              </a:rPr>
              <a:t>How old is the answer when it arrives?</a:t>
            </a:r>
          </a:p>
        </p:txBody>
      </p:sp>
      <p:sp>
        <p:nvSpPr>
          <p:cNvPr id="6" name="text-13">
            <a:extLst>
              <a:ext uri="{FF2B5EF4-FFF2-40B4-BE49-F238E27FC236}">
                <a16:creationId xmlns:a16="http://schemas.microsoft.com/office/drawing/2014/main" id="{8077CDE2-401C-406E-A120-151604D53A5D}"/>
              </a:ext>
            </a:extLst>
          </p:cNvPr>
          <p:cNvSpPr>
            <a:spLocks noGrp="1"/>
          </p:cNvSpPr>
          <p:nvPr/>
        </p:nvSpPr>
        <p:spPr>
          <a:xfrm>
            <a:off x="457200" y="2628900"/>
            <a:ext cx="2476500" cy="342900"/>
          </a:xfrm>
          <a:prstGeom prst="rect">
            <a:avLst/>
          </a:prstGeom>
          <a:noFill/>
          <a:ln w="0">
            <a:noFill/>
          </a:ln>
        </p:spPr>
        <p:txBody>
          <a:bodyPr wrap="none" lIns="0" tIns="0" rIns="0" bIns="0">
            <a:noAutofit/>
          </a:bodyPr>
          <a:lstStyle/>
          <a:p>
            <a:pPr>
              <a:lnSpc>
                <a:spcPct val="106000"/>
              </a:lnSpc>
              <a:buNone/>
              <a:defRPr sz="1875" b="1">
                <a:solidFill>
                  <a:srgbClr val="171717"/>
                </a:solidFill>
                <a:latin typeface="Arial"/>
                <a:ea typeface="Arial"/>
                <a:cs typeface="Arial"/>
              </a:defRPr>
            </a:pPr>
            <a:r>
              <a:rPr sz="1875" b="1">
                <a:solidFill>
                  <a:srgbClr val="171717"/>
                </a:solidFill>
                <a:latin typeface="Arial"/>
                <a:ea typeface="Arial"/>
                <a:cs typeface="Arial"/>
              </a:rPr>
              <a:t>02  Replica</a:t>
            </a:r>
          </a:p>
        </p:txBody>
      </p:sp>
      <p:sp>
        <p:nvSpPr>
          <p:cNvPr id="7" name="text-14">
            <a:extLst>
              <a:ext uri="{FF2B5EF4-FFF2-40B4-BE49-F238E27FC236}">
                <a16:creationId xmlns:a16="http://schemas.microsoft.com/office/drawing/2014/main" id="{F7839134-4A08-4BFE-99DE-5D4EC58F035E}"/>
              </a:ext>
            </a:extLst>
          </p:cNvPr>
          <p:cNvSpPr>
            <a:spLocks noGrp="1"/>
          </p:cNvSpPr>
          <p:nvPr/>
        </p:nvSpPr>
        <p:spPr>
          <a:xfrm>
            <a:off x="3143250" y="2628900"/>
            <a:ext cx="5486400" cy="332232"/>
          </a:xfrm>
          <a:prstGeom prst="rect">
            <a:avLst/>
          </a:prstGeom>
          <a:noFill/>
          <a:ln w="0">
            <a:noFill/>
          </a:ln>
        </p:spPr>
        <p:txBody>
          <a:bodyPr wrap="none" lIns="0" tIns="0" rIns="0" bIns="0">
            <a:noAutofit/>
          </a:bodyPr>
          <a:lstStyle/>
          <a:p>
            <a:pPr>
              <a:lnSpc>
                <a:spcPct val="106000"/>
              </a:lnSpc>
              <a:buNone/>
              <a:defRPr sz="1800" b="0">
                <a:solidFill>
                  <a:srgbClr val="1A1A1A"/>
                </a:solidFill>
                <a:latin typeface="Arial"/>
                <a:ea typeface="Arial"/>
                <a:cs typeface="Arial"/>
              </a:defRPr>
            </a:pPr>
            <a:r>
              <a:rPr sz="1800" b="0">
                <a:solidFill>
                  <a:srgbClr val="1A1A1A"/>
                </a:solidFill>
                <a:latin typeface="Arial"/>
                <a:ea typeface="Arial"/>
                <a:cs typeface="Arial"/>
              </a:rPr>
              <a:t>How much extra delay does replication add?</a:t>
            </a:r>
          </a:p>
        </p:txBody>
      </p:sp>
      <p:sp>
        <p:nvSpPr>
          <p:cNvPr id="8" name="text-15">
            <a:extLst>
              <a:ext uri="{FF2B5EF4-FFF2-40B4-BE49-F238E27FC236}">
                <a16:creationId xmlns:a16="http://schemas.microsoft.com/office/drawing/2014/main" id="{E3388B67-8248-41B1-8E74-34DACA6E4B83}"/>
              </a:ext>
            </a:extLst>
          </p:cNvPr>
          <p:cNvSpPr>
            <a:spLocks noGrp="1"/>
          </p:cNvSpPr>
          <p:nvPr/>
        </p:nvSpPr>
        <p:spPr>
          <a:xfrm>
            <a:off x="457200" y="3495675"/>
            <a:ext cx="2476500" cy="342900"/>
          </a:xfrm>
          <a:prstGeom prst="rect">
            <a:avLst/>
          </a:prstGeom>
          <a:noFill/>
          <a:ln w="0">
            <a:noFill/>
          </a:ln>
        </p:spPr>
        <p:txBody>
          <a:bodyPr wrap="none" lIns="0" tIns="0" rIns="0" bIns="0">
            <a:noAutofit/>
          </a:bodyPr>
          <a:lstStyle/>
          <a:p>
            <a:pPr>
              <a:lnSpc>
                <a:spcPct val="106000"/>
              </a:lnSpc>
              <a:buNone/>
              <a:defRPr sz="1875" b="1">
                <a:solidFill>
                  <a:srgbClr val="171717"/>
                </a:solidFill>
                <a:latin typeface="Arial"/>
                <a:ea typeface="Arial"/>
                <a:cs typeface="Arial"/>
              </a:defRPr>
            </a:pPr>
            <a:r>
              <a:rPr sz="1875" b="1">
                <a:solidFill>
                  <a:srgbClr val="171717"/>
                </a:solidFill>
                <a:latin typeface="Arial"/>
                <a:ea typeface="Arial"/>
                <a:cs typeface="Arial"/>
              </a:rPr>
              <a:t>03  Readyset</a:t>
            </a:r>
          </a:p>
        </p:txBody>
      </p:sp>
      <p:sp>
        <p:nvSpPr>
          <p:cNvPr id="9" name="text-16">
            <a:extLst>
              <a:ext uri="{FF2B5EF4-FFF2-40B4-BE49-F238E27FC236}">
                <a16:creationId xmlns:a16="http://schemas.microsoft.com/office/drawing/2014/main" id="{4BC9419E-A08F-47FD-9D3C-A889EFE648FE}"/>
              </a:ext>
            </a:extLst>
          </p:cNvPr>
          <p:cNvSpPr>
            <a:spLocks noGrp="1"/>
          </p:cNvSpPr>
          <p:nvPr/>
        </p:nvSpPr>
        <p:spPr>
          <a:xfrm>
            <a:off x="3143250" y="3495675"/>
            <a:ext cx="5486400" cy="332232"/>
          </a:xfrm>
          <a:prstGeom prst="rect">
            <a:avLst/>
          </a:prstGeom>
          <a:noFill/>
          <a:ln w="0">
            <a:noFill/>
          </a:ln>
        </p:spPr>
        <p:txBody>
          <a:bodyPr wrap="none" lIns="0" tIns="0" rIns="0" bIns="0">
            <a:noAutofit/>
          </a:bodyPr>
          <a:lstStyle/>
          <a:p>
            <a:pPr>
              <a:lnSpc>
                <a:spcPct val="106000"/>
              </a:lnSpc>
              <a:buNone/>
              <a:defRPr sz="1800" b="0">
                <a:solidFill>
                  <a:srgbClr val="1A1A1A"/>
                </a:solidFill>
                <a:latin typeface="Arial"/>
                <a:ea typeface="Arial"/>
                <a:cs typeface="Arial"/>
              </a:defRPr>
            </a:pPr>
            <a:r>
              <a:rPr sz="1800" b="0">
                <a:solidFill>
                  <a:srgbClr val="1A1A1A"/>
                </a:solidFill>
                <a:latin typeface="Arial"/>
                <a:ea typeface="Arial"/>
                <a:cs typeface="Arial"/>
              </a:rPr>
              <a:t>What changes when Readyset maintains the result?</a:t>
            </a:r>
          </a:p>
        </p:txBody>
      </p:sp>
      <p:sp>
        <p:nvSpPr>
          <p:cNvPr id="10" name="text-17">
            <a:extLst>
              <a:ext uri="{FF2B5EF4-FFF2-40B4-BE49-F238E27FC236}">
                <a16:creationId xmlns:a16="http://schemas.microsoft.com/office/drawing/2014/main" id="{248C255C-A268-40E3-BBDC-FCD986EFCDFB}"/>
              </a:ext>
            </a:extLst>
          </p:cNvPr>
          <p:cNvSpPr>
            <a:spLocks noGrp="1"/>
          </p:cNvSpPr>
          <p:nvPr/>
        </p:nvSpPr>
        <p:spPr>
          <a:xfrm>
            <a:off x="457200" y="4552950"/>
            <a:ext cx="7953375" cy="278892"/>
          </a:xfrm>
          <a:prstGeom prst="rect">
            <a:avLst/>
          </a:prstGeom>
          <a:noFill/>
          <a:ln w="0">
            <a:noFill/>
          </a:ln>
        </p:spPr>
        <p:txBody>
          <a:bodyPr wrap="square" lIns="0" tIns="0" rIns="0" bIns="0">
            <a:noAutofit/>
          </a:bodyPr>
          <a:lstStyle/>
          <a:p>
            <a:pPr>
              <a:lnSpc>
                <a:spcPct val="106000"/>
              </a:lnSpc>
              <a:buNone/>
              <a:defRPr sz="1425" b="0">
                <a:solidFill>
                  <a:srgbClr val="706E6C"/>
                </a:solidFill>
                <a:latin typeface="Arial"/>
                <a:ea typeface="Arial"/>
                <a:cs typeface="Arial"/>
              </a:defRPr>
            </a:pPr>
            <a:r>
              <a:rPr sz="1425" b="0">
                <a:solidFill>
                  <a:srgbClr val="706E6C"/>
                </a:solidFill>
                <a:latin typeface="Arial"/>
                <a:ea typeface="Arial"/>
                <a:cs typeface="Arial"/>
              </a:rPr>
              <a:t>PostgreSQL semantics, illustrated timelines, and a published cache benchmark</a:t>
            </a:r>
          </a:p>
        </p:txBody>
      </p:sp>
      <p:sp>
        <p:nvSpPr>
          <p:cNvPr id="9504"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03</a:t>
            </a:r>
          </a:p>
        </p:txBody>
      </p:sp>
    </p:spTree>
    <p:extLst>
      <p:ext uri="{BB962C8B-B14F-4D97-AF65-F5344CB8AC3E}">
        <p14:creationId xmlns:p14="http://schemas.microsoft.com/office/powerpoint/2010/main" val="45313081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p:cNvGrpSpPr/>
        <p:nvPr/>
      </p:nvGrpSpPr>
      <p:grpSpPr>
        <a:xfrm>
          <a:off x="0" y="0"/>
          <a:ext cx="0" cy="0"/>
          <a:chOff x="0" y="0"/>
          <a:chExt cx="0" cy="0"/>
        </a:xfrm>
      </p:grpSpPr>
      <p:pic>
        <p:nvPicPr>
          <p:cNvPr id="7" name="Readyset logo" descr="Readyset logo"/>
          <p:cNvPicPr>
            <a:picLocks noChangeAspect="1"/>
          </p:cNvPicPr>
          <p:nvPr/>
        </p:nvPicPr>
        <p:blipFill>
          <a:blip r:embed="rId3"/>
          <a:stretch/>
        </p:blipFill>
        <p:spPr>
          <a:xfrm>
            <a:off x="457200" y="238132"/>
            <a:ext cx="952500" cy="216776"/>
          </a:xfrm>
          <a:prstGeom prst="rect">
            <a:avLst/>
          </a:prstGeom>
        </p:spPr>
      </p:pic>
      <p:sp>
        <p:nvSpPr>
          <p:cNvPr id="4" name="Slide title">
            <a:extLst>
              <a:ext uri="{FF2B5EF4-FFF2-40B4-BE49-F238E27FC236}">
                <a16:creationId xmlns:a16="http://schemas.microsoft.com/office/drawing/2014/main" id="{58C4DEE6-C223-46B1-842B-3DCB303E77A9}"/>
              </a:ext>
            </a:extLst>
          </p:cNvPr>
          <p:cNvSpPr>
            <a:spLocks noGrp="1"/>
          </p:cNvSpPr>
          <p:nvPr/>
        </p:nvSpPr>
        <p:spPr>
          <a:xfrm>
            <a:off x="457200" y="2038350"/>
            <a:ext cx="8458200" cy="1476375"/>
          </a:xfrm>
          <a:prstGeom prst="rect">
            <a:avLst/>
          </a:prstGeom>
          <a:noFill/>
          <a:ln w="0">
            <a:noFill/>
          </a:ln>
        </p:spPr>
        <p:txBody>
          <a:bodyPr wrap="square" lIns="0" tIns="0" rIns="0" bIns="0">
            <a:noAutofit/>
          </a:bodyPr>
          <a:lstStyle/>
          <a:p>
            <a:pPr>
              <a:lnSpc>
                <a:spcPct val="110000"/>
              </a:lnSpc>
              <a:buNone/>
              <a:defRPr sz="4275" b="1">
                <a:solidFill>
                  <a:srgbClr val="EDEDEC"/>
                </a:solidFill>
                <a:latin typeface="Arial"/>
                <a:ea typeface="Arial"/>
                <a:cs typeface="Arial"/>
              </a:defRPr>
            </a:pPr>
            <a:r>
              <a:rPr lang="en-US" sz="3000" b="1" dirty="0">
                <a:solidFill>
                  <a:srgbClr val="EDEDEC"/>
                </a:solidFill>
                <a:latin typeface="Arial"/>
                <a:ea typeface="Arial"/>
                <a:cs typeface="Arial"/>
              </a:rPr>
              <a:t>What 4-letter word defines how database transactions behave?</a:t>
            </a:r>
            <a:endParaRPr sz="3000" b="1" dirty="0">
              <a:solidFill>
                <a:srgbClr val="EDEDEC"/>
              </a:solidFill>
              <a:latin typeface="Arial"/>
              <a:ea typeface="Arial"/>
              <a:cs typeface="Arial"/>
            </a:endParaRPr>
          </a:p>
        </p:txBody>
      </p:sp>
      <p:sp>
        <p:nvSpPr>
          <p:cNvPr id="9505"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04</a:t>
            </a:r>
          </a:p>
        </p:txBody>
      </p:sp>
    </p:spTree>
    <p:extLst>
      <p:ext uri="{BB962C8B-B14F-4D97-AF65-F5344CB8AC3E}">
        <p14:creationId xmlns:p14="http://schemas.microsoft.com/office/powerpoint/2010/main" val="103281309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8EABCC9-E3EE-E5F8-45CC-C0621E55A405}"/>
            </a:ext>
          </a:extLst>
        </p:cNvPr>
        <p:cNvGrpSpPr/>
        <p:nvPr/>
      </p:nvGrpSpPr>
      <p:grpSpPr>
        <a:xfrm>
          <a:off x="0" y="0"/>
          <a:ext cx="0" cy="0"/>
          <a:chOff x="0" y="0"/>
          <a:chExt cx="0" cy="0"/>
        </a:xfrm>
      </p:grpSpPr>
      <p:pic>
        <p:nvPicPr>
          <p:cNvPr id="21" name="Readyset logo" descr="Readyset logo">
            <a:extLst>
              <a:ext uri="{FF2B5EF4-FFF2-40B4-BE49-F238E27FC236}">
                <a16:creationId xmlns:a16="http://schemas.microsoft.com/office/drawing/2014/main" id="{ECFB861B-71A2-83D3-DE9D-DC153DC1BAF3}"/>
              </a:ext>
            </a:extLst>
          </p:cNvPr>
          <p:cNvPicPr>
            <a:picLocks noChangeAspect="1"/>
          </p:cNvPicPr>
          <p:nvPr/>
        </p:nvPicPr>
        <p:blipFill>
          <a:blip r:embed="rId3"/>
          <a:stretch/>
        </p:blipFill>
        <p:spPr>
          <a:xfrm>
            <a:off x="457200" y="238132"/>
            <a:ext cx="952500" cy="216776"/>
          </a:xfrm>
          <a:prstGeom prst="rect">
            <a:avLst/>
          </a:prstGeom>
        </p:spPr>
      </p:pic>
      <p:sp>
        <p:nvSpPr>
          <p:cNvPr id="5" name="concept-letter-0">
            <a:extLst>
              <a:ext uri="{FF2B5EF4-FFF2-40B4-BE49-F238E27FC236}">
                <a16:creationId xmlns:a16="http://schemas.microsoft.com/office/drawing/2014/main" id="{5C8A80D6-3BE1-92D5-5C18-3978873EC4CE}"/>
              </a:ext>
            </a:extLst>
          </p:cNvPr>
          <p:cNvSpPr>
            <a:spLocks noGrp="1"/>
          </p:cNvSpPr>
          <p:nvPr/>
        </p:nvSpPr>
        <p:spPr>
          <a:xfrm>
            <a:off x="547497" y="1326642"/>
            <a:ext cx="523875" cy="514350"/>
          </a:xfrm>
          <a:prstGeom prst="rect">
            <a:avLst/>
          </a:prstGeom>
          <a:noFill/>
          <a:ln w="0">
            <a:noFill/>
          </a:ln>
        </p:spPr>
        <p:txBody>
          <a:bodyPr wrap="none" lIns="0" tIns="0" rIns="0" bIns="0">
            <a:noAutofit/>
          </a:bodyPr>
          <a:lstStyle/>
          <a:p>
            <a:pPr>
              <a:lnSpc>
                <a:spcPct val="110000"/>
              </a:lnSpc>
              <a:buNone/>
              <a:defRPr sz="3150" b="1">
                <a:solidFill>
                  <a:srgbClr val="171717"/>
                </a:solidFill>
                <a:latin typeface="Arial"/>
                <a:ea typeface="Arial"/>
                <a:cs typeface="Arial"/>
              </a:defRPr>
            </a:pPr>
            <a:r>
              <a:rPr sz="3150" b="1" dirty="0">
                <a:solidFill>
                  <a:srgbClr val="171717"/>
                </a:solidFill>
                <a:latin typeface="Arial"/>
                <a:ea typeface="Arial"/>
                <a:cs typeface="Arial"/>
              </a:rPr>
              <a:t>A</a:t>
            </a:r>
          </a:p>
        </p:txBody>
      </p:sp>
      <p:sp>
        <p:nvSpPr>
          <p:cNvPr id="6" name="concept-name-0">
            <a:extLst>
              <a:ext uri="{FF2B5EF4-FFF2-40B4-BE49-F238E27FC236}">
                <a16:creationId xmlns:a16="http://schemas.microsoft.com/office/drawing/2014/main" id="{2579BDFD-C958-B0D0-9D2D-D9D4CE6D7C08}"/>
              </a:ext>
            </a:extLst>
          </p:cNvPr>
          <p:cNvSpPr>
            <a:spLocks noGrp="1"/>
          </p:cNvSpPr>
          <p:nvPr/>
        </p:nvSpPr>
        <p:spPr>
          <a:xfrm>
            <a:off x="1204722" y="1437608"/>
            <a:ext cx="2171700" cy="285750"/>
          </a:xfrm>
          <a:prstGeom prst="rect">
            <a:avLst/>
          </a:prstGeom>
          <a:noFill/>
          <a:ln w="0">
            <a:noFill/>
          </a:ln>
        </p:spPr>
        <p:txBody>
          <a:bodyPr wrap="none" lIns="0" tIns="0" rIns="0" bIns="0">
            <a:noAutofit/>
          </a:bodyPr>
          <a:lstStyle/>
          <a:p>
            <a:pPr>
              <a:lnSpc>
                <a:spcPct val="110000"/>
              </a:lnSpc>
              <a:buNone/>
              <a:defRPr sz="1875" b="1">
                <a:solidFill>
                  <a:srgbClr val="1A1A1A"/>
                </a:solidFill>
                <a:latin typeface="Arial"/>
                <a:ea typeface="Arial"/>
                <a:cs typeface="Arial"/>
              </a:defRPr>
            </a:pPr>
            <a:r>
              <a:rPr lang="pt-BR" sz="1875" b="1" dirty="0">
                <a:solidFill>
                  <a:srgbClr val="1A1A1A"/>
                </a:solidFill>
                <a:latin typeface="Arial"/>
                <a:ea typeface="Arial"/>
                <a:cs typeface="Arial"/>
              </a:rPr>
              <a:t>PRAY</a:t>
            </a:r>
            <a:endParaRPr sz="1875" b="1" dirty="0">
              <a:solidFill>
                <a:srgbClr val="1A1A1A"/>
              </a:solidFill>
              <a:latin typeface="Arial"/>
              <a:ea typeface="Arial"/>
              <a:cs typeface="Arial"/>
            </a:endParaRPr>
          </a:p>
        </p:txBody>
      </p:sp>
      <p:sp>
        <p:nvSpPr>
          <p:cNvPr id="8" name="concept-body-0">
            <a:extLst>
              <a:ext uri="{FF2B5EF4-FFF2-40B4-BE49-F238E27FC236}">
                <a16:creationId xmlns:a16="http://schemas.microsoft.com/office/drawing/2014/main" id="{FC55D665-919B-4A15-95B7-B80E0CA3683E}"/>
              </a:ext>
            </a:extLst>
          </p:cNvPr>
          <p:cNvSpPr>
            <a:spLocks noGrp="1"/>
          </p:cNvSpPr>
          <p:nvPr/>
        </p:nvSpPr>
        <p:spPr>
          <a:xfrm>
            <a:off x="3619500" y="1437608"/>
            <a:ext cx="5067300" cy="539115"/>
          </a:xfrm>
          <a:prstGeom prst="rect">
            <a:avLst/>
          </a:prstGeom>
          <a:noFill/>
          <a:ln w="0">
            <a:noFill/>
          </a:ln>
        </p:spPr>
        <p:txBody>
          <a:bodyPr wrap="none" lIns="0" tIns="0" rIns="0" bIns="0">
            <a:noAutofit/>
          </a:bodyPr>
          <a:lstStyle/>
          <a:p>
            <a:pPr>
              <a:lnSpc>
                <a:spcPct val="110000"/>
              </a:lnSpc>
              <a:buNone/>
              <a:defRPr sz="1650" b="0">
                <a:solidFill>
                  <a:srgbClr val="1A1A1A"/>
                </a:solidFill>
                <a:latin typeface="Arial"/>
                <a:ea typeface="Arial"/>
                <a:cs typeface="Arial"/>
              </a:defRPr>
            </a:pPr>
            <a:r>
              <a:rPr lang="pt-BR" sz="1650" b="0" dirty="0" err="1">
                <a:solidFill>
                  <a:srgbClr val="1A1A1A"/>
                </a:solidFill>
                <a:latin typeface="Arial"/>
                <a:ea typeface="Arial"/>
                <a:cs typeface="Arial"/>
              </a:rPr>
              <a:t>Pray</a:t>
            </a:r>
            <a:r>
              <a:rPr lang="pt-BR" sz="1650" b="0" dirty="0">
                <a:solidFill>
                  <a:srgbClr val="1A1A1A"/>
                </a:solidFill>
                <a:latin typeface="Arial"/>
                <a:ea typeface="Arial"/>
                <a:cs typeface="Arial"/>
              </a:rPr>
              <a:t> </a:t>
            </a:r>
            <a:r>
              <a:rPr lang="pt-BR" sz="1650" b="0" dirty="0" err="1">
                <a:solidFill>
                  <a:srgbClr val="1A1A1A"/>
                </a:solidFill>
                <a:latin typeface="Arial"/>
                <a:ea typeface="Arial"/>
                <a:cs typeface="Arial"/>
              </a:rPr>
              <a:t>to</a:t>
            </a:r>
            <a:r>
              <a:rPr lang="pt-BR" sz="1650" b="0" dirty="0">
                <a:solidFill>
                  <a:srgbClr val="1A1A1A"/>
                </a:solidFill>
                <a:latin typeface="Arial"/>
                <a:ea typeface="Arial"/>
                <a:cs typeface="Arial"/>
              </a:rPr>
              <a:t> </a:t>
            </a:r>
            <a:r>
              <a:rPr lang="pt-BR" sz="1650" b="0" dirty="0" err="1">
                <a:solidFill>
                  <a:srgbClr val="1A1A1A"/>
                </a:solidFill>
                <a:latin typeface="Arial"/>
                <a:ea typeface="Arial"/>
                <a:cs typeface="Arial"/>
              </a:rPr>
              <a:t>work</a:t>
            </a:r>
            <a:r>
              <a:rPr lang="pt-BR" sz="1650" b="0" dirty="0">
                <a:solidFill>
                  <a:srgbClr val="1A1A1A"/>
                </a:solidFill>
                <a:latin typeface="Arial"/>
                <a:ea typeface="Arial"/>
                <a:cs typeface="Arial"/>
              </a:rPr>
              <a:t>. </a:t>
            </a:r>
            <a:r>
              <a:rPr lang="pt-BR" sz="1650" b="0" dirty="0" err="1">
                <a:solidFill>
                  <a:srgbClr val="1A1A1A"/>
                </a:solidFill>
                <a:latin typeface="Arial"/>
                <a:ea typeface="Arial"/>
                <a:cs typeface="Arial"/>
              </a:rPr>
              <a:t>Pay</a:t>
            </a:r>
            <a:r>
              <a:rPr lang="pt-BR" sz="1650" b="0" dirty="0">
                <a:solidFill>
                  <a:srgbClr val="1A1A1A"/>
                </a:solidFill>
                <a:latin typeface="Arial"/>
                <a:ea typeface="Arial"/>
                <a:cs typeface="Arial"/>
              </a:rPr>
              <a:t> </a:t>
            </a:r>
            <a:r>
              <a:rPr lang="pt-BR" sz="1650" b="0" dirty="0" err="1">
                <a:solidFill>
                  <a:srgbClr val="1A1A1A"/>
                </a:solidFill>
                <a:latin typeface="Arial"/>
                <a:ea typeface="Arial"/>
                <a:cs typeface="Arial"/>
              </a:rPr>
              <a:t>the</a:t>
            </a:r>
            <a:r>
              <a:rPr lang="pt-BR" sz="1650" b="0" dirty="0">
                <a:solidFill>
                  <a:srgbClr val="1A1A1A"/>
                </a:solidFill>
                <a:latin typeface="Arial"/>
                <a:ea typeface="Arial"/>
                <a:cs typeface="Arial"/>
              </a:rPr>
              <a:t> </a:t>
            </a:r>
            <a:r>
              <a:rPr lang="pt-BR" sz="1650" b="0" dirty="0" err="1">
                <a:solidFill>
                  <a:srgbClr val="1A1A1A"/>
                </a:solidFill>
                <a:latin typeface="Arial"/>
                <a:ea typeface="Arial"/>
                <a:cs typeface="Arial"/>
              </a:rPr>
              <a:t>sacrifice</a:t>
            </a:r>
            <a:r>
              <a:rPr lang="pt-BR" sz="1650" b="0" dirty="0">
                <a:solidFill>
                  <a:srgbClr val="1A1A1A"/>
                </a:solidFill>
                <a:latin typeface="Arial"/>
                <a:ea typeface="Arial"/>
                <a:cs typeface="Arial"/>
              </a:rPr>
              <a:t> </a:t>
            </a:r>
            <a:r>
              <a:rPr lang="pt-BR" sz="1650" b="0" dirty="0" err="1">
                <a:solidFill>
                  <a:srgbClr val="1A1A1A"/>
                </a:solidFill>
                <a:latin typeface="Arial"/>
                <a:ea typeface="Arial"/>
                <a:cs typeface="Arial"/>
              </a:rPr>
              <a:t>to</a:t>
            </a:r>
            <a:r>
              <a:rPr lang="pt-BR" sz="1650" b="0" dirty="0">
                <a:solidFill>
                  <a:srgbClr val="1A1A1A"/>
                </a:solidFill>
                <a:latin typeface="Arial"/>
                <a:ea typeface="Arial"/>
                <a:cs typeface="Arial"/>
              </a:rPr>
              <a:t> </a:t>
            </a:r>
            <a:r>
              <a:rPr lang="pt-BR" sz="1650" b="0" dirty="0" err="1">
                <a:solidFill>
                  <a:srgbClr val="1A1A1A"/>
                </a:solidFill>
                <a:latin typeface="Arial"/>
                <a:ea typeface="Arial"/>
                <a:cs typeface="Arial"/>
              </a:rPr>
              <a:t>the</a:t>
            </a:r>
            <a:r>
              <a:rPr lang="pt-BR" sz="1650" b="0" dirty="0">
                <a:solidFill>
                  <a:srgbClr val="1A1A1A"/>
                </a:solidFill>
                <a:latin typeface="Arial"/>
                <a:ea typeface="Arial"/>
                <a:cs typeface="Arial"/>
              </a:rPr>
              <a:t> </a:t>
            </a:r>
            <a:r>
              <a:rPr lang="pt-BR" sz="1650" b="0" dirty="0" err="1">
                <a:solidFill>
                  <a:srgbClr val="1A1A1A"/>
                </a:solidFill>
                <a:latin typeface="Arial"/>
                <a:ea typeface="Arial"/>
                <a:cs typeface="Arial"/>
              </a:rPr>
              <a:t>gods</a:t>
            </a:r>
            <a:r>
              <a:rPr lang="pt-BR" sz="1650" b="0" dirty="0">
                <a:solidFill>
                  <a:srgbClr val="1A1A1A"/>
                </a:solidFill>
                <a:latin typeface="Arial"/>
                <a:ea typeface="Arial"/>
                <a:cs typeface="Arial"/>
              </a:rPr>
              <a:t>.</a:t>
            </a:r>
            <a:endParaRPr sz="1650" b="0" dirty="0">
              <a:solidFill>
                <a:srgbClr val="1A1A1A"/>
              </a:solidFill>
              <a:latin typeface="Arial"/>
              <a:ea typeface="Arial"/>
              <a:cs typeface="Arial"/>
            </a:endParaRPr>
          </a:p>
        </p:txBody>
      </p:sp>
      <p:sp>
        <p:nvSpPr>
          <p:cNvPr id="9" name="concept-letter-1">
            <a:extLst>
              <a:ext uri="{FF2B5EF4-FFF2-40B4-BE49-F238E27FC236}">
                <a16:creationId xmlns:a16="http://schemas.microsoft.com/office/drawing/2014/main" id="{41CBE9D8-540A-009E-8E26-2F7AA9162B36}"/>
              </a:ext>
            </a:extLst>
          </p:cNvPr>
          <p:cNvSpPr>
            <a:spLocks noGrp="1"/>
          </p:cNvSpPr>
          <p:nvPr/>
        </p:nvSpPr>
        <p:spPr>
          <a:xfrm>
            <a:off x="547497" y="2012442"/>
            <a:ext cx="523875" cy="514350"/>
          </a:xfrm>
          <a:prstGeom prst="rect">
            <a:avLst/>
          </a:prstGeom>
          <a:noFill/>
          <a:ln w="0">
            <a:noFill/>
          </a:ln>
        </p:spPr>
        <p:txBody>
          <a:bodyPr wrap="none" lIns="0" tIns="0" rIns="0" bIns="0">
            <a:noAutofit/>
          </a:bodyPr>
          <a:lstStyle/>
          <a:p>
            <a:pPr>
              <a:lnSpc>
                <a:spcPct val="110000"/>
              </a:lnSpc>
              <a:buNone/>
              <a:defRPr sz="3150" b="1">
                <a:solidFill>
                  <a:srgbClr val="171717"/>
                </a:solidFill>
                <a:latin typeface="Arial"/>
                <a:ea typeface="Arial"/>
                <a:cs typeface="Arial"/>
              </a:defRPr>
            </a:pPr>
            <a:r>
              <a:rPr lang="pt-BR" sz="3150" b="1" dirty="0" err="1">
                <a:solidFill>
                  <a:srgbClr val="171717"/>
                </a:solidFill>
                <a:latin typeface="Arial"/>
                <a:ea typeface="Arial"/>
                <a:cs typeface="Arial"/>
              </a:rPr>
              <a:t>B</a:t>
            </a:r>
            <a:endParaRPr sz="3150" b="1" dirty="0">
              <a:solidFill>
                <a:srgbClr val="171717"/>
              </a:solidFill>
              <a:latin typeface="Arial"/>
              <a:ea typeface="Arial"/>
              <a:cs typeface="Arial"/>
            </a:endParaRPr>
          </a:p>
        </p:txBody>
      </p:sp>
      <p:sp>
        <p:nvSpPr>
          <p:cNvPr id="10" name="concept-name-1">
            <a:extLst>
              <a:ext uri="{FF2B5EF4-FFF2-40B4-BE49-F238E27FC236}">
                <a16:creationId xmlns:a16="http://schemas.microsoft.com/office/drawing/2014/main" id="{4F8C7F63-25AE-564E-632C-358B6DF6E364}"/>
              </a:ext>
            </a:extLst>
          </p:cNvPr>
          <p:cNvSpPr>
            <a:spLocks noGrp="1"/>
          </p:cNvSpPr>
          <p:nvPr/>
        </p:nvSpPr>
        <p:spPr>
          <a:xfrm>
            <a:off x="1204722" y="2123408"/>
            <a:ext cx="2171700" cy="285750"/>
          </a:xfrm>
          <a:prstGeom prst="rect">
            <a:avLst/>
          </a:prstGeom>
          <a:noFill/>
          <a:ln w="0">
            <a:noFill/>
          </a:ln>
        </p:spPr>
        <p:txBody>
          <a:bodyPr wrap="none" lIns="0" tIns="0" rIns="0" bIns="0">
            <a:noAutofit/>
          </a:bodyPr>
          <a:lstStyle/>
          <a:p>
            <a:pPr>
              <a:lnSpc>
                <a:spcPct val="110000"/>
              </a:lnSpc>
              <a:buNone/>
              <a:defRPr sz="1875" b="1">
                <a:solidFill>
                  <a:srgbClr val="1A1A1A"/>
                </a:solidFill>
                <a:latin typeface="Arial"/>
                <a:ea typeface="Arial"/>
                <a:cs typeface="Arial"/>
              </a:defRPr>
            </a:pPr>
            <a:r>
              <a:rPr lang="pt-BR" sz="1875" b="1" dirty="0">
                <a:solidFill>
                  <a:srgbClr val="1A1A1A"/>
                </a:solidFill>
                <a:latin typeface="Arial"/>
                <a:ea typeface="Arial"/>
                <a:cs typeface="Arial"/>
              </a:rPr>
              <a:t>YOLO</a:t>
            </a:r>
            <a:endParaRPr sz="1875" b="1" dirty="0">
              <a:solidFill>
                <a:srgbClr val="1A1A1A"/>
              </a:solidFill>
              <a:latin typeface="Arial"/>
              <a:ea typeface="Arial"/>
              <a:cs typeface="Arial"/>
            </a:endParaRPr>
          </a:p>
        </p:txBody>
      </p:sp>
      <p:sp>
        <p:nvSpPr>
          <p:cNvPr id="12" name="concept-body-1">
            <a:extLst>
              <a:ext uri="{FF2B5EF4-FFF2-40B4-BE49-F238E27FC236}">
                <a16:creationId xmlns:a16="http://schemas.microsoft.com/office/drawing/2014/main" id="{D2BB8C8E-EDE1-6AD1-4C42-B6AEBEF9A290}"/>
              </a:ext>
            </a:extLst>
          </p:cNvPr>
          <p:cNvSpPr>
            <a:spLocks noGrp="1"/>
          </p:cNvSpPr>
          <p:nvPr/>
        </p:nvSpPr>
        <p:spPr>
          <a:xfrm>
            <a:off x="3619500" y="2124170"/>
            <a:ext cx="5067300" cy="377190"/>
          </a:xfrm>
          <a:prstGeom prst="rect">
            <a:avLst/>
          </a:prstGeom>
          <a:noFill/>
          <a:ln w="0">
            <a:noFill/>
          </a:ln>
        </p:spPr>
        <p:txBody>
          <a:bodyPr wrap="none" lIns="0" tIns="0" rIns="0" bIns="0">
            <a:noAutofit/>
          </a:bodyPr>
          <a:lstStyle/>
          <a:p>
            <a:pPr>
              <a:lnSpc>
                <a:spcPct val="100000"/>
              </a:lnSpc>
              <a:buNone/>
              <a:defRPr sz="1650" b="0">
                <a:solidFill>
                  <a:srgbClr val="1A1A1A"/>
                </a:solidFill>
                <a:latin typeface="Arial"/>
                <a:ea typeface="Arial"/>
                <a:cs typeface="Arial"/>
              </a:defRPr>
            </a:pPr>
            <a:r>
              <a:rPr lang="en-BR" sz="1650" dirty="0">
                <a:solidFill>
                  <a:srgbClr val="1A1A1A"/>
                </a:solidFill>
                <a:latin typeface="Arial"/>
              </a:rPr>
              <a:t>Real devs test in production</a:t>
            </a:r>
            <a:endParaRPr sz="1650" b="0" dirty="0">
              <a:solidFill>
                <a:srgbClr val="1A1A1A"/>
              </a:solidFill>
              <a:latin typeface="Arial"/>
              <a:ea typeface="Arial"/>
              <a:cs typeface="Arial"/>
            </a:endParaRPr>
          </a:p>
        </p:txBody>
      </p:sp>
      <p:sp>
        <p:nvSpPr>
          <p:cNvPr id="13" name="concept-letter-2">
            <a:extLst>
              <a:ext uri="{FF2B5EF4-FFF2-40B4-BE49-F238E27FC236}">
                <a16:creationId xmlns:a16="http://schemas.microsoft.com/office/drawing/2014/main" id="{8C0008B0-90A2-7F1B-F392-312997AC6220}"/>
              </a:ext>
            </a:extLst>
          </p:cNvPr>
          <p:cNvSpPr>
            <a:spLocks noGrp="1"/>
          </p:cNvSpPr>
          <p:nvPr/>
        </p:nvSpPr>
        <p:spPr>
          <a:xfrm>
            <a:off x="547497" y="2698242"/>
            <a:ext cx="523875" cy="514350"/>
          </a:xfrm>
          <a:prstGeom prst="rect">
            <a:avLst/>
          </a:prstGeom>
          <a:noFill/>
          <a:ln w="0">
            <a:noFill/>
          </a:ln>
        </p:spPr>
        <p:txBody>
          <a:bodyPr wrap="none" lIns="0" tIns="0" rIns="0" bIns="0">
            <a:noAutofit/>
          </a:bodyPr>
          <a:lstStyle/>
          <a:p>
            <a:pPr>
              <a:lnSpc>
                <a:spcPct val="110000"/>
              </a:lnSpc>
              <a:buNone/>
              <a:defRPr sz="3150" b="1">
                <a:solidFill>
                  <a:srgbClr val="171717"/>
                </a:solidFill>
                <a:latin typeface="Arial"/>
                <a:ea typeface="Arial"/>
                <a:cs typeface="Arial"/>
              </a:defRPr>
            </a:pPr>
            <a:r>
              <a:rPr lang="pt-BR" sz="3150" b="1" dirty="0">
                <a:solidFill>
                  <a:srgbClr val="171717"/>
                </a:solidFill>
                <a:latin typeface="Arial"/>
                <a:ea typeface="Arial"/>
                <a:cs typeface="Arial"/>
              </a:rPr>
              <a:t>C</a:t>
            </a:r>
            <a:endParaRPr sz="3150" b="1" dirty="0">
              <a:solidFill>
                <a:srgbClr val="171717"/>
              </a:solidFill>
              <a:latin typeface="Arial"/>
              <a:ea typeface="Arial"/>
              <a:cs typeface="Arial"/>
            </a:endParaRPr>
          </a:p>
        </p:txBody>
      </p:sp>
      <p:sp>
        <p:nvSpPr>
          <p:cNvPr id="14" name="concept-name-2">
            <a:extLst>
              <a:ext uri="{FF2B5EF4-FFF2-40B4-BE49-F238E27FC236}">
                <a16:creationId xmlns:a16="http://schemas.microsoft.com/office/drawing/2014/main" id="{3751E1D7-82E7-EBF8-2519-E0E31B920133}"/>
              </a:ext>
            </a:extLst>
          </p:cNvPr>
          <p:cNvSpPr>
            <a:spLocks noGrp="1"/>
          </p:cNvSpPr>
          <p:nvPr/>
        </p:nvSpPr>
        <p:spPr>
          <a:xfrm>
            <a:off x="1197102" y="2817781"/>
            <a:ext cx="2171700" cy="285750"/>
          </a:xfrm>
          <a:prstGeom prst="rect">
            <a:avLst/>
          </a:prstGeom>
          <a:noFill/>
          <a:ln w="0">
            <a:noFill/>
          </a:ln>
        </p:spPr>
        <p:txBody>
          <a:bodyPr wrap="none" lIns="0" tIns="0" rIns="0" bIns="0">
            <a:noAutofit/>
          </a:bodyPr>
          <a:lstStyle/>
          <a:p>
            <a:pPr>
              <a:lnSpc>
                <a:spcPct val="100000"/>
              </a:lnSpc>
              <a:buNone/>
              <a:defRPr sz="1875" b="1">
                <a:solidFill>
                  <a:srgbClr val="1A1A1A"/>
                </a:solidFill>
                <a:latin typeface="Arial"/>
                <a:ea typeface="Arial"/>
                <a:cs typeface="Arial"/>
              </a:defRPr>
            </a:pPr>
            <a:r>
              <a:rPr lang="en-BR" sz="1875" b="1" dirty="0">
                <a:solidFill>
                  <a:srgbClr val="1A1A1A"/>
                </a:solidFill>
                <a:latin typeface="Arial"/>
              </a:rPr>
              <a:t>F*CK</a:t>
            </a:r>
            <a:endParaRPr sz="1875" b="1" dirty="0">
              <a:solidFill>
                <a:srgbClr val="1A1A1A"/>
              </a:solidFill>
              <a:latin typeface="Arial"/>
              <a:ea typeface="Arial"/>
              <a:cs typeface="Arial"/>
            </a:endParaRPr>
          </a:p>
        </p:txBody>
      </p:sp>
      <p:sp>
        <p:nvSpPr>
          <p:cNvPr id="16" name="concept-body-2">
            <a:extLst>
              <a:ext uri="{FF2B5EF4-FFF2-40B4-BE49-F238E27FC236}">
                <a16:creationId xmlns:a16="http://schemas.microsoft.com/office/drawing/2014/main" id="{3BD21114-31E8-2043-6E26-48FD556F2C88}"/>
              </a:ext>
            </a:extLst>
          </p:cNvPr>
          <p:cNvSpPr>
            <a:spLocks noGrp="1"/>
          </p:cNvSpPr>
          <p:nvPr/>
        </p:nvSpPr>
        <p:spPr>
          <a:xfrm>
            <a:off x="3619500" y="2774156"/>
            <a:ext cx="5067300" cy="329375"/>
          </a:xfrm>
          <a:prstGeom prst="rect">
            <a:avLst/>
          </a:prstGeom>
          <a:noFill/>
          <a:ln w="0">
            <a:noFill/>
          </a:ln>
        </p:spPr>
        <p:txBody>
          <a:bodyPr wrap="none" lIns="0" tIns="0" rIns="0" bIns="0">
            <a:noAutofit/>
          </a:bodyPr>
          <a:lstStyle/>
          <a:p>
            <a:pPr>
              <a:lnSpc>
                <a:spcPct val="100000"/>
              </a:lnSpc>
              <a:buNone/>
              <a:defRPr sz="1650" b="0">
                <a:solidFill>
                  <a:srgbClr val="1A1A1A"/>
                </a:solidFill>
                <a:latin typeface="Arial"/>
                <a:ea typeface="Arial"/>
                <a:cs typeface="Arial"/>
              </a:defRPr>
            </a:pPr>
            <a:r>
              <a:rPr lang="en-BR" sz="1650" dirty="0">
                <a:solidFill>
                  <a:srgbClr val="1A1A1A"/>
                </a:solidFill>
                <a:latin typeface="Arial"/>
              </a:rPr>
              <a:t>Forgot the WHERE clause</a:t>
            </a:r>
            <a:endParaRPr sz="1650" b="0" dirty="0">
              <a:solidFill>
                <a:srgbClr val="1A1A1A"/>
              </a:solidFill>
              <a:latin typeface="Arial"/>
              <a:ea typeface="Arial"/>
              <a:cs typeface="Arial"/>
            </a:endParaRPr>
          </a:p>
        </p:txBody>
      </p:sp>
      <p:sp>
        <p:nvSpPr>
          <p:cNvPr id="17" name="concept-letter-3">
            <a:extLst>
              <a:ext uri="{FF2B5EF4-FFF2-40B4-BE49-F238E27FC236}">
                <a16:creationId xmlns:a16="http://schemas.microsoft.com/office/drawing/2014/main" id="{FB81A9BD-D454-BBD5-BBFC-B6B7FF50B02D}"/>
              </a:ext>
            </a:extLst>
          </p:cNvPr>
          <p:cNvSpPr>
            <a:spLocks noGrp="1"/>
          </p:cNvSpPr>
          <p:nvPr/>
        </p:nvSpPr>
        <p:spPr>
          <a:xfrm>
            <a:off x="547497" y="3384042"/>
            <a:ext cx="523875" cy="514350"/>
          </a:xfrm>
          <a:prstGeom prst="rect">
            <a:avLst/>
          </a:prstGeom>
          <a:noFill/>
          <a:ln w="0">
            <a:noFill/>
          </a:ln>
        </p:spPr>
        <p:txBody>
          <a:bodyPr wrap="none" lIns="0" tIns="0" rIns="0" bIns="0">
            <a:noAutofit/>
          </a:bodyPr>
          <a:lstStyle/>
          <a:p>
            <a:pPr>
              <a:lnSpc>
                <a:spcPct val="110000"/>
              </a:lnSpc>
              <a:buNone/>
              <a:defRPr sz="3150" b="1">
                <a:solidFill>
                  <a:srgbClr val="171717"/>
                </a:solidFill>
                <a:latin typeface="Arial"/>
                <a:ea typeface="Arial"/>
                <a:cs typeface="Arial"/>
              </a:defRPr>
            </a:pPr>
            <a:r>
              <a:rPr sz="3150" b="1" dirty="0">
                <a:solidFill>
                  <a:srgbClr val="171717"/>
                </a:solidFill>
                <a:latin typeface="Arial"/>
                <a:ea typeface="Arial"/>
                <a:cs typeface="Arial"/>
              </a:rPr>
              <a:t>D</a:t>
            </a:r>
          </a:p>
        </p:txBody>
      </p:sp>
      <p:sp>
        <p:nvSpPr>
          <p:cNvPr id="18" name="concept-name-3">
            <a:extLst>
              <a:ext uri="{FF2B5EF4-FFF2-40B4-BE49-F238E27FC236}">
                <a16:creationId xmlns:a16="http://schemas.microsoft.com/office/drawing/2014/main" id="{B3AE3BED-0045-3223-8733-762A614E04D0}"/>
              </a:ext>
            </a:extLst>
          </p:cNvPr>
          <p:cNvSpPr>
            <a:spLocks noGrp="1"/>
          </p:cNvSpPr>
          <p:nvPr/>
        </p:nvSpPr>
        <p:spPr>
          <a:xfrm>
            <a:off x="1197102" y="3503581"/>
            <a:ext cx="2171700" cy="285750"/>
          </a:xfrm>
          <a:prstGeom prst="rect">
            <a:avLst/>
          </a:prstGeom>
          <a:noFill/>
          <a:ln w="0">
            <a:noFill/>
          </a:ln>
        </p:spPr>
        <p:txBody>
          <a:bodyPr wrap="none" lIns="0" tIns="0" rIns="0" bIns="0">
            <a:noAutofit/>
          </a:bodyPr>
          <a:lstStyle/>
          <a:p>
            <a:pPr>
              <a:lnSpc>
                <a:spcPct val="100000"/>
              </a:lnSpc>
              <a:buNone/>
              <a:defRPr sz="1875" b="1">
                <a:solidFill>
                  <a:srgbClr val="1A1A1A"/>
                </a:solidFill>
                <a:latin typeface="Arial"/>
                <a:ea typeface="Arial"/>
                <a:cs typeface="Arial"/>
              </a:defRPr>
            </a:pPr>
            <a:r>
              <a:rPr lang="en-BR" sz="1875" b="1" dirty="0">
                <a:solidFill>
                  <a:srgbClr val="1A1A1A"/>
                </a:solidFill>
                <a:latin typeface="Arial"/>
              </a:rPr>
              <a:t>ACID</a:t>
            </a:r>
            <a:endParaRPr sz="1875" b="1" dirty="0">
              <a:solidFill>
                <a:srgbClr val="1A1A1A"/>
              </a:solidFill>
              <a:latin typeface="Arial"/>
              <a:ea typeface="Arial"/>
              <a:cs typeface="Arial"/>
            </a:endParaRPr>
          </a:p>
        </p:txBody>
      </p:sp>
      <p:sp>
        <p:nvSpPr>
          <p:cNvPr id="20" name="concept-body-3">
            <a:extLst>
              <a:ext uri="{FF2B5EF4-FFF2-40B4-BE49-F238E27FC236}">
                <a16:creationId xmlns:a16="http://schemas.microsoft.com/office/drawing/2014/main" id="{B8E17EA2-06A4-CE93-5F1D-EE6ACF0B9EF3}"/>
              </a:ext>
            </a:extLst>
          </p:cNvPr>
          <p:cNvSpPr>
            <a:spLocks noGrp="1"/>
          </p:cNvSpPr>
          <p:nvPr/>
        </p:nvSpPr>
        <p:spPr>
          <a:xfrm>
            <a:off x="3619500" y="3386995"/>
            <a:ext cx="5067300" cy="539115"/>
          </a:xfrm>
          <a:prstGeom prst="rect">
            <a:avLst/>
          </a:prstGeom>
          <a:noFill/>
          <a:ln w="0">
            <a:noFill/>
          </a:ln>
        </p:spPr>
        <p:txBody>
          <a:bodyPr wrap="square" lIns="0" tIns="0" rIns="0" bIns="0">
            <a:noAutofit/>
          </a:bodyPr>
          <a:lstStyle/>
          <a:p>
            <a:pPr>
              <a:lnSpc>
                <a:spcPct val="100000"/>
              </a:lnSpc>
              <a:buNone/>
              <a:defRPr sz="1650" b="0">
                <a:solidFill>
                  <a:srgbClr val="1A1A1A"/>
                </a:solidFill>
                <a:latin typeface="Arial"/>
                <a:ea typeface="Arial"/>
                <a:cs typeface="Arial"/>
              </a:defRPr>
            </a:pPr>
            <a:r>
              <a:rPr lang="en-BR" sz="1650" dirty="0">
                <a:solidFill>
                  <a:srgbClr val="1A1A1A"/>
                </a:solidFill>
                <a:latin typeface="Arial"/>
              </a:rPr>
              <a:t>Atomicity, Consistency, Isolation, Durability </a:t>
            </a:r>
            <a:r>
              <a:rPr lang="en-BR" sz="1650" i="1" dirty="0">
                <a:solidFill>
                  <a:srgbClr val="1A1A1A"/>
                </a:solidFill>
                <a:latin typeface="Arial"/>
              </a:rPr>
              <a:t>(boring, but correct)</a:t>
            </a:r>
            <a:endParaRPr sz="1650" b="0" dirty="0">
              <a:solidFill>
                <a:srgbClr val="1A1A1A"/>
              </a:solidFill>
              <a:latin typeface="Arial"/>
              <a:ea typeface="Arial"/>
              <a:cs typeface="Arial"/>
            </a:endParaRPr>
          </a:p>
        </p:txBody>
      </p:sp>
      <p:sp>
        <p:nvSpPr>
          <p:cNvPr id="9506"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05</a:t>
            </a:r>
          </a:p>
        </p:txBody>
      </p:sp>
    </p:spTree>
    <p:extLst>
      <p:ext uri="{BB962C8B-B14F-4D97-AF65-F5344CB8AC3E}">
        <p14:creationId xmlns:p14="http://schemas.microsoft.com/office/powerpoint/2010/main" val="42497843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1"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8" grpId="0"/>
      <p:bldP spid="8" grpId="1"/>
      <p:bldP spid="9" grpId="0"/>
      <p:bldP spid="9" grpId="1"/>
      <p:bldP spid="10" grpId="0"/>
      <p:bldP spid="10" grpId="1"/>
      <p:bldP spid="12" grpId="0"/>
      <p:bldP spid="12" grpId="1"/>
      <p:bldP spid="13" grpId="0"/>
      <p:bldP spid="13" grpId="1"/>
      <p:bldP spid="14" grpId="0"/>
      <p:bldP spid="14" grpId="1"/>
      <p:bldP spid="16" grpId="0"/>
      <p:bldP spid="16" grpId="1"/>
      <p:bldP spid="17" grpId="0"/>
      <p:bldP spid="17" grpId="1"/>
      <p:bldP spid="18" grpId="0"/>
      <p:bldP spid="18" grpId="1"/>
      <p:bldP spid="20" grpId="0"/>
      <p:bldP spid="20"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a:extLst>
            <a:ext uri="{FF2B5EF4-FFF2-40B4-BE49-F238E27FC236}">
              <a16:creationId xmlns:a16="http://schemas.microsoft.com/office/drawing/2014/main" id="{6D7BF84F-B0CA-9D4A-4861-C35AED7D2B7F}"/>
            </a:ext>
          </a:extLst>
        </p:cNvPr>
        <p:cNvGrpSpPr/>
        <p:nvPr/>
      </p:nvGrpSpPr>
      <p:grpSpPr>
        <a:xfrm>
          <a:off x="0" y="0"/>
          <a:ext cx="0" cy="0"/>
          <a:chOff x="0" y="0"/>
          <a:chExt cx="0" cy="0"/>
        </a:xfrm>
      </p:grpSpPr>
      <p:pic>
        <p:nvPicPr>
          <p:cNvPr id="7" name="Readyset logo" descr="Readyset logo">
            <a:extLst>
              <a:ext uri="{FF2B5EF4-FFF2-40B4-BE49-F238E27FC236}">
                <a16:creationId xmlns:a16="http://schemas.microsoft.com/office/drawing/2014/main" id="{6C12A10F-8BB8-73BF-85DD-ED0AA5C55868}"/>
              </a:ext>
            </a:extLst>
          </p:cNvPr>
          <p:cNvPicPr>
            <a:picLocks noChangeAspect="1"/>
          </p:cNvPicPr>
          <p:nvPr/>
        </p:nvPicPr>
        <p:blipFill>
          <a:blip r:embed="rId3"/>
          <a:stretch/>
        </p:blipFill>
        <p:spPr>
          <a:xfrm>
            <a:off x="457200" y="238132"/>
            <a:ext cx="952500" cy="216776"/>
          </a:xfrm>
          <a:prstGeom prst="rect">
            <a:avLst/>
          </a:prstGeom>
        </p:spPr>
      </p:pic>
      <p:sp>
        <p:nvSpPr>
          <p:cNvPr id="4" name="Slide title">
            <a:extLst>
              <a:ext uri="{FF2B5EF4-FFF2-40B4-BE49-F238E27FC236}">
                <a16:creationId xmlns:a16="http://schemas.microsoft.com/office/drawing/2014/main" id="{C9483555-5D39-EB11-B789-4B8FDB601942}"/>
              </a:ext>
            </a:extLst>
          </p:cNvPr>
          <p:cNvSpPr>
            <a:spLocks noGrp="1"/>
          </p:cNvSpPr>
          <p:nvPr/>
        </p:nvSpPr>
        <p:spPr>
          <a:xfrm>
            <a:off x="457200" y="2038350"/>
            <a:ext cx="5905500" cy="1476375"/>
          </a:xfrm>
          <a:prstGeom prst="rect">
            <a:avLst/>
          </a:prstGeom>
          <a:noFill/>
          <a:ln w="0">
            <a:noFill/>
          </a:ln>
        </p:spPr>
        <p:txBody>
          <a:bodyPr wrap="none" lIns="0" tIns="0" rIns="0" bIns="0">
            <a:noAutofit/>
          </a:bodyPr>
          <a:lstStyle/>
          <a:p>
            <a:pPr>
              <a:lnSpc>
                <a:spcPct val="110000"/>
              </a:lnSpc>
              <a:buNone/>
              <a:defRPr sz="4275" b="1">
                <a:solidFill>
                  <a:srgbClr val="EDEDEC"/>
                </a:solidFill>
                <a:latin typeface="Arial"/>
                <a:ea typeface="Arial"/>
                <a:cs typeface="Arial"/>
              </a:defRPr>
            </a:pPr>
            <a:r>
              <a:rPr sz="4275" b="1">
                <a:solidFill>
                  <a:srgbClr val="EDEDEC"/>
                </a:solidFill>
                <a:latin typeface="Arial"/>
                <a:ea typeface="Arial"/>
                <a:cs typeface="Arial"/>
              </a:rPr>
              <a:t>ACID</a:t>
            </a:r>
          </a:p>
        </p:txBody>
      </p:sp>
      <p:sp>
        <p:nvSpPr>
          <p:cNvPr id="5" name="Section explanation">
            <a:extLst>
              <a:ext uri="{FF2B5EF4-FFF2-40B4-BE49-F238E27FC236}">
                <a16:creationId xmlns:a16="http://schemas.microsoft.com/office/drawing/2014/main" id="{DFF39237-2C13-EAAE-0E22-FEBC47F9AA72}"/>
              </a:ext>
            </a:extLst>
          </p:cNvPr>
          <p:cNvSpPr>
            <a:spLocks noGrp="1"/>
          </p:cNvSpPr>
          <p:nvPr/>
        </p:nvSpPr>
        <p:spPr>
          <a:xfrm>
            <a:off x="476250" y="3705225"/>
            <a:ext cx="5905500" cy="626745"/>
          </a:xfrm>
          <a:prstGeom prst="rect">
            <a:avLst/>
          </a:prstGeom>
          <a:noFill/>
          <a:ln w="0">
            <a:noFill/>
          </a:ln>
        </p:spPr>
        <p:txBody>
          <a:bodyPr wrap="square" lIns="0" tIns="0" rIns="0" bIns="0">
            <a:noAutofit/>
          </a:bodyPr>
          <a:lstStyle/>
          <a:p>
            <a:pPr>
              <a:lnSpc>
                <a:spcPct val="110000"/>
              </a:lnSpc>
              <a:buNone/>
              <a:defRPr sz="1950" b="0">
                <a:solidFill>
                  <a:srgbClr val="C8C5C1"/>
                </a:solidFill>
                <a:latin typeface="Arial"/>
                <a:ea typeface="Arial"/>
                <a:cs typeface="Arial"/>
              </a:defRPr>
            </a:pPr>
            <a:r>
              <a:rPr sz="1950" b="0">
                <a:solidFill>
                  <a:srgbClr val="C8C5C1"/>
                </a:solidFill>
                <a:latin typeface="Arial"/>
                <a:ea typeface="Arial"/>
                <a:cs typeface="Arial"/>
              </a:rPr>
              <a:t>What each letter guarantees in PostgreSQL, and where the guarantee ends</a:t>
            </a:r>
          </a:p>
        </p:txBody>
      </p:sp>
      <p:sp>
        <p:nvSpPr>
          <p:cNvPr id="9507"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06</a:t>
            </a:r>
          </a:p>
        </p:txBody>
      </p:sp>
    </p:spTree>
    <p:extLst>
      <p:ext uri="{BB962C8B-B14F-4D97-AF65-F5344CB8AC3E}">
        <p14:creationId xmlns:p14="http://schemas.microsoft.com/office/powerpoint/2010/main" val="3780583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 name="Readyset logo" descr="Readyset logo"/>
          <p:cNvPicPr>
            <a:picLocks noChangeAspect="1"/>
          </p:cNvPicPr>
          <p:nvPr/>
        </p:nvPicPr>
        <p:blipFill>
          <a:blip r:embed="rId3"/>
          <a:stretch/>
        </p:blipFill>
        <p:spPr>
          <a:xfrm>
            <a:off x="457200" y="238132"/>
            <a:ext cx="952500" cy="216776"/>
          </a:xfrm>
          <a:prstGeom prst="rect">
            <a:avLst/>
          </a:prstGeom>
        </p:spPr>
      </p:pic>
      <p:sp>
        <p:nvSpPr>
          <p:cNvPr id="3" name="Slide title">
            <a:extLst>
              <a:ext uri="{FF2B5EF4-FFF2-40B4-BE49-F238E27FC236}">
                <a16:creationId xmlns:a16="http://schemas.microsoft.com/office/drawing/2014/main" id="{1A2A88BA-3E04-4843-8036-011FFA4AA2A0}"/>
              </a:ext>
            </a:extLst>
          </p:cNvPr>
          <p:cNvSpPr>
            <a:spLocks noGrp="1"/>
          </p:cNvSpPr>
          <p:nvPr/>
        </p:nvSpPr>
        <p:spPr>
          <a:xfrm>
            <a:off x="457200" y="752475"/>
            <a:ext cx="8229600" cy="838200"/>
          </a:xfrm>
          <a:prstGeom prst="rect">
            <a:avLst/>
          </a:prstGeom>
          <a:noFill/>
          <a:ln w="0">
            <a:noFill/>
          </a:ln>
        </p:spPr>
        <p:txBody>
          <a:bodyPr wrap="none" lIns="0" tIns="0" rIns="0" bIns="0">
            <a:noAutofit/>
          </a:bodyPr>
          <a:lstStyle/>
          <a:p>
            <a:pPr>
              <a:lnSpc>
                <a:spcPct val="110000"/>
              </a:lnSpc>
              <a:buNone/>
              <a:defRPr sz="2700" b="1">
                <a:solidFill>
                  <a:srgbClr val="1A1A1A"/>
                </a:solidFill>
                <a:latin typeface="Arial"/>
                <a:ea typeface="Arial"/>
                <a:cs typeface="Arial"/>
              </a:defRPr>
            </a:pPr>
            <a:r>
              <a:rPr sz="2700" b="1">
                <a:solidFill>
                  <a:srgbClr val="1A1A1A"/>
                </a:solidFill>
                <a:latin typeface="Arial"/>
                <a:ea typeface="Arial"/>
                <a:cs typeface="Arial"/>
              </a:rPr>
              <a:t>ACID: four promises of a transaction</a:t>
            </a:r>
          </a:p>
        </p:txBody>
      </p:sp>
      <p:sp>
        <p:nvSpPr>
          <p:cNvPr id="4" name="text-8">
            <a:extLst>
              <a:ext uri="{FF2B5EF4-FFF2-40B4-BE49-F238E27FC236}">
                <a16:creationId xmlns:a16="http://schemas.microsoft.com/office/drawing/2014/main" id="{746DAD8F-5A53-44EA-8876-EB5F65074F35}"/>
              </a:ext>
            </a:extLst>
          </p:cNvPr>
          <p:cNvSpPr>
            <a:spLocks noGrp="1"/>
          </p:cNvSpPr>
          <p:nvPr/>
        </p:nvSpPr>
        <p:spPr>
          <a:xfrm>
            <a:off x="457200" y="1304925"/>
            <a:ext cx="8096250" cy="298133"/>
          </a:xfrm>
          <a:prstGeom prst="rect">
            <a:avLst/>
          </a:prstGeom>
          <a:noFill/>
          <a:ln w="0">
            <a:noFill/>
          </a:ln>
        </p:spPr>
        <p:txBody>
          <a:bodyPr wrap="none" lIns="0" tIns="0" rIns="0" bIns="0">
            <a:noAutofit/>
          </a:bodyPr>
          <a:lstStyle/>
          <a:p>
            <a:pPr>
              <a:lnSpc>
                <a:spcPct val="110000"/>
              </a:lnSpc>
              <a:buNone/>
              <a:defRPr sz="1650" b="0">
                <a:solidFill>
                  <a:srgbClr val="706E6C"/>
                </a:solidFill>
                <a:latin typeface="Arial"/>
                <a:ea typeface="Arial"/>
                <a:cs typeface="Arial"/>
              </a:defRPr>
            </a:pPr>
            <a:r>
              <a:rPr sz="1650" b="0">
                <a:solidFill>
                  <a:srgbClr val="706E6C"/>
                </a:solidFill>
                <a:latin typeface="Arial"/>
                <a:ea typeface="Arial"/>
                <a:cs typeface="Arial"/>
              </a:rPr>
              <a:t>Example: transfer 100 from Alice to Bob.</a:t>
            </a:r>
          </a:p>
        </p:txBody>
      </p:sp>
      <p:sp>
        <p:nvSpPr>
          <p:cNvPr id="5" name="concept-letter-0">
            <a:extLst>
              <a:ext uri="{FF2B5EF4-FFF2-40B4-BE49-F238E27FC236}">
                <a16:creationId xmlns:a16="http://schemas.microsoft.com/office/drawing/2014/main" id="{60864323-CDF8-4348-91F1-80A1937B5517}"/>
              </a:ext>
            </a:extLst>
          </p:cNvPr>
          <p:cNvSpPr>
            <a:spLocks noGrp="1"/>
          </p:cNvSpPr>
          <p:nvPr/>
        </p:nvSpPr>
        <p:spPr>
          <a:xfrm>
            <a:off x="457200" y="1847850"/>
            <a:ext cx="523875" cy="514350"/>
          </a:xfrm>
          <a:prstGeom prst="rect">
            <a:avLst/>
          </a:prstGeom>
          <a:noFill/>
          <a:ln w="0">
            <a:noFill/>
          </a:ln>
        </p:spPr>
        <p:txBody>
          <a:bodyPr wrap="none" lIns="0" tIns="0" rIns="0" bIns="0">
            <a:noAutofit/>
          </a:bodyPr>
          <a:lstStyle/>
          <a:p>
            <a:pPr>
              <a:lnSpc>
                <a:spcPct val="110000"/>
              </a:lnSpc>
              <a:buNone/>
              <a:defRPr sz="3150" b="1">
                <a:solidFill>
                  <a:srgbClr val="171717"/>
                </a:solidFill>
                <a:latin typeface="Arial"/>
                <a:ea typeface="Arial"/>
                <a:cs typeface="Arial"/>
              </a:defRPr>
            </a:pPr>
            <a:r>
              <a:rPr sz="3150" b="1">
                <a:solidFill>
                  <a:srgbClr val="171717"/>
                </a:solidFill>
                <a:latin typeface="Arial"/>
                <a:ea typeface="Arial"/>
                <a:cs typeface="Arial"/>
              </a:rPr>
              <a:t>A</a:t>
            </a:r>
          </a:p>
        </p:txBody>
      </p:sp>
      <p:sp>
        <p:nvSpPr>
          <p:cNvPr id="6" name="concept-name-0">
            <a:extLst>
              <a:ext uri="{FF2B5EF4-FFF2-40B4-BE49-F238E27FC236}">
                <a16:creationId xmlns:a16="http://schemas.microsoft.com/office/drawing/2014/main" id="{4C4F3486-D8C6-4247-BE81-55A2A35C7331}"/>
              </a:ext>
            </a:extLst>
          </p:cNvPr>
          <p:cNvSpPr>
            <a:spLocks noGrp="1"/>
          </p:cNvSpPr>
          <p:nvPr/>
        </p:nvSpPr>
        <p:spPr>
          <a:xfrm>
            <a:off x="1114425" y="1876425"/>
            <a:ext cx="2171700" cy="285750"/>
          </a:xfrm>
          <a:prstGeom prst="rect">
            <a:avLst/>
          </a:prstGeom>
          <a:noFill/>
          <a:ln w="0">
            <a:noFill/>
          </a:ln>
        </p:spPr>
        <p:txBody>
          <a:bodyPr wrap="none" lIns="0" tIns="0" rIns="0" bIns="0">
            <a:noAutofit/>
          </a:bodyPr>
          <a:lstStyle/>
          <a:p>
            <a:pPr>
              <a:lnSpc>
                <a:spcPct val="110000"/>
              </a:lnSpc>
              <a:buNone/>
              <a:defRPr sz="1875" b="1">
                <a:solidFill>
                  <a:srgbClr val="1A1A1A"/>
                </a:solidFill>
                <a:latin typeface="Arial"/>
                <a:ea typeface="Arial"/>
                <a:cs typeface="Arial"/>
              </a:defRPr>
            </a:pPr>
            <a:r>
              <a:rPr sz="1875" b="1">
                <a:solidFill>
                  <a:srgbClr val="1A1A1A"/>
                </a:solidFill>
                <a:latin typeface="Arial"/>
                <a:ea typeface="Arial"/>
                <a:cs typeface="Arial"/>
              </a:rPr>
              <a:t>Atomicity</a:t>
            </a:r>
          </a:p>
        </p:txBody>
      </p:sp>
      <p:sp>
        <p:nvSpPr>
          <p:cNvPr id="7" name="concept-short-0">
            <a:extLst>
              <a:ext uri="{FF2B5EF4-FFF2-40B4-BE49-F238E27FC236}">
                <a16:creationId xmlns:a16="http://schemas.microsoft.com/office/drawing/2014/main" id="{907A1790-AEE6-47A0-B78D-1DBBAE49CFF1}"/>
              </a:ext>
            </a:extLst>
          </p:cNvPr>
          <p:cNvSpPr>
            <a:spLocks noGrp="1"/>
          </p:cNvSpPr>
          <p:nvPr/>
        </p:nvSpPr>
        <p:spPr>
          <a:xfrm>
            <a:off x="1114425" y="2200275"/>
            <a:ext cx="2333625" cy="219075"/>
          </a:xfrm>
          <a:prstGeom prst="rect">
            <a:avLst/>
          </a:prstGeom>
          <a:noFill/>
          <a:ln w="0">
            <a:noFill/>
          </a:ln>
        </p:spPr>
        <p:txBody>
          <a:bodyPr wrap="none" lIns="0" tIns="0" rIns="0" bIns="0">
            <a:noAutofit/>
          </a:bodyPr>
          <a:lstStyle/>
          <a:p>
            <a:pPr>
              <a:lnSpc>
                <a:spcPct val="110000"/>
              </a:lnSpc>
              <a:buNone/>
              <a:defRPr sz="1275" b="0">
                <a:solidFill>
                  <a:srgbClr val="706E6C"/>
                </a:solidFill>
                <a:latin typeface="Arial"/>
                <a:ea typeface="Arial"/>
                <a:cs typeface="Arial"/>
              </a:defRPr>
            </a:pPr>
            <a:r>
              <a:rPr sz="1275" b="0">
                <a:solidFill>
                  <a:srgbClr val="706E6C"/>
                </a:solidFill>
                <a:latin typeface="Arial"/>
                <a:ea typeface="Arial"/>
                <a:cs typeface="Arial"/>
              </a:rPr>
              <a:t>All or nothing</a:t>
            </a:r>
          </a:p>
        </p:txBody>
      </p:sp>
      <p:sp>
        <p:nvSpPr>
          <p:cNvPr id="8" name="concept-body-0">
            <a:extLst>
              <a:ext uri="{FF2B5EF4-FFF2-40B4-BE49-F238E27FC236}">
                <a16:creationId xmlns:a16="http://schemas.microsoft.com/office/drawing/2014/main" id="{B34BE703-C08D-4C05-8AB7-0C8E5725C833}"/>
              </a:ext>
            </a:extLst>
          </p:cNvPr>
          <p:cNvSpPr>
            <a:spLocks noGrp="1"/>
          </p:cNvSpPr>
          <p:nvPr/>
        </p:nvSpPr>
        <p:spPr>
          <a:xfrm>
            <a:off x="3619500" y="1895475"/>
            <a:ext cx="5067300" cy="539115"/>
          </a:xfrm>
          <a:prstGeom prst="rect">
            <a:avLst/>
          </a:prstGeom>
          <a:noFill/>
          <a:ln w="0">
            <a:noFill/>
          </a:ln>
        </p:spPr>
        <p:txBody>
          <a:bodyPr wrap="none" lIns="0" tIns="0" rIns="0" bIns="0">
            <a:noAutofit/>
          </a:bodyPr>
          <a:lstStyle/>
          <a:p>
            <a:pPr>
              <a:lnSpc>
                <a:spcPct val="110000"/>
              </a:lnSpc>
              <a:buNone/>
              <a:defRPr sz="1650" b="0">
                <a:solidFill>
                  <a:srgbClr val="1A1A1A"/>
                </a:solidFill>
                <a:latin typeface="Arial"/>
                <a:ea typeface="Arial"/>
                <a:cs typeface="Arial"/>
              </a:defRPr>
            </a:pPr>
            <a:r>
              <a:rPr sz="1650" b="0" dirty="0">
                <a:solidFill>
                  <a:srgbClr val="1A1A1A"/>
                </a:solidFill>
                <a:latin typeface="Arial"/>
                <a:ea typeface="Arial"/>
                <a:cs typeface="Arial"/>
              </a:rPr>
              <a:t>Debit and credit are one unit. Commit both, or roll</a:t>
            </a:r>
          </a:p>
          <a:p>
            <a:pPr>
              <a:lnSpc>
                <a:spcPct val="110000"/>
              </a:lnSpc>
              <a:buNone/>
              <a:defRPr sz="1650" b="0">
                <a:solidFill>
                  <a:srgbClr val="1A1A1A"/>
                </a:solidFill>
                <a:latin typeface="Arial"/>
                <a:ea typeface="Arial"/>
                <a:cs typeface="Arial"/>
              </a:defRPr>
            </a:pPr>
            <a:r>
              <a:rPr sz="1650" b="0" dirty="0">
                <a:solidFill>
                  <a:srgbClr val="1A1A1A"/>
                </a:solidFill>
                <a:latin typeface="Arial"/>
                <a:ea typeface="Arial"/>
                <a:cs typeface="Arial"/>
              </a:rPr>
              <a:t>back both.</a:t>
            </a:r>
          </a:p>
        </p:txBody>
      </p:sp>
      <p:sp>
        <p:nvSpPr>
          <p:cNvPr id="9" name="concept-letter-1">
            <a:extLst>
              <a:ext uri="{FF2B5EF4-FFF2-40B4-BE49-F238E27FC236}">
                <a16:creationId xmlns:a16="http://schemas.microsoft.com/office/drawing/2014/main" id="{0A0D6B8B-F2A2-4007-97CE-6F24263A9E9B}"/>
              </a:ext>
            </a:extLst>
          </p:cNvPr>
          <p:cNvSpPr>
            <a:spLocks noGrp="1"/>
          </p:cNvSpPr>
          <p:nvPr/>
        </p:nvSpPr>
        <p:spPr>
          <a:xfrm>
            <a:off x="457200" y="2533650"/>
            <a:ext cx="523875" cy="514350"/>
          </a:xfrm>
          <a:prstGeom prst="rect">
            <a:avLst/>
          </a:prstGeom>
          <a:noFill/>
          <a:ln w="0">
            <a:noFill/>
          </a:ln>
        </p:spPr>
        <p:txBody>
          <a:bodyPr wrap="none" lIns="0" tIns="0" rIns="0" bIns="0">
            <a:noAutofit/>
          </a:bodyPr>
          <a:lstStyle/>
          <a:p>
            <a:pPr>
              <a:lnSpc>
                <a:spcPct val="110000"/>
              </a:lnSpc>
              <a:buNone/>
              <a:defRPr sz="3150" b="1">
                <a:solidFill>
                  <a:srgbClr val="171717"/>
                </a:solidFill>
                <a:latin typeface="Arial"/>
                <a:ea typeface="Arial"/>
                <a:cs typeface="Arial"/>
              </a:defRPr>
            </a:pPr>
            <a:r>
              <a:rPr sz="3150" b="1" dirty="0">
                <a:solidFill>
                  <a:srgbClr val="171717"/>
                </a:solidFill>
                <a:latin typeface="Arial"/>
                <a:ea typeface="Arial"/>
                <a:cs typeface="Arial"/>
              </a:rPr>
              <a:t>C</a:t>
            </a:r>
          </a:p>
        </p:txBody>
      </p:sp>
      <p:sp>
        <p:nvSpPr>
          <p:cNvPr id="10" name="concept-name-1">
            <a:extLst>
              <a:ext uri="{FF2B5EF4-FFF2-40B4-BE49-F238E27FC236}">
                <a16:creationId xmlns:a16="http://schemas.microsoft.com/office/drawing/2014/main" id="{40E75A39-3BDF-43C9-B59C-B2FF51E2E5E5}"/>
              </a:ext>
            </a:extLst>
          </p:cNvPr>
          <p:cNvSpPr>
            <a:spLocks noGrp="1"/>
          </p:cNvSpPr>
          <p:nvPr/>
        </p:nvSpPr>
        <p:spPr>
          <a:xfrm>
            <a:off x="1114425" y="2562225"/>
            <a:ext cx="2171700" cy="285750"/>
          </a:xfrm>
          <a:prstGeom prst="rect">
            <a:avLst/>
          </a:prstGeom>
          <a:noFill/>
          <a:ln w="0">
            <a:noFill/>
          </a:ln>
        </p:spPr>
        <p:txBody>
          <a:bodyPr wrap="none" lIns="0" tIns="0" rIns="0" bIns="0">
            <a:noAutofit/>
          </a:bodyPr>
          <a:lstStyle/>
          <a:p>
            <a:pPr>
              <a:lnSpc>
                <a:spcPct val="110000"/>
              </a:lnSpc>
              <a:buNone/>
              <a:defRPr sz="1875" b="1">
                <a:solidFill>
                  <a:srgbClr val="1A1A1A"/>
                </a:solidFill>
                <a:latin typeface="Arial"/>
                <a:ea typeface="Arial"/>
                <a:cs typeface="Arial"/>
              </a:defRPr>
            </a:pPr>
            <a:r>
              <a:rPr sz="1875" b="1" dirty="0">
                <a:solidFill>
                  <a:srgbClr val="1A1A1A"/>
                </a:solidFill>
                <a:latin typeface="Arial"/>
                <a:ea typeface="Arial"/>
                <a:cs typeface="Arial"/>
              </a:rPr>
              <a:t>Consistency</a:t>
            </a:r>
          </a:p>
        </p:txBody>
      </p:sp>
      <p:sp>
        <p:nvSpPr>
          <p:cNvPr id="11" name="concept-short-1">
            <a:extLst>
              <a:ext uri="{FF2B5EF4-FFF2-40B4-BE49-F238E27FC236}">
                <a16:creationId xmlns:a16="http://schemas.microsoft.com/office/drawing/2014/main" id="{1CF2206D-B730-4FFC-9E1F-3936D0ACAB78}"/>
              </a:ext>
            </a:extLst>
          </p:cNvPr>
          <p:cNvSpPr>
            <a:spLocks noGrp="1"/>
          </p:cNvSpPr>
          <p:nvPr/>
        </p:nvSpPr>
        <p:spPr>
          <a:xfrm>
            <a:off x="1114425" y="2886075"/>
            <a:ext cx="2333625" cy="219075"/>
          </a:xfrm>
          <a:prstGeom prst="rect">
            <a:avLst/>
          </a:prstGeom>
          <a:noFill/>
          <a:ln w="0">
            <a:noFill/>
          </a:ln>
        </p:spPr>
        <p:txBody>
          <a:bodyPr wrap="none" lIns="0" tIns="0" rIns="0" bIns="0">
            <a:noAutofit/>
          </a:bodyPr>
          <a:lstStyle/>
          <a:p>
            <a:pPr>
              <a:lnSpc>
                <a:spcPct val="110000"/>
              </a:lnSpc>
              <a:buNone/>
              <a:defRPr sz="1275" b="0">
                <a:solidFill>
                  <a:srgbClr val="706E6C"/>
                </a:solidFill>
                <a:latin typeface="Arial"/>
                <a:ea typeface="Arial"/>
                <a:cs typeface="Arial"/>
              </a:defRPr>
            </a:pPr>
            <a:r>
              <a:rPr sz="1275" b="0" dirty="0">
                <a:solidFill>
                  <a:srgbClr val="706E6C"/>
                </a:solidFill>
                <a:latin typeface="Arial"/>
                <a:ea typeface="Arial"/>
                <a:cs typeface="Arial"/>
              </a:rPr>
              <a:t>Valid state to valid state</a:t>
            </a:r>
          </a:p>
        </p:txBody>
      </p:sp>
      <p:sp>
        <p:nvSpPr>
          <p:cNvPr id="12" name="concept-body-1">
            <a:extLst>
              <a:ext uri="{FF2B5EF4-FFF2-40B4-BE49-F238E27FC236}">
                <a16:creationId xmlns:a16="http://schemas.microsoft.com/office/drawing/2014/main" id="{5F0A8B12-1B6F-4B28-BEEC-D1B559C10A00}"/>
              </a:ext>
            </a:extLst>
          </p:cNvPr>
          <p:cNvSpPr>
            <a:spLocks noGrp="1"/>
          </p:cNvSpPr>
          <p:nvPr/>
        </p:nvSpPr>
        <p:spPr>
          <a:xfrm>
            <a:off x="3619500" y="2581275"/>
            <a:ext cx="5067300" cy="539115"/>
          </a:xfrm>
          <a:prstGeom prst="rect">
            <a:avLst/>
          </a:prstGeom>
          <a:noFill/>
          <a:ln w="0">
            <a:noFill/>
          </a:ln>
        </p:spPr>
        <p:txBody>
          <a:bodyPr wrap="none" lIns="0" tIns="0" rIns="0" bIns="0">
            <a:noAutofit/>
          </a:bodyPr>
          <a:lstStyle/>
          <a:p>
            <a:pPr>
              <a:lnSpc>
                <a:spcPct val="110000"/>
              </a:lnSpc>
              <a:buNone/>
              <a:defRPr sz="1650" b="0">
                <a:solidFill>
                  <a:srgbClr val="1A1A1A"/>
                </a:solidFill>
                <a:latin typeface="Arial"/>
                <a:ea typeface="Arial"/>
                <a:cs typeface="Arial"/>
              </a:defRPr>
            </a:pPr>
            <a:r>
              <a:rPr sz="1650" b="0">
                <a:solidFill>
                  <a:srgbClr val="1A1A1A"/>
                </a:solidFill>
                <a:latin typeface="Arial"/>
                <a:ea typeface="Arial"/>
                <a:cs typeface="Arial"/>
              </a:rPr>
              <a:t>The transaction must obey declared rules and</a:t>
            </a:r>
          </a:p>
          <a:p>
            <a:pPr>
              <a:lnSpc>
                <a:spcPct val="110000"/>
              </a:lnSpc>
              <a:buNone/>
              <a:defRPr sz="1650" b="0">
                <a:solidFill>
                  <a:srgbClr val="1A1A1A"/>
                </a:solidFill>
                <a:latin typeface="Arial"/>
                <a:ea typeface="Arial"/>
                <a:cs typeface="Arial"/>
              </a:defRPr>
            </a:pPr>
            <a:r>
              <a:rPr sz="1650" b="0">
                <a:solidFill>
                  <a:srgbClr val="1A1A1A"/>
                </a:solidFill>
                <a:latin typeface="Arial"/>
                <a:ea typeface="Arial"/>
                <a:cs typeface="Arial"/>
              </a:rPr>
              <a:t>constraints.</a:t>
            </a:r>
          </a:p>
        </p:txBody>
      </p:sp>
      <p:sp>
        <p:nvSpPr>
          <p:cNvPr id="13" name="concept-letter-2">
            <a:extLst>
              <a:ext uri="{FF2B5EF4-FFF2-40B4-BE49-F238E27FC236}">
                <a16:creationId xmlns:a16="http://schemas.microsoft.com/office/drawing/2014/main" id="{54120A2B-27B3-4250-BFE4-741801BA9164}"/>
              </a:ext>
            </a:extLst>
          </p:cNvPr>
          <p:cNvSpPr>
            <a:spLocks noGrp="1"/>
          </p:cNvSpPr>
          <p:nvPr/>
        </p:nvSpPr>
        <p:spPr>
          <a:xfrm>
            <a:off x="530352" y="3219450"/>
            <a:ext cx="523875" cy="514350"/>
          </a:xfrm>
          <a:prstGeom prst="rect">
            <a:avLst/>
          </a:prstGeom>
          <a:noFill/>
          <a:ln w="0">
            <a:noFill/>
          </a:ln>
        </p:spPr>
        <p:txBody>
          <a:bodyPr wrap="none" lIns="0" tIns="0" rIns="0" bIns="0">
            <a:noAutofit/>
          </a:bodyPr>
          <a:lstStyle/>
          <a:p>
            <a:pPr>
              <a:lnSpc>
                <a:spcPct val="110000"/>
              </a:lnSpc>
              <a:buNone/>
              <a:defRPr sz="3150" b="1">
                <a:solidFill>
                  <a:srgbClr val="171717"/>
                </a:solidFill>
                <a:latin typeface="Arial"/>
                <a:ea typeface="Arial"/>
                <a:cs typeface="Arial"/>
              </a:defRPr>
            </a:pPr>
            <a:r>
              <a:rPr sz="3150" b="1" dirty="0">
                <a:solidFill>
                  <a:srgbClr val="171717"/>
                </a:solidFill>
                <a:latin typeface="Arial"/>
                <a:ea typeface="Arial"/>
                <a:cs typeface="Arial"/>
              </a:rPr>
              <a:t>I</a:t>
            </a:r>
          </a:p>
        </p:txBody>
      </p:sp>
      <p:sp>
        <p:nvSpPr>
          <p:cNvPr id="14" name="concept-name-2">
            <a:extLst>
              <a:ext uri="{FF2B5EF4-FFF2-40B4-BE49-F238E27FC236}">
                <a16:creationId xmlns:a16="http://schemas.microsoft.com/office/drawing/2014/main" id="{C7E10A40-FDA1-4C3C-84C1-01F7AF16D0F3}"/>
              </a:ext>
            </a:extLst>
          </p:cNvPr>
          <p:cNvSpPr>
            <a:spLocks noGrp="1"/>
          </p:cNvSpPr>
          <p:nvPr/>
        </p:nvSpPr>
        <p:spPr>
          <a:xfrm>
            <a:off x="1114425" y="3248025"/>
            <a:ext cx="2171700" cy="285750"/>
          </a:xfrm>
          <a:prstGeom prst="rect">
            <a:avLst/>
          </a:prstGeom>
          <a:noFill/>
          <a:ln w="0">
            <a:noFill/>
          </a:ln>
        </p:spPr>
        <p:txBody>
          <a:bodyPr wrap="none" lIns="0" tIns="0" rIns="0" bIns="0">
            <a:noAutofit/>
          </a:bodyPr>
          <a:lstStyle/>
          <a:p>
            <a:pPr>
              <a:lnSpc>
                <a:spcPct val="110000"/>
              </a:lnSpc>
              <a:buNone/>
              <a:defRPr sz="1875" b="1">
                <a:solidFill>
                  <a:srgbClr val="1A1A1A"/>
                </a:solidFill>
                <a:latin typeface="Arial"/>
                <a:ea typeface="Arial"/>
                <a:cs typeface="Arial"/>
              </a:defRPr>
            </a:pPr>
            <a:r>
              <a:rPr sz="1875" b="1">
                <a:solidFill>
                  <a:srgbClr val="1A1A1A"/>
                </a:solidFill>
                <a:latin typeface="Arial"/>
                <a:ea typeface="Arial"/>
                <a:cs typeface="Arial"/>
              </a:rPr>
              <a:t>Isolation</a:t>
            </a:r>
          </a:p>
        </p:txBody>
      </p:sp>
      <p:sp>
        <p:nvSpPr>
          <p:cNvPr id="15" name="concept-short-2">
            <a:extLst>
              <a:ext uri="{FF2B5EF4-FFF2-40B4-BE49-F238E27FC236}">
                <a16:creationId xmlns:a16="http://schemas.microsoft.com/office/drawing/2014/main" id="{EAA0ABFE-1861-4A4B-8816-E0669B8C65AE}"/>
              </a:ext>
            </a:extLst>
          </p:cNvPr>
          <p:cNvSpPr>
            <a:spLocks noGrp="1"/>
          </p:cNvSpPr>
          <p:nvPr/>
        </p:nvSpPr>
        <p:spPr>
          <a:xfrm>
            <a:off x="1114425" y="3571875"/>
            <a:ext cx="2333625" cy="219075"/>
          </a:xfrm>
          <a:prstGeom prst="rect">
            <a:avLst/>
          </a:prstGeom>
          <a:noFill/>
          <a:ln w="0">
            <a:noFill/>
          </a:ln>
        </p:spPr>
        <p:txBody>
          <a:bodyPr wrap="none" lIns="0" tIns="0" rIns="0" bIns="0">
            <a:noAutofit/>
          </a:bodyPr>
          <a:lstStyle/>
          <a:p>
            <a:pPr>
              <a:lnSpc>
                <a:spcPct val="110000"/>
              </a:lnSpc>
              <a:buNone/>
              <a:defRPr sz="1275" b="0">
                <a:solidFill>
                  <a:srgbClr val="706E6C"/>
                </a:solidFill>
                <a:latin typeface="Arial"/>
                <a:ea typeface="Arial"/>
                <a:cs typeface="Arial"/>
              </a:defRPr>
            </a:pPr>
            <a:r>
              <a:rPr sz="1275" b="0">
                <a:solidFill>
                  <a:srgbClr val="706E6C"/>
                </a:solidFill>
                <a:latin typeface="Arial"/>
                <a:ea typeface="Arial"/>
                <a:cs typeface="Arial"/>
              </a:rPr>
              <a:t>Concurrent work, controlled</a:t>
            </a:r>
          </a:p>
        </p:txBody>
      </p:sp>
      <p:sp>
        <p:nvSpPr>
          <p:cNvPr id="16" name="concept-body-2">
            <a:extLst>
              <a:ext uri="{FF2B5EF4-FFF2-40B4-BE49-F238E27FC236}">
                <a16:creationId xmlns:a16="http://schemas.microsoft.com/office/drawing/2014/main" id="{BE37AA4F-8A16-4140-A59E-8319DD12D583}"/>
              </a:ext>
            </a:extLst>
          </p:cNvPr>
          <p:cNvSpPr>
            <a:spLocks noGrp="1"/>
          </p:cNvSpPr>
          <p:nvPr/>
        </p:nvSpPr>
        <p:spPr>
          <a:xfrm>
            <a:off x="3619500" y="3267075"/>
            <a:ext cx="5067300" cy="539115"/>
          </a:xfrm>
          <a:prstGeom prst="rect">
            <a:avLst/>
          </a:prstGeom>
          <a:noFill/>
          <a:ln w="0">
            <a:noFill/>
          </a:ln>
        </p:spPr>
        <p:txBody>
          <a:bodyPr wrap="none" lIns="0" tIns="0" rIns="0" bIns="0">
            <a:noAutofit/>
          </a:bodyPr>
          <a:lstStyle/>
          <a:p>
            <a:pPr>
              <a:lnSpc>
                <a:spcPct val="110000"/>
              </a:lnSpc>
              <a:buNone/>
              <a:defRPr sz="1650" b="0">
                <a:solidFill>
                  <a:srgbClr val="1A1A1A"/>
                </a:solidFill>
                <a:latin typeface="Arial"/>
                <a:ea typeface="Arial"/>
                <a:cs typeface="Arial"/>
              </a:defRPr>
            </a:pPr>
            <a:r>
              <a:rPr sz="1650" b="0">
                <a:solidFill>
                  <a:srgbClr val="1A1A1A"/>
                </a:solidFill>
                <a:latin typeface="Arial"/>
                <a:ea typeface="Arial"/>
                <a:cs typeface="Arial"/>
              </a:rPr>
              <a:t>Controls what transactions see and change.</a:t>
            </a:r>
          </a:p>
          <a:p>
            <a:pPr>
              <a:lnSpc>
                <a:spcPct val="110000"/>
              </a:lnSpc>
              <a:buNone/>
              <a:defRPr sz="1650" b="0">
                <a:solidFill>
                  <a:srgbClr val="1A1A1A"/>
                </a:solidFill>
                <a:latin typeface="Arial"/>
                <a:ea typeface="Arial"/>
                <a:cs typeface="Arial"/>
              </a:defRPr>
            </a:pPr>
            <a:r>
              <a:rPr sz="1650" b="0">
                <a:solidFill>
                  <a:srgbClr val="1A1A1A"/>
                </a:solidFill>
                <a:latin typeface="Arial"/>
                <a:ea typeface="Arial"/>
                <a:cs typeface="Arial"/>
              </a:rPr>
              <a:t>Guarantees depend on the isolation level.</a:t>
            </a:r>
          </a:p>
        </p:txBody>
      </p:sp>
      <p:sp>
        <p:nvSpPr>
          <p:cNvPr id="17" name="concept-letter-3">
            <a:extLst>
              <a:ext uri="{FF2B5EF4-FFF2-40B4-BE49-F238E27FC236}">
                <a16:creationId xmlns:a16="http://schemas.microsoft.com/office/drawing/2014/main" id="{FCD0BC8E-2975-43B9-A3D1-3329CB048B89}"/>
              </a:ext>
            </a:extLst>
          </p:cNvPr>
          <p:cNvSpPr>
            <a:spLocks noGrp="1"/>
          </p:cNvSpPr>
          <p:nvPr/>
        </p:nvSpPr>
        <p:spPr>
          <a:xfrm>
            <a:off x="457200" y="3905250"/>
            <a:ext cx="523875" cy="514350"/>
          </a:xfrm>
          <a:prstGeom prst="rect">
            <a:avLst/>
          </a:prstGeom>
          <a:noFill/>
          <a:ln w="0">
            <a:noFill/>
          </a:ln>
        </p:spPr>
        <p:txBody>
          <a:bodyPr wrap="none" lIns="0" tIns="0" rIns="0" bIns="0">
            <a:noAutofit/>
          </a:bodyPr>
          <a:lstStyle/>
          <a:p>
            <a:pPr>
              <a:lnSpc>
                <a:spcPct val="110000"/>
              </a:lnSpc>
              <a:buNone/>
              <a:defRPr sz="3150" b="1">
                <a:solidFill>
                  <a:srgbClr val="171717"/>
                </a:solidFill>
                <a:latin typeface="Arial"/>
                <a:ea typeface="Arial"/>
                <a:cs typeface="Arial"/>
              </a:defRPr>
            </a:pPr>
            <a:r>
              <a:rPr sz="3150" b="1" dirty="0">
                <a:solidFill>
                  <a:srgbClr val="171717"/>
                </a:solidFill>
                <a:latin typeface="Arial"/>
                <a:ea typeface="Arial"/>
                <a:cs typeface="Arial"/>
              </a:rPr>
              <a:t>D</a:t>
            </a:r>
          </a:p>
        </p:txBody>
      </p:sp>
      <p:sp>
        <p:nvSpPr>
          <p:cNvPr id="18" name="concept-name-3">
            <a:extLst>
              <a:ext uri="{FF2B5EF4-FFF2-40B4-BE49-F238E27FC236}">
                <a16:creationId xmlns:a16="http://schemas.microsoft.com/office/drawing/2014/main" id="{F4A6F190-63B3-4002-A027-50603A4F7C8E}"/>
              </a:ext>
            </a:extLst>
          </p:cNvPr>
          <p:cNvSpPr>
            <a:spLocks noGrp="1"/>
          </p:cNvSpPr>
          <p:nvPr/>
        </p:nvSpPr>
        <p:spPr>
          <a:xfrm>
            <a:off x="1114425" y="3933825"/>
            <a:ext cx="2171700" cy="285750"/>
          </a:xfrm>
          <a:prstGeom prst="rect">
            <a:avLst/>
          </a:prstGeom>
          <a:noFill/>
          <a:ln w="0">
            <a:noFill/>
          </a:ln>
        </p:spPr>
        <p:txBody>
          <a:bodyPr wrap="none" lIns="0" tIns="0" rIns="0" bIns="0">
            <a:noAutofit/>
          </a:bodyPr>
          <a:lstStyle/>
          <a:p>
            <a:pPr>
              <a:lnSpc>
                <a:spcPct val="110000"/>
              </a:lnSpc>
              <a:buNone/>
              <a:defRPr sz="1875" b="1">
                <a:solidFill>
                  <a:srgbClr val="1A1A1A"/>
                </a:solidFill>
                <a:latin typeface="Arial"/>
                <a:ea typeface="Arial"/>
                <a:cs typeface="Arial"/>
              </a:defRPr>
            </a:pPr>
            <a:r>
              <a:rPr sz="1875" b="1" dirty="0">
                <a:solidFill>
                  <a:srgbClr val="1A1A1A"/>
                </a:solidFill>
                <a:latin typeface="Arial"/>
                <a:ea typeface="Arial"/>
                <a:cs typeface="Arial"/>
              </a:rPr>
              <a:t>Durability</a:t>
            </a:r>
          </a:p>
        </p:txBody>
      </p:sp>
      <p:sp>
        <p:nvSpPr>
          <p:cNvPr id="19" name="concept-short-3">
            <a:extLst>
              <a:ext uri="{FF2B5EF4-FFF2-40B4-BE49-F238E27FC236}">
                <a16:creationId xmlns:a16="http://schemas.microsoft.com/office/drawing/2014/main" id="{ACCA28D4-D395-4E84-B75D-D85621C1DE94}"/>
              </a:ext>
            </a:extLst>
          </p:cNvPr>
          <p:cNvSpPr>
            <a:spLocks noGrp="1"/>
          </p:cNvSpPr>
          <p:nvPr/>
        </p:nvSpPr>
        <p:spPr>
          <a:xfrm>
            <a:off x="1114425" y="4257675"/>
            <a:ext cx="2333625" cy="219075"/>
          </a:xfrm>
          <a:prstGeom prst="rect">
            <a:avLst/>
          </a:prstGeom>
          <a:noFill/>
          <a:ln w="0">
            <a:noFill/>
          </a:ln>
        </p:spPr>
        <p:txBody>
          <a:bodyPr wrap="none" lIns="0" tIns="0" rIns="0" bIns="0">
            <a:noAutofit/>
          </a:bodyPr>
          <a:lstStyle/>
          <a:p>
            <a:pPr>
              <a:lnSpc>
                <a:spcPct val="110000"/>
              </a:lnSpc>
              <a:buNone/>
              <a:defRPr sz="1275" b="0">
                <a:solidFill>
                  <a:srgbClr val="706E6C"/>
                </a:solidFill>
                <a:latin typeface="Arial"/>
                <a:ea typeface="Arial"/>
                <a:cs typeface="Arial"/>
              </a:defRPr>
            </a:pPr>
            <a:r>
              <a:rPr sz="1275" b="0">
                <a:solidFill>
                  <a:srgbClr val="706E6C"/>
                </a:solidFill>
                <a:latin typeface="Arial"/>
                <a:ea typeface="Arial"/>
                <a:cs typeface="Arial"/>
              </a:rPr>
              <a:t>Committed means saved</a:t>
            </a:r>
          </a:p>
        </p:txBody>
      </p:sp>
      <p:sp>
        <p:nvSpPr>
          <p:cNvPr id="20" name="concept-body-3">
            <a:extLst>
              <a:ext uri="{FF2B5EF4-FFF2-40B4-BE49-F238E27FC236}">
                <a16:creationId xmlns:a16="http://schemas.microsoft.com/office/drawing/2014/main" id="{6E855206-6D18-49AA-800C-2F558CDBC4A9}"/>
              </a:ext>
            </a:extLst>
          </p:cNvPr>
          <p:cNvSpPr>
            <a:spLocks noGrp="1"/>
          </p:cNvSpPr>
          <p:nvPr/>
        </p:nvSpPr>
        <p:spPr>
          <a:xfrm>
            <a:off x="3619500" y="3952875"/>
            <a:ext cx="5067300" cy="539115"/>
          </a:xfrm>
          <a:prstGeom prst="rect">
            <a:avLst/>
          </a:prstGeom>
          <a:noFill/>
          <a:ln w="0">
            <a:noFill/>
          </a:ln>
        </p:spPr>
        <p:txBody>
          <a:bodyPr wrap="none" lIns="0" tIns="0" rIns="0" bIns="0">
            <a:noAutofit/>
          </a:bodyPr>
          <a:lstStyle/>
          <a:p>
            <a:pPr>
              <a:lnSpc>
                <a:spcPct val="110000"/>
              </a:lnSpc>
              <a:buNone/>
              <a:defRPr sz="1650" b="0">
                <a:solidFill>
                  <a:srgbClr val="1A1A1A"/>
                </a:solidFill>
                <a:latin typeface="Arial"/>
                <a:ea typeface="Arial"/>
                <a:cs typeface="Arial"/>
              </a:defRPr>
            </a:pPr>
            <a:r>
              <a:rPr sz="1650" b="0">
                <a:solidFill>
                  <a:srgbClr val="1A1A1A"/>
                </a:solidFill>
                <a:latin typeface="Arial"/>
                <a:ea typeface="Arial"/>
                <a:cs typeface="Arial"/>
              </a:rPr>
              <a:t>After a successful commit, changes survive a crash or</a:t>
            </a:r>
          </a:p>
          <a:p>
            <a:pPr>
              <a:lnSpc>
                <a:spcPct val="110000"/>
              </a:lnSpc>
              <a:buNone/>
              <a:defRPr sz="1650" b="0">
                <a:solidFill>
                  <a:srgbClr val="1A1A1A"/>
                </a:solidFill>
                <a:latin typeface="Arial"/>
                <a:ea typeface="Arial"/>
                <a:cs typeface="Arial"/>
              </a:defRPr>
            </a:pPr>
            <a:r>
              <a:rPr sz="1650" b="0">
                <a:solidFill>
                  <a:srgbClr val="1A1A1A"/>
                </a:solidFill>
                <a:latin typeface="Arial"/>
                <a:ea typeface="Arial"/>
                <a:cs typeface="Arial"/>
              </a:rPr>
              <a:t>power loss with durable settings.</a:t>
            </a:r>
          </a:p>
        </p:txBody>
      </p:sp>
      <p:sp>
        <p:nvSpPr>
          <p:cNvPr id="9508"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07</a:t>
            </a:r>
          </a:p>
        </p:txBody>
      </p:sp>
    </p:spTree>
    <p:extLst>
      <p:ext uri="{BB962C8B-B14F-4D97-AF65-F5344CB8AC3E}">
        <p14:creationId xmlns:p14="http://schemas.microsoft.com/office/powerpoint/2010/main" val="685814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par>
                                <p:cTn id="9" presetID="1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p:tgtEl>
                                          <p:spTgt spid="6"/>
                                        </p:tgtEl>
                                        <p:attrNameLst>
                                          <p:attrName>ppt_y</p:attrName>
                                        </p:attrNameLst>
                                      </p:cBhvr>
                                      <p:tavLst>
                                        <p:tav tm="0">
                                          <p:val>
                                            <p:strVal val="#ppt_y+#ppt_h*1.125000"/>
                                          </p:val>
                                        </p:tav>
                                        <p:tav tm="100000">
                                          <p:val>
                                            <p:strVal val="#ppt_y"/>
                                          </p:val>
                                        </p:tav>
                                      </p:tavLst>
                                    </p:anim>
                                    <p:animEffect transition="in" filter="wipe(up)">
                                      <p:cBhvr>
                                        <p:cTn id="12" dur="500"/>
                                        <p:tgtEl>
                                          <p:spTgt spid="6"/>
                                        </p:tgtEl>
                                      </p:cBhvr>
                                    </p:animEffect>
                                  </p:childTnLst>
                                </p:cTn>
                              </p:par>
                              <p:par>
                                <p:cTn id="13" presetID="12" presetClass="entr" presetSubtype="4"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p:tgtEl>
                                          <p:spTgt spid="5"/>
                                        </p:tgtEl>
                                        <p:attrNameLst>
                                          <p:attrName>ppt_y</p:attrName>
                                        </p:attrNameLst>
                                      </p:cBhvr>
                                      <p:tavLst>
                                        <p:tav tm="0">
                                          <p:val>
                                            <p:strVal val="#ppt_y+#ppt_h*1.125000"/>
                                          </p:val>
                                        </p:tav>
                                        <p:tav tm="100000">
                                          <p:val>
                                            <p:strVal val="#ppt_y"/>
                                          </p:val>
                                        </p:tav>
                                      </p:tavLst>
                                    </p:anim>
                                    <p:animEffect transition="in" filter="wipe(up)">
                                      <p:cBhvr>
                                        <p:cTn id="16" dur="500"/>
                                        <p:tgtEl>
                                          <p:spTgt spid="5"/>
                                        </p:tgtEl>
                                      </p:cBhvr>
                                    </p:animEffect>
                                  </p:childTnLst>
                                </p:cTn>
                              </p:par>
                              <p:par>
                                <p:cTn id="17" presetID="12" presetClass="entr" presetSubtype="4"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p:tgtEl>
                                          <p:spTgt spid="7"/>
                                        </p:tgtEl>
                                        <p:attrNameLst>
                                          <p:attrName>ppt_y</p:attrName>
                                        </p:attrNameLst>
                                      </p:cBhvr>
                                      <p:tavLst>
                                        <p:tav tm="0">
                                          <p:val>
                                            <p:strVal val="#ppt_y+#ppt_h*1.125000"/>
                                          </p:val>
                                        </p:tav>
                                        <p:tav tm="100000">
                                          <p:val>
                                            <p:strVal val="#ppt_y"/>
                                          </p:val>
                                        </p:tav>
                                      </p:tavLst>
                                    </p:anim>
                                    <p:animEffect transition="in" filter="wipe(up)">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1"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p:tgtEl>
                                          <p:spTgt spid="10"/>
                                        </p:tgtEl>
                                        <p:attrNameLst>
                                          <p:attrName>ppt_y</p:attrName>
                                        </p:attrNameLst>
                                      </p:cBhvr>
                                      <p:tavLst>
                                        <p:tav tm="0">
                                          <p:val>
                                            <p:strVal val="#ppt_y+#ppt_h*1.125000"/>
                                          </p:val>
                                        </p:tav>
                                        <p:tav tm="100000">
                                          <p:val>
                                            <p:strVal val="#ppt_y"/>
                                          </p:val>
                                        </p:tav>
                                      </p:tavLst>
                                    </p:anim>
                                    <p:animEffect transition="in" filter="wipe(up)">
                                      <p:cBhvr>
                                        <p:cTn id="26" dur="500"/>
                                        <p:tgtEl>
                                          <p:spTgt spid="10"/>
                                        </p:tgtEl>
                                      </p:cBhvr>
                                    </p:animEffect>
                                  </p:childTnLst>
                                </p:cTn>
                              </p:par>
                              <p:par>
                                <p:cTn id="27" presetID="12" presetClass="entr" presetSubtype="4" fill="hold" grpId="1"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p:tgtEl>
                                          <p:spTgt spid="9"/>
                                        </p:tgtEl>
                                        <p:attrNameLst>
                                          <p:attrName>ppt_y</p:attrName>
                                        </p:attrNameLst>
                                      </p:cBhvr>
                                      <p:tavLst>
                                        <p:tav tm="0">
                                          <p:val>
                                            <p:strVal val="#ppt_y+#ppt_h*1.125000"/>
                                          </p:val>
                                        </p:tav>
                                        <p:tav tm="100000">
                                          <p:val>
                                            <p:strVal val="#ppt_y"/>
                                          </p:val>
                                        </p:tav>
                                      </p:tavLst>
                                    </p:anim>
                                    <p:animEffect transition="in" filter="wipe(up)">
                                      <p:cBhvr>
                                        <p:cTn id="30" dur="500"/>
                                        <p:tgtEl>
                                          <p:spTgt spid="9"/>
                                        </p:tgtEl>
                                      </p:cBhvr>
                                    </p:animEffect>
                                  </p:childTnLst>
                                </p:cTn>
                              </p:par>
                              <p:par>
                                <p:cTn id="31" presetID="12" presetClass="entr" presetSubtype="4" fill="hold" grpId="1" nodeType="with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p:tgtEl>
                                          <p:spTgt spid="11"/>
                                        </p:tgtEl>
                                        <p:attrNameLst>
                                          <p:attrName>ppt_y</p:attrName>
                                        </p:attrNameLst>
                                      </p:cBhvr>
                                      <p:tavLst>
                                        <p:tav tm="0">
                                          <p:val>
                                            <p:strVal val="#ppt_y+#ppt_h*1.125000"/>
                                          </p:val>
                                        </p:tav>
                                        <p:tav tm="100000">
                                          <p:val>
                                            <p:strVal val="#ppt_y"/>
                                          </p:val>
                                        </p:tav>
                                      </p:tavLst>
                                    </p:anim>
                                    <p:animEffect transition="in" filter="wipe(up)">
                                      <p:cBhvr>
                                        <p:cTn id="34" dur="500"/>
                                        <p:tgtEl>
                                          <p:spTgt spid="11"/>
                                        </p:tgtEl>
                                      </p:cBhvr>
                                    </p:animEffect>
                                  </p:childTnLst>
                                </p:cTn>
                              </p:par>
                              <p:par>
                                <p:cTn id="35" presetID="12" presetClass="entr" presetSubtype="4" fill="hold" grpId="1"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p:tgtEl>
                                          <p:spTgt spid="12"/>
                                        </p:tgtEl>
                                        <p:attrNameLst>
                                          <p:attrName>ppt_y</p:attrName>
                                        </p:attrNameLst>
                                      </p:cBhvr>
                                      <p:tavLst>
                                        <p:tav tm="0">
                                          <p:val>
                                            <p:strVal val="#ppt_y+#ppt_h*1.125000"/>
                                          </p:val>
                                        </p:tav>
                                        <p:tav tm="100000">
                                          <p:val>
                                            <p:strVal val="#ppt_y"/>
                                          </p:val>
                                        </p:tav>
                                      </p:tavLst>
                                    </p:anim>
                                    <p:animEffect transition="in" filter="wipe(up)">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1"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p:tgtEl>
                                          <p:spTgt spid="13"/>
                                        </p:tgtEl>
                                        <p:attrNameLst>
                                          <p:attrName>ppt_y</p:attrName>
                                        </p:attrNameLst>
                                      </p:cBhvr>
                                      <p:tavLst>
                                        <p:tav tm="0">
                                          <p:val>
                                            <p:strVal val="#ppt_y+#ppt_h*1.125000"/>
                                          </p:val>
                                        </p:tav>
                                        <p:tav tm="100000">
                                          <p:val>
                                            <p:strVal val="#ppt_y"/>
                                          </p:val>
                                        </p:tav>
                                      </p:tavLst>
                                    </p:anim>
                                    <p:animEffect transition="in" filter="wipe(up)">
                                      <p:cBhvr>
                                        <p:cTn id="44" dur="500"/>
                                        <p:tgtEl>
                                          <p:spTgt spid="13"/>
                                        </p:tgtEl>
                                      </p:cBhvr>
                                    </p:animEffect>
                                  </p:childTnLst>
                                </p:cTn>
                              </p:par>
                              <p:par>
                                <p:cTn id="45" presetID="12" presetClass="entr" presetSubtype="4" fill="hold" grpId="1"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p:tgtEl>
                                          <p:spTgt spid="14"/>
                                        </p:tgtEl>
                                        <p:attrNameLst>
                                          <p:attrName>ppt_y</p:attrName>
                                        </p:attrNameLst>
                                      </p:cBhvr>
                                      <p:tavLst>
                                        <p:tav tm="0">
                                          <p:val>
                                            <p:strVal val="#ppt_y+#ppt_h*1.125000"/>
                                          </p:val>
                                        </p:tav>
                                        <p:tav tm="100000">
                                          <p:val>
                                            <p:strVal val="#ppt_y"/>
                                          </p:val>
                                        </p:tav>
                                      </p:tavLst>
                                    </p:anim>
                                    <p:animEffect transition="in" filter="wipe(up)">
                                      <p:cBhvr>
                                        <p:cTn id="48" dur="500"/>
                                        <p:tgtEl>
                                          <p:spTgt spid="14"/>
                                        </p:tgtEl>
                                      </p:cBhvr>
                                    </p:animEffect>
                                  </p:childTnLst>
                                </p:cTn>
                              </p:par>
                              <p:par>
                                <p:cTn id="49" presetID="12" presetClass="entr" presetSubtype="4" fill="hold" grpId="1"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p:tgtEl>
                                          <p:spTgt spid="15"/>
                                        </p:tgtEl>
                                        <p:attrNameLst>
                                          <p:attrName>ppt_y</p:attrName>
                                        </p:attrNameLst>
                                      </p:cBhvr>
                                      <p:tavLst>
                                        <p:tav tm="0">
                                          <p:val>
                                            <p:strVal val="#ppt_y+#ppt_h*1.125000"/>
                                          </p:val>
                                        </p:tav>
                                        <p:tav tm="100000">
                                          <p:val>
                                            <p:strVal val="#ppt_y"/>
                                          </p:val>
                                        </p:tav>
                                      </p:tavLst>
                                    </p:anim>
                                    <p:animEffect transition="in" filter="wipe(up)">
                                      <p:cBhvr>
                                        <p:cTn id="52" dur="500"/>
                                        <p:tgtEl>
                                          <p:spTgt spid="15"/>
                                        </p:tgtEl>
                                      </p:cBhvr>
                                    </p:animEffect>
                                  </p:childTnLst>
                                </p:cTn>
                              </p:par>
                              <p:par>
                                <p:cTn id="53" presetID="12" presetClass="entr" presetSubtype="4" fill="hold" grpId="1" nodeType="with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p:tgtEl>
                                          <p:spTgt spid="16"/>
                                        </p:tgtEl>
                                        <p:attrNameLst>
                                          <p:attrName>ppt_y</p:attrName>
                                        </p:attrNameLst>
                                      </p:cBhvr>
                                      <p:tavLst>
                                        <p:tav tm="0">
                                          <p:val>
                                            <p:strVal val="#ppt_y+#ppt_h*1.125000"/>
                                          </p:val>
                                        </p:tav>
                                        <p:tav tm="100000">
                                          <p:val>
                                            <p:strVal val="#ppt_y"/>
                                          </p:val>
                                        </p:tav>
                                      </p:tavLst>
                                    </p:anim>
                                    <p:animEffect transition="in" filter="wipe(up)">
                                      <p:cBhvr>
                                        <p:cTn id="56" dur="500"/>
                                        <p:tgtEl>
                                          <p:spTgt spid="16"/>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1" nodeType="clickEffect">
                                  <p:stCondLst>
                                    <p:cond delay="0"/>
                                  </p:stCondLst>
                                  <p:childTnLst>
                                    <p:set>
                                      <p:cBhvr>
                                        <p:cTn id="60" dur="1" fill="hold">
                                          <p:stCondLst>
                                            <p:cond delay="0"/>
                                          </p:stCondLst>
                                        </p:cTn>
                                        <p:tgtEl>
                                          <p:spTgt spid="18"/>
                                        </p:tgtEl>
                                        <p:attrNameLst>
                                          <p:attrName>style.visibility</p:attrName>
                                        </p:attrNameLst>
                                      </p:cBhvr>
                                      <p:to>
                                        <p:strVal val="visible"/>
                                      </p:to>
                                    </p:set>
                                    <p:anim calcmode="lin" valueType="num">
                                      <p:cBhvr additive="base">
                                        <p:cTn id="61" dur="500"/>
                                        <p:tgtEl>
                                          <p:spTgt spid="18"/>
                                        </p:tgtEl>
                                        <p:attrNameLst>
                                          <p:attrName>ppt_y</p:attrName>
                                        </p:attrNameLst>
                                      </p:cBhvr>
                                      <p:tavLst>
                                        <p:tav tm="0">
                                          <p:val>
                                            <p:strVal val="#ppt_y+#ppt_h*1.125000"/>
                                          </p:val>
                                        </p:tav>
                                        <p:tav tm="100000">
                                          <p:val>
                                            <p:strVal val="#ppt_y"/>
                                          </p:val>
                                        </p:tav>
                                      </p:tavLst>
                                    </p:anim>
                                    <p:animEffect transition="in" filter="wipe(up)">
                                      <p:cBhvr>
                                        <p:cTn id="62" dur="500"/>
                                        <p:tgtEl>
                                          <p:spTgt spid="18"/>
                                        </p:tgtEl>
                                      </p:cBhvr>
                                    </p:animEffect>
                                  </p:childTnLst>
                                </p:cTn>
                              </p:par>
                              <p:par>
                                <p:cTn id="63" presetID="12" presetClass="entr" presetSubtype="4" fill="hold" grpId="1" nodeType="withEffect">
                                  <p:stCondLst>
                                    <p:cond delay="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500"/>
                                        <p:tgtEl>
                                          <p:spTgt spid="17"/>
                                        </p:tgtEl>
                                        <p:attrNameLst>
                                          <p:attrName>ppt_y</p:attrName>
                                        </p:attrNameLst>
                                      </p:cBhvr>
                                      <p:tavLst>
                                        <p:tav tm="0">
                                          <p:val>
                                            <p:strVal val="#ppt_y+#ppt_h*1.125000"/>
                                          </p:val>
                                        </p:tav>
                                        <p:tav tm="100000">
                                          <p:val>
                                            <p:strVal val="#ppt_y"/>
                                          </p:val>
                                        </p:tav>
                                      </p:tavLst>
                                    </p:anim>
                                    <p:animEffect transition="in" filter="wipe(up)">
                                      <p:cBhvr>
                                        <p:cTn id="66" dur="500"/>
                                        <p:tgtEl>
                                          <p:spTgt spid="17"/>
                                        </p:tgtEl>
                                      </p:cBhvr>
                                    </p:animEffect>
                                  </p:childTnLst>
                                </p:cTn>
                              </p:par>
                              <p:par>
                                <p:cTn id="67" presetID="12" presetClass="entr" presetSubtype="4" fill="hold" grpId="1" nodeType="withEffect">
                                  <p:stCondLst>
                                    <p:cond delay="0"/>
                                  </p:stCondLst>
                                  <p:childTnLst>
                                    <p:set>
                                      <p:cBhvr>
                                        <p:cTn id="68" dur="1" fill="hold">
                                          <p:stCondLst>
                                            <p:cond delay="0"/>
                                          </p:stCondLst>
                                        </p:cTn>
                                        <p:tgtEl>
                                          <p:spTgt spid="19"/>
                                        </p:tgtEl>
                                        <p:attrNameLst>
                                          <p:attrName>style.visibility</p:attrName>
                                        </p:attrNameLst>
                                      </p:cBhvr>
                                      <p:to>
                                        <p:strVal val="visible"/>
                                      </p:to>
                                    </p:set>
                                    <p:anim calcmode="lin" valueType="num">
                                      <p:cBhvr additive="base">
                                        <p:cTn id="69" dur="500"/>
                                        <p:tgtEl>
                                          <p:spTgt spid="19"/>
                                        </p:tgtEl>
                                        <p:attrNameLst>
                                          <p:attrName>ppt_y</p:attrName>
                                        </p:attrNameLst>
                                      </p:cBhvr>
                                      <p:tavLst>
                                        <p:tav tm="0">
                                          <p:val>
                                            <p:strVal val="#ppt_y+#ppt_h*1.125000"/>
                                          </p:val>
                                        </p:tav>
                                        <p:tav tm="100000">
                                          <p:val>
                                            <p:strVal val="#ppt_y"/>
                                          </p:val>
                                        </p:tav>
                                      </p:tavLst>
                                    </p:anim>
                                    <p:animEffect transition="in" filter="wipe(up)">
                                      <p:cBhvr>
                                        <p:cTn id="70" dur="500"/>
                                        <p:tgtEl>
                                          <p:spTgt spid="19"/>
                                        </p:tgtEl>
                                      </p:cBhvr>
                                    </p:animEffect>
                                  </p:childTnLst>
                                </p:cTn>
                              </p:par>
                              <p:par>
                                <p:cTn id="71" presetID="12" presetClass="entr" presetSubtype="4" fill="hold" grpId="1" nodeType="withEffect">
                                  <p:stCondLst>
                                    <p:cond delay="0"/>
                                  </p:stCondLst>
                                  <p:childTnLst>
                                    <p:set>
                                      <p:cBhvr>
                                        <p:cTn id="72" dur="1" fill="hold">
                                          <p:stCondLst>
                                            <p:cond delay="0"/>
                                          </p:stCondLst>
                                        </p:cTn>
                                        <p:tgtEl>
                                          <p:spTgt spid="20"/>
                                        </p:tgtEl>
                                        <p:attrNameLst>
                                          <p:attrName>style.visibility</p:attrName>
                                        </p:attrNameLst>
                                      </p:cBhvr>
                                      <p:to>
                                        <p:strVal val="visible"/>
                                      </p:to>
                                    </p:set>
                                    <p:anim calcmode="lin" valueType="num">
                                      <p:cBhvr additive="base">
                                        <p:cTn id="73" dur="500"/>
                                        <p:tgtEl>
                                          <p:spTgt spid="20"/>
                                        </p:tgtEl>
                                        <p:attrNameLst>
                                          <p:attrName>ppt_y</p:attrName>
                                        </p:attrNameLst>
                                      </p:cBhvr>
                                      <p:tavLst>
                                        <p:tav tm="0">
                                          <p:val>
                                            <p:strVal val="#ppt_y+#ppt_h*1.125000"/>
                                          </p:val>
                                        </p:tav>
                                        <p:tav tm="100000">
                                          <p:val>
                                            <p:strVal val="#ppt_y"/>
                                          </p:val>
                                        </p:tav>
                                      </p:tavLst>
                                    </p:anim>
                                    <p:animEffect transition="in" filter="wipe(up)">
                                      <p:cBhvr>
                                        <p:cTn id="7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9" grpId="1"/>
      <p:bldP spid="10" grpId="0"/>
      <p:bldP spid="10" grpId="1"/>
      <p:bldP spid="11" grpId="0"/>
      <p:bldP spid="11" grpId="1"/>
      <p:bldP spid="12" grpId="0"/>
      <p:bldP spid="12" grpId="1"/>
      <p:bldP spid="13" grpId="0"/>
      <p:bldP spid="13" grpId="1"/>
      <p:bldP spid="14" grpId="0"/>
      <p:bldP spid="14" grpId="1"/>
      <p:bldP spid="15" grpId="0"/>
      <p:bldP spid="15" grpId="1"/>
      <p:bldP spid="16" grpId="0"/>
      <p:bldP spid="16" grpId="1"/>
      <p:bldP spid="17" grpId="0"/>
      <p:bldP spid="17" grpId="1"/>
      <p:bldP spid="18" grpId="0"/>
      <p:bldP spid="18" grpId="1"/>
      <p:bldP spid="19" grpId="0"/>
      <p:bldP spid="19" grpId="1"/>
      <p:bldP spid="20" grpId="0"/>
      <p:bldP spid="20" grpId="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p:blipFill>
        <p:spPr>
          <a:xfrm>
            <a:off x="457200" y="238125"/>
            <a:ext cx="952500" cy="219075"/>
          </a:xfrm>
          <a:prstGeom prst="rect">
            <a:avLst/>
          </a:prstGeom>
        </p:spPr>
      </p:pic>
      <p:sp>
        <p:nvSpPr>
          <p:cNvPr id="2" name="Rectangle 1">
            <a:extLst>
              <a:ext uri="{FF2B5EF4-FFF2-40B4-BE49-F238E27FC236}">
                <a16:creationId xmlns:a16="http://schemas.microsoft.com/office/drawing/2014/main" id="{45CF8A2F-2113-4F16-B7AF-26BF6F71C8B0}"/>
              </a:ext>
            </a:extLst>
          </p:cNvPr>
          <p:cNvSpPr>
            <a:spLocks noGrp="1"/>
          </p:cNvSpPr>
          <p:nvPr/>
        </p:nvSpPr>
        <p:spPr>
          <a:xfrm>
            <a:off x="457200" y="781050"/>
            <a:ext cx="8229600" cy="476250"/>
          </a:xfrm>
          <a:prstGeom prst="rect">
            <a:avLst/>
          </a:prstGeom>
          <a:noFill/>
          <a:ln w="0">
            <a:noFill/>
          </a:ln>
        </p:spPr>
        <p:txBody>
          <a:bodyPr wrap="none" lIns="0" tIns="0" rIns="0" bIns="0"/>
          <a:lstStyle/>
          <a:p>
            <a:pPr>
              <a:defRPr sz="2850" b="1">
                <a:solidFill>
                  <a:srgbClr val="25232C"/>
                </a:solidFill>
                <a:latin typeface="Arial"/>
                <a:ea typeface="Arial"/>
                <a:cs typeface="Arial"/>
              </a:defRPr>
            </a:pPr>
            <a:r>
              <a:rPr sz="2850" b="1">
                <a:solidFill>
                  <a:srgbClr val="25232C"/>
                </a:solidFill>
                <a:latin typeface="Arial"/>
                <a:ea typeface="Arial"/>
                <a:cs typeface="Arial"/>
              </a:rPr>
              <a:t>Atomicity: commit</a:t>
            </a:r>
          </a:p>
        </p:txBody>
      </p:sp>
      <p:pic>
        <p:nvPicPr>
          <p:cNvPr id="7" name="Atomicity animated story" descr="Continuous PostgreSQL animation: commit. Starts automatically; hover to pause or replay.">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381000" y="1428750"/>
            <a:ext cx="8382000" cy="3143250"/>
          </a:xfrm>
          <a:prstGeom prst="rect">
            <a:avLst/>
          </a:prstGeom>
        </p:spPr>
      </p:pic>
      <p:sp>
        <p:nvSpPr>
          <p:cNvPr id="9509"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08</a:t>
            </a:r>
          </a:p>
        </p:txBody>
      </p:sp>
    </p:spTree>
    <p:extLst>
      <p:ext uri="{BB962C8B-B14F-4D97-AF65-F5344CB8AC3E}">
        <p14:creationId xmlns:p14="http://schemas.microsoft.com/office/powerpoint/2010/main" val="1095131862"/>
      </p:ext>
    </p:extLst>
  </p:cSld>
  <p:clrMapOvr>
    <a:masterClrMapping/>
  </p:clrMapOvr>
  <p:timing>
    <p:tnLst>
      <p:par>
        <p:cTn id="1" dur="indefinite" restart="never" nodeType="tmRoot">
          <p:childTnLst>
            <p:video>
              <p:cMediaNode vol="80000">
                <p:cTn id="2" fill="hold" display="0">
                  <p:stCondLst>
                    <p:cond delay="0"/>
                  </p:stCondLst>
                </p:cTn>
                <p:tgtEl>
                  <p:spTgt spid="7"/>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p:blipFill>
        <p:spPr>
          <a:xfrm>
            <a:off x="457200" y="238125"/>
            <a:ext cx="952500" cy="219075"/>
          </a:xfrm>
          <a:prstGeom prst="rect">
            <a:avLst/>
          </a:prstGeom>
        </p:spPr>
      </p:pic>
      <p:sp>
        <p:nvSpPr>
          <p:cNvPr id="2" name="Rectangle 1">
            <a:extLst>
              <a:ext uri="{FF2B5EF4-FFF2-40B4-BE49-F238E27FC236}">
                <a16:creationId xmlns:a16="http://schemas.microsoft.com/office/drawing/2014/main" id="{45CF8A2F-2113-4F16-B7AF-26BF6F71C8B0}"/>
              </a:ext>
            </a:extLst>
          </p:cNvPr>
          <p:cNvSpPr>
            <a:spLocks noGrp="1"/>
          </p:cNvSpPr>
          <p:nvPr/>
        </p:nvSpPr>
        <p:spPr>
          <a:xfrm>
            <a:off x="457200" y="781050"/>
            <a:ext cx="8229600" cy="476250"/>
          </a:xfrm>
          <a:prstGeom prst="rect">
            <a:avLst/>
          </a:prstGeom>
          <a:noFill/>
          <a:ln w="0">
            <a:noFill/>
          </a:ln>
        </p:spPr>
        <p:txBody>
          <a:bodyPr wrap="none" lIns="0" tIns="0" rIns="0" bIns="0"/>
          <a:lstStyle/>
          <a:p>
            <a:pPr>
              <a:defRPr sz="2850" b="1">
                <a:solidFill>
                  <a:srgbClr val="25232C"/>
                </a:solidFill>
                <a:latin typeface="Arial"/>
                <a:ea typeface="Arial"/>
                <a:cs typeface="Arial"/>
              </a:defRPr>
            </a:pPr>
            <a:r>
              <a:rPr sz="2850" b="1">
                <a:solidFill>
                  <a:srgbClr val="25232C"/>
                </a:solidFill>
                <a:latin typeface="Arial"/>
                <a:ea typeface="Arial"/>
                <a:cs typeface="Arial"/>
              </a:rPr>
              <a:t>Atomicity: rollback</a:t>
            </a:r>
          </a:p>
        </p:txBody>
      </p:sp>
      <p:pic>
        <p:nvPicPr>
          <p:cNvPr id="7" name="Atomicity animated story" descr="Continuous PostgreSQL animation: rollback. Starts automatically; hover to pause or replay.">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381000" y="1428750"/>
            <a:ext cx="8382000" cy="3143250"/>
          </a:xfrm>
          <a:prstGeom prst="rect">
            <a:avLst/>
          </a:prstGeom>
        </p:spPr>
      </p:pic>
      <p:sp>
        <p:nvSpPr>
          <p:cNvPr id="9509"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09</a:t>
            </a:r>
          </a:p>
        </p:txBody>
      </p:sp>
    </p:spTree>
    <p:extLst>
      <p:ext uri="{BB962C8B-B14F-4D97-AF65-F5344CB8AC3E}">
        <p14:creationId xmlns:p14="http://schemas.microsoft.com/office/powerpoint/2010/main" val="1095131862"/>
      </p:ext>
    </p:extLst>
  </p:cSld>
  <p:clrMapOvr>
    <a:masterClrMapping/>
  </p:clrMapOvr>
  <p:timing>
    <p:tnLst>
      <p:par>
        <p:cTn id="1" dur="indefinite" restart="never" nodeType="tmRoot">
          <p:childTnLst>
            <p:video>
              <p:cMediaNode vol="80000">
                <p:cTn id="2" fill="hold" display="0">
                  <p:stCondLst>
                    <p:cond delay="0"/>
                  </p:stCondLst>
                </p:cTn>
                <p:tgtEl>
                  <p:spTgt spid="7"/>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p:blipFill>
        <p:spPr>
          <a:xfrm>
            <a:off x="457200" y="238125"/>
            <a:ext cx="952500" cy="219075"/>
          </a:xfrm>
          <a:prstGeom prst="rect">
            <a:avLst/>
          </a:prstGeom>
        </p:spPr>
      </p:pic>
      <p:sp>
        <p:nvSpPr>
          <p:cNvPr id="2" name="Rectangle 1">
            <a:extLst>
              <a:ext uri="{FF2B5EF4-FFF2-40B4-BE49-F238E27FC236}">
                <a16:creationId xmlns:a16="http://schemas.microsoft.com/office/drawing/2014/main" id="{7E3D39CD-D2B5-407E-9CC0-B320A00A2D34}"/>
              </a:ext>
            </a:extLst>
          </p:cNvPr>
          <p:cNvSpPr>
            <a:spLocks noGrp="1"/>
          </p:cNvSpPr>
          <p:nvPr/>
        </p:nvSpPr>
        <p:spPr>
          <a:xfrm>
            <a:off x="457200" y="781050"/>
            <a:ext cx="8229600" cy="476250"/>
          </a:xfrm>
          <a:prstGeom prst="rect">
            <a:avLst/>
          </a:prstGeom>
          <a:noFill/>
          <a:ln w="0">
            <a:noFill/>
          </a:ln>
        </p:spPr>
        <p:txBody>
          <a:bodyPr wrap="none" lIns="0" tIns="0" rIns="0" bIns="0"/>
          <a:lstStyle/>
          <a:p>
            <a:pPr>
              <a:defRPr sz="2850" b="1">
                <a:solidFill>
                  <a:srgbClr val="25232C"/>
                </a:solidFill>
                <a:latin typeface="Arial"/>
                <a:ea typeface="Arial"/>
                <a:cs typeface="Arial"/>
              </a:defRPr>
            </a:pPr>
            <a:r>
              <a:rPr sz="2850" b="1">
                <a:solidFill>
                  <a:srgbClr val="25232C"/>
                </a:solidFill>
                <a:latin typeface="Arial"/>
                <a:ea typeface="Arial"/>
                <a:cs typeface="Arial"/>
              </a:rPr>
              <a:t>Consistency</a:t>
            </a:r>
          </a:p>
        </p:txBody>
      </p:sp>
      <p:pic>
        <p:nvPicPr>
          <p:cNvPr id="7" name="Consistency animated story" descr="Continuous PostgreSQL animation: consistency. Starts automatically; hover to pause or replay.">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381000" y="1428750"/>
            <a:ext cx="8382000" cy="3143250"/>
          </a:xfrm>
          <a:prstGeom prst="rect">
            <a:avLst/>
          </a:prstGeom>
        </p:spPr>
      </p:pic>
      <p:sp>
        <p:nvSpPr>
          <p:cNvPr id="9510"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10</a:t>
            </a:r>
          </a:p>
        </p:txBody>
      </p:sp>
    </p:spTree>
    <p:extLst>
      <p:ext uri="{BB962C8B-B14F-4D97-AF65-F5344CB8AC3E}">
        <p14:creationId xmlns:p14="http://schemas.microsoft.com/office/powerpoint/2010/main" val="1011463272"/>
      </p:ext>
    </p:extLst>
  </p:cSld>
  <p:clrMapOvr>
    <a:masterClrMapping/>
  </p:clrMapOvr>
  <p:timing>
    <p:tnLst>
      <p:par>
        <p:cTn id="1" dur="indefinite" restart="never" nodeType="tmRoot">
          <p:childTnLst>
            <p:video>
              <p:cMediaNode vol="80000">
                <p:cTn id="2" fill="hold" display="0">
                  <p:stCondLst>
                    <p:cond delay="0"/>
                  </p:stCondLst>
                </p:cTn>
                <p:tgtEl>
                  <p:spTgt spid="7"/>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p:blipFill>
        <p:spPr>
          <a:xfrm>
            <a:off x="457200" y="238125"/>
            <a:ext cx="952500" cy="219075"/>
          </a:xfrm>
          <a:prstGeom prst="rect">
            <a:avLst/>
          </a:prstGeom>
        </p:spPr>
      </p:pic>
      <p:sp>
        <p:nvSpPr>
          <p:cNvPr id="2" name="Rectangle 1">
            <a:extLst>
              <a:ext uri="{FF2B5EF4-FFF2-40B4-BE49-F238E27FC236}">
                <a16:creationId xmlns:a16="http://schemas.microsoft.com/office/drawing/2014/main" id="{8C19C84C-0A7F-428A-9F1D-C5F4990B6334}"/>
              </a:ext>
            </a:extLst>
          </p:cNvPr>
          <p:cNvSpPr>
            <a:spLocks noGrp="1"/>
          </p:cNvSpPr>
          <p:nvPr/>
        </p:nvSpPr>
        <p:spPr>
          <a:xfrm>
            <a:off x="457200" y="781050"/>
            <a:ext cx="8229600" cy="476250"/>
          </a:xfrm>
          <a:prstGeom prst="rect">
            <a:avLst/>
          </a:prstGeom>
          <a:noFill/>
          <a:ln w="0">
            <a:noFill/>
          </a:ln>
        </p:spPr>
        <p:txBody>
          <a:bodyPr wrap="none" lIns="0" tIns="0" rIns="0" bIns="0"/>
          <a:lstStyle/>
          <a:p>
            <a:pPr>
              <a:defRPr sz="2850" b="1">
                <a:solidFill>
                  <a:srgbClr val="25232C"/>
                </a:solidFill>
                <a:latin typeface="Arial"/>
                <a:ea typeface="Arial"/>
                <a:cs typeface="Arial"/>
              </a:defRPr>
            </a:pPr>
            <a:r>
              <a:rPr sz="2850" b="1">
                <a:solidFill>
                  <a:srgbClr val="25232C"/>
                </a:solidFill>
                <a:latin typeface="Arial"/>
                <a:ea typeface="Arial"/>
                <a:cs typeface="Arial"/>
              </a:rPr>
              <a:t>Isolation</a:t>
            </a:r>
          </a:p>
        </p:txBody>
      </p:sp>
      <p:pic>
        <p:nvPicPr>
          <p:cNvPr id="7" name="Isolation animated story" descr="Continuous PostgreSQL animation: rc. Starts automatically; hover to pause or replay.">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381000" y="1428750"/>
            <a:ext cx="8382000" cy="3143250"/>
          </a:xfrm>
          <a:prstGeom prst="rect">
            <a:avLst/>
          </a:prstGeom>
        </p:spPr>
      </p:pic>
      <p:sp>
        <p:nvSpPr>
          <p:cNvPr id="9511"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11</a:t>
            </a:r>
          </a:p>
        </p:txBody>
      </p:sp>
    </p:spTree>
    <p:extLst>
      <p:ext uri="{BB962C8B-B14F-4D97-AF65-F5344CB8AC3E}">
        <p14:creationId xmlns:p14="http://schemas.microsoft.com/office/powerpoint/2010/main" val="1978386192"/>
      </p:ext>
    </p:extLst>
  </p:cSld>
  <p:clrMapOvr>
    <a:masterClrMapping/>
  </p:clrMapOvr>
  <p:timing>
    <p:tnLst>
      <p:par>
        <p:cTn id="1" dur="indefinite" restart="never" nodeType="tmRoot">
          <p:childTnLst>
            <p:video>
              <p:cMediaNode vol="80000">
                <p:cTn id="2" fill="hold" display="0">
                  <p:stCondLst>
                    <p:cond delay="0"/>
                  </p:stCondLst>
                </p:cTn>
                <p:tgtEl>
                  <p:spTgt spid="7"/>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p:blipFill>
        <p:spPr>
          <a:xfrm>
            <a:off x="457200" y="238125"/>
            <a:ext cx="952500" cy="219075"/>
          </a:xfrm>
          <a:prstGeom prst="rect">
            <a:avLst/>
          </a:prstGeom>
        </p:spPr>
      </p:pic>
      <p:sp>
        <p:nvSpPr>
          <p:cNvPr id="2" name="Rectangle 1">
            <a:extLst>
              <a:ext uri="{FF2B5EF4-FFF2-40B4-BE49-F238E27FC236}">
                <a16:creationId xmlns:a16="http://schemas.microsoft.com/office/drawing/2014/main" id="{32935F93-9DC6-4EB3-90D3-5B207F4F89AA}"/>
              </a:ext>
            </a:extLst>
          </p:cNvPr>
          <p:cNvSpPr>
            <a:spLocks noGrp="1"/>
          </p:cNvSpPr>
          <p:nvPr/>
        </p:nvSpPr>
        <p:spPr>
          <a:xfrm>
            <a:off x="457200" y="781050"/>
            <a:ext cx="8229600" cy="476250"/>
          </a:xfrm>
          <a:prstGeom prst="rect">
            <a:avLst/>
          </a:prstGeom>
          <a:noFill/>
          <a:ln w="0">
            <a:noFill/>
          </a:ln>
        </p:spPr>
        <p:txBody>
          <a:bodyPr wrap="none" lIns="0" tIns="0" rIns="0" bIns="0"/>
          <a:lstStyle/>
          <a:p>
            <a:pPr>
              <a:defRPr sz="2850" b="1">
                <a:solidFill>
                  <a:srgbClr val="25232C"/>
                </a:solidFill>
                <a:latin typeface="Arial"/>
                <a:ea typeface="Arial"/>
                <a:cs typeface="Arial"/>
              </a:defRPr>
            </a:pPr>
            <a:r>
              <a:rPr sz="2850" b="1">
                <a:solidFill>
                  <a:srgbClr val="25232C"/>
                </a:solidFill>
                <a:latin typeface="Arial"/>
                <a:ea typeface="Arial"/>
                <a:cs typeface="Arial"/>
              </a:rPr>
              <a:t>Durability</a:t>
            </a:r>
          </a:p>
        </p:txBody>
      </p:sp>
      <p:pic>
        <p:nvPicPr>
          <p:cNvPr id="7" name="Durability animated story" descr="Continuous PostgreSQL animation: durability. Starts automatically; hover to pause or replay.">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381000" y="1428750"/>
            <a:ext cx="8382000" cy="3143250"/>
          </a:xfrm>
          <a:prstGeom prst="rect">
            <a:avLst/>
          </a:prstGeom>
        </p:spPr>
      </p:pic>
      <p:sp>
        <p:nvSpPr>
          <p:cNvPr id="9512"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12</a:t>
            </a:r>
          </a:p>
        </p:txBody>
      </p:sp>
    </p:spTree>
    <p:extLst>
      <p:ext uri="{BB962C8B-B14F-4D97-AF65-F5344CB8AC3E}">
        <p14:creationId xmlns:p14="http://schemas.microsoft.com/office/powerpoint/2010/main" val="1638918223"/>
      </p:ext>
    </p:extLst>
  </p:cSld>
  <p:clrMapOvr>
    <a:masterClrMapping/>
  </p:clrMapOvr>
  <p:timing>
    <p:tnLst>
      <p:par>
        <p:cTn id="1" dur="indefinite" restart="never" nodeType="tmRoot">
          <p:childTnLst>
            <p:video>
              <p:cMediaNode vol="80000">
                <p:cTn id="2" fill="hold" display="0">
                  <p:stCondLst>
                    <p:cond delay="0"/>
                  </p:stCondLst>
                </p:cTn>
                <p:tgtEl>
                  <p:spTgt spid="7"/>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2" name="Picture 21"/>
          <p:cNvPicPr>
            <a:picLocks noChangeAspect="1"/>
          </p:cNvPicPr>
          <p:nvPr/>
        </p:nvPicPr>
        <p:blipFill>
          <a:blip r:embed="rId3"/>
          <a:stretch/>
        </p:blipFill>
        <p:spPr>
          <a:xfrm>
            <a:off x="457200" y="239275"/>
            <a:ext cx="952500" cy="216776"/>
          </a:xfrm>
          <a:prstGeom prst="rect">
            <a:avLst/>
          </a:prstGeom>
        </p:spPr>
      </p:pic>
      <p:sp>
        <p:nvSpPr>
          <p:cNvPr id="3" name="Slide title">
            <a:extLst>
              <a:ext uri="{FF2B5EF4-FFF2-40B4-BE49-F238E27FC236}">
                <a16:creationId xmlns:a16="http://schemas.microsoft.com/office/drawing/2014/main" id="{EB4CD03C-DAE7-4FF6-AD4C-3205291038DC}"/>
              </a:ext>
            </a:extLst>
          </p:cNvPr>
          <p:cNvSpPr>
            <a:spLocks noGrp="1"/>
          </p:cNvSpPr>
          <p:nvPr/>
        </p:nvSpPr>
        <p:spPr>
          <a:xfrm>
            <a:off x="457200" y="790575"/>
            <a:ext cx="8229600" cy="460248"/>
          </a:xfrm>
          <a:prstGeom prst="rect">
            <a:avLst/>
          </a:prstGeom>
          <a:noFill/>
          <a:ln w="0">
            <a:noFill/>
          </a:ln>
        </p:spPr>
        <p:txBody>
          <a:bodyPr wrap="square" lIns="0" tIns="0" rIns="0" bIns="0">
            <a:noAutofit/>
          </a:bodyPr>
          <a:lstStyle/>
          <a:p>
            <a:pPr>
              <a:lnSpc>
                <a:spcPct val="106000"/>
              </a:lnSpc>
              <a:buNone/>
              <a:defRPr sz="2700" b="1">
                <a:solidFill>
                  <a:srgbClr val="1A1A1A"/>
                </a:solidFill>
                <a:latin typeface="Arial"/>
                <a:ea typeface="Arial"/>
                <a:cs typeface="Arial"/>
              </a:defRPr>
            </a:pPr>
            <a:r>
              <a:rPr sz="2700" b="1">
                <a:solidFill>
                  <a:srgbClr val="1A1A1A"/>
                </a:solidFill>
                <a:latin typeface="Arial"/>
                <a:ea typeface="Arial"/>
                <a:cs typeface="Arial"/>
              </a:rPr>
              <a:t>MVCC: tuple versions and VACUUM</a:t>
            </a:r>
          </a:p>
        </p:txBody>
      </p:sp>
      <p:sp>
        <p:nvSpPr>
          <p:cNvPr id="4" name="diagram-180">
            <a:extLst>
              <a:ext uri="{FF2B5EF4-FFF2-40B4-BE49-F238E27FC236}">
                <a16:creationId xmlns:a16="http://schemas.microsoft.com/office/drawing/2014/main" id="{93737F32-70F6-4361-95DB-AF714A25E4B9}"/>
              </a:ext>
            </a:extLst>
          </p:cNvPr>
          <p:cNvSpPr>
            <a:spLocks noGrp="1"/>
          </p:cNvSpPr>
          <p:nvPr/>
        </p:nvSpPr>
        <p:spPr>
          <a:xfrm>
            <a:off x="666750" y="2085975"/>
            <a:ext cx="2286000" cy="1066800"/>
          </a:xfrm>
          <a:prstGeom prst="rect">
            <a:avLst/>
          </a:prstGeom>
          <a:solidFill>
            <a:srgbClr val="F8F6F3"/>
          </a:solidFill>
          <a:ln w="19050">
            <a:solidFill>
              <a:srgbClr val="171717"/>
            </a:solidFill>
          </a:ln>
        </p:spPr>
        <p:txBody>
          <a:bodyPr/>
          <a:lstStyle/>
          <a:p>
            <a:endParaRPr lang="pt-BR"/>
          </a:p>
        </p:txBody>
      </p:sp>
      <p:sp>
        <p:nvSpPr>
          <p:cNvPr id="5" name="text-181">
            <a:extLst>
              <a:ext uri="{FF2B5EF4-FFF2-40B4-BE49-F238E27FC236}">
                <a16:creationId xmlns:a16="http://schemas.microsoft.com/office/drawing/2014/main" id="{96B99521-FA15-4643-B40B-F3A7B31923B8}"/>
              </a:ext>
            </a:extLst>
          </p:cNvPr>
          <p:cNvSpPr>
            <a:spLocks noGrp="1"/>
          </p:cNvSpPr>
          <p:nvPr/>
        </p:nvSpPr>
        <p:spPr>
          <a:xfrm>
            <a:off x="819150" y="2209800"/>
            <a:ext cx="1981200" cy="300228"/>
          </a:xfrm>
          <a:prstGeom prst="rect">
            <a:avLst/>
          </a:prstGeom>
          <a:noFill/>
          <a:ln w="0">
            <a:noFill/>
          </a:ln>
        </p:spPr>
        <p:txBody>
          <a:bodyPr wrap="square" lIns="0" tIns="0" rIns="0" bIns="0">
            <a:noAutofit/>
          </a:bodyPr>
          <a:lstStyle/>
          <a:p>
            <a:pPr>
              <a:lnSpc>
                <a:spcPct val="106000"/>
              </a:lnSpc>
              <a:buNone/>
              <a:defRPr sz="1575" b="0">
                <a:solidFill>
                  <a:srgbClr val="706E6C"/>
                </a:solidFill>
                <a:latin typeface="Arial"/>
                <a:ea typeface="Arial"/>
                <a:cs typeface="Arial"/>
              </a:defRPr>
            </a:pPr>
            <a:r>
              <a:rPr sz="1575" b="0">
                <a:solidFill>
                  <a:srgbClr val="706E6C"/>
                </a:solidFill>
                <a:latin typeface="Arial"/>
                <a:ea typeface="Arial"/>
                <a:cs typeface="Arial"/>
              </a:rPr>
              <a:t>Current tuple</a:t>
            </a:r>
          </a:p>
        </p:txBody>
      </p:sp>
      <p:sp>
        <p:nvSpPr>
          <p:cNvPr id="6" name="text-182">
            <a:extLst>
              <a:ext uri="{FF2B5EF4-FFF2-40B4-BE49-F238E27FC236}">
                <a16:creationId xmlns:a16="http://schemas.microsoft.com/office/drawing/2014/main" id="{EE9CD057-1625-4E95-97EF-A74009DAFDAF}"/>
              </a:ext>
            </a:extLst>
          </p:cNvPr>
          <p:cNvSpPr>
            <a:spLocks noGrp="1"/>
          </p:cNvSpPr>
          <p:nvPr/>
        </p:nvSpPr>
        <p:spPr>
          <a:xfrm>
            <a:off x="819150" y="2543175"/>
            <a:ext cx="1981200" cy="428244"/>
          </a:xfrm>
          <a:prstGeom prst="rect">
            <a:avLst/>
          </a:prstGeom>
          <a:noFill/>
          <a:ln w="0">
            <a:noFill/>
          </a:ln>
        </p:spPr>
        <p:txBody>
          <a:bodyPr wrap="square" lIns="0" tIns="0" rIns="0" bIns="0">
            <a:noAutofit/>
          </a:bodyPr>
          <a:lstStyle/>
          <a:p>
            <a:pPr>
              <a:lnSpc>
                <a:spcPct val="106000"/>
              </a:lnSpc>
              <a:buNone/>
              <a:defRPr sz="2475" b="1">
                <a:solidFill>
                  <a:srgbClr val="171717"/>
                </a:solidFill>
                <a:latin typeface="Arial"/>
                <a:ea typeface="Arial"/>
                <a:cs typeface="Arial"/>
              </a:defRPr>
            </a:pPr>
            <a:r>
              <a:rPr sz="2475" b="1">
                <a:solidFill>
                  <a:srgbClr val="171717"/>
                </a:solidFill>
                <a:latin typeface="Arial"/>
                <a:ea typeface="Arial"/>
                <a:cs typeface="Arial"/>
              </a:rPr>
              <a:t>version 3</a:t>
            </a:r>
          </a:p>
        </p:txBody>
      </p:sp>
      <p:sp>
        <p:nvSpPr>
          <p:cNvPr id="7" name="diagram-183">
            <a:extLst>
              <a:ext uri="{FF2B5EF4-FFF2-40B4-BE49-F238E27FC236}">
                <a16:creationId xmlns:a16="http://schemas.microsoft.com/office/drawing/2014/main" id="{9EC4F62A-914E-4CD3-B3C0-70CD227640CC}"/>
              </a:ext>
            </a:extLst>
          </p:cNvPr>
          <p:cNvSpPr>
            <a:spLocks noGrp="1"/>
          </p:cNvSpPr>
          <p:nvPr/>
        </p:nvSpPr>
        <p:spPr>
          <a:xfrm>
            <a:off x="3381375" y="2085975"/>
            <a:ext cx="2286000" cy="1066800"/>
          </a:xfrm>
          <a:prstGeom prst="rect">
            <a:avLst/>
          </a:prstGeom>
          <a:solidFill>
            <a:srgbClr val="F8F6F3"/>
          </a:solidFill>
          <a:ln w="19050">
            <a:solidFill>
              <a:srgbClr val="171717"/>
            </a:solidFill>
          </a:ln>
        </p:spPr>
        <p:txBody>
          <a:bodyPr/>
          <a:lstStyle/>
          <a:p>
            <a:endParaRPr lang="pt-BR"/>
          </a:p>
        </p:txBody>
      </p:sp>
      <p:sp>
        <p:nvSpPr>
          <p:cNvPr id="8" name="text-184">
            <a:extLst>
              <a:ext uri="{FF2B5EF4-FFF2-40B4-BE49-F238E27FC236}">
                <a16:creationId xmlns:a16="http://schemas.microsoft.com/office/drawing/2014/main" id="{0EE31B1D-A220-4EB8-B05F-C132CB70CB10}"/>
              </a:ext>
            </a:extLst>
          </p:cNvPr>
          <p:cNvSpPr>
            <a:spLocks noGrp="1"/>
          </p:cNvSpPr>
          <p:nvPr/>
        </p:nvSpPr>
        <p:spPr>
          <a:xfrm>
            <a:off x="3533775" y="2209800"/>
            <a:ext cx="1981200" cy="300228"/>
          </a:xfrm>
          <a:prstGeom prst="rect">
            <a:avLst/>
          </a:prstGeom>
          <a:noFill/>
          <a:ln w="0">
            <a:noFill/>
          </a:ln>
        </p:spPr>
        <p:txBody>
          <a:bodyPr wrap="square" lIns="0" tIns="0" rIns="0" bIns="0">
            <a:noAutofit/>
          </a:bodyPr>
          <a:lstStyle/>
          <a:p>
            <a:pPr>
              <a:lnSpc>
                <a:spcPct val="106000"/>
              </a:lnSpc>
              <a:buNone/>
              <a:defRPr sz="1575" b="0">
                <a:solidFill>
                  <a:srgbClr val="706E6C"/>
                </a:solidFill>
                <a:latin typeface="Arial"/>
                <a:ea typeface="Arial"/>
                <a:cs typeface="Arial"/>
              </a:defRPr>
            </a:pPr>
            <a:r>
              <a:rPr sz="1575" b="0">
                <a:solidFill>
                  <a:srgbClr val="706E6C"/>
                </a:solidFill>
                <a:latin typeface="Arial"/>
                <a:ea typeface="Arial"/>
                <a:cs typeface="Arial"/>
              </a:rPr>
              <a:t>Older tuple</a:t>
            </a:r>
          </a:p>
        </p:txBody>
      </p:sp>
      <p:sp>
        <p:nvSpPr>
          <p:cNvPr id="9" name="text-185">
            <a:extLst>
              <a:ext uri="{FF2B5EF4-FFF2-40B4-BE49-F238E27FC236}">
                <a16:creationId xmlns:a16="http://schemas.microsoft.com/office/drawing/2014/main" id="{307261BC-DA25-42F8-A02C-63BDCE221CC9}"/>
              </a:ext>
            </a:extLst>
          </p:cNvPr>
          <p:cNvSpPr>
            <a:spLocks noGrp="1"/>
          </p:cNvSpPr>
          <p:nvPr/>
        </p:nvSpPr>
        <p:spPr>
          <a:xfrm>
            <a:off x="3533775" y="2543175"/>
            <a:ext cx="1981200" cy="428244"/>
          </a:xfrm>
          <a:prstGeom prst="rect">
            <a:avLst/>
          </a:prstGeom>
          <a:noFill/>
          <a:ln w="0">
            <a:noFill/>
          </a:ln>
        </p:spPr>
        <p:txBody>
          <a:bodyPr wrap="square" lIns="0" tIns="0" rIns="0" bIns="0">
            <a:noAutofit/>
          </a:bodyPr>
          <a:lstStyle/>
          <a:p>
            <a:pPr>
              <a:lnSpc>
                <a:spcPct val="106000"/>
              </a:lnSpc>
              <a:buNone/>
              <a:defRPr sz="2475" b="1">
                <a:solidFill>
                  <a:srgbClr val="171717"/>
                </a:solidFill>
                <a:latin typeface="Arial"/>
                <a:ea typeface="Arial"/>
                <a:cs typeface="Arial"/>
              </a:defRPr>
            </a:pPr>
            <a:r>
              <a:rPr sz="2475" b="1">
                <a:solidFill>
                  <a:srgbClr val="171717"/>
                </a:solidFill>
                <a:latin typeface="Arial"/>
                <a:ea typeface="Arial"/>
                <a:cs typeface="Arial"/>
              </a:rPr>
              <a:t>version 2</a:t>
            </a:r>
          </a:p>
        </p:txBody>
      </p:sp>
      <p:sp>
        <p:nvSpPr>
          <p:cNvPr id="10" name="diagram-186">
            <a:extLst>
              <a:ext uri="{FF2B5EF4-FFF2-40B4-BE49-F238E27FC236}">
                <a16:creationId xmlns:a16="http://schemas.microsoft.com/office/drawing/2014/main" id="{EAECE19E-3A02-4C7A-8208-7974E947A812}"/>
              </a:ext>
            </a:extLst>
          </p:cNvPr>
          <p:cNvSpPr>
            <a:spLocks noGrp="1"/>
          </p:cNvSpPr>
          <p:nvPr/>
        </p:nvSpPr>
        <p:spPr>
          <a:xfrm>
            <a:off x="6096000" y="2085975"/>
            <a:ext cx="2286000" cy="1066800"/>
          </a:xfrm>
          <a:prstGeom prst="rect">
            <a:avLst/>
          </a:prstGeom>
          <a:solidFill>
            <a:srgbClr val="F8F6F3"/>
          </a:solidFill>
          <a:ln w="19050">
            <a:solidFill>
              <a:srgbClr val="171717"/>
            </a:solidFill>
          </a:ln>
        </p:spPr>
        <p:txBody>
          <a:bodyPr/>
          <a:lstStyle/>
          <a:p>
            <a:endParaRPr lang="pt-BR"/>
          </a:p>
        </p:txBody>
      </p:sp>
      <p:sp>
        <p:nvSpPr>
          <p:cNvPr id="11" name="text-187">
            <a:extLst>
              <a:ext uri="{FF2B5EF4-FFF2-40B4-BE49-F238E27FC236}">
                <a16:creationId xmlns:a16="http://schemas.microsoft.com/office/drawing/2014/main" id="{7F35A6CB-16BB-45FF-BAFD-6D51C0671309}"/>
              </a:ext>
            </a:extLst>
          </p:cNvPr>
          <p:cNvSpPr>
            <a:spLocks noGrp="1"/>
          </p:cNvSpPr>
          <p:nvPr/>
        </p:nvSpPr>
        <p:spPr>
          <a:xfrm>
            <a:off x="6248400" y="2209800"/>
            <a:ext cx="1981200" cy="300228"/>
          </a:xfrm>
          <a:prstGeom prst="rect">
            <a:avLst/>
          </a:prstGeom>
          <a:noFill/>
          <a:ln w="0">
            <a:noFill/>
          </a:ln>
        </p:spPr>
        <p:txBody>
          <a:bodyPr wrap="square" lIns="0" tIns="0" rIns="0" bIns="0">
            <a:noAutofit/>
          </a:bodyPr>
          <a:lstStyle/>
          <a:p>
            <a:pPr>
              <a:lnSpc>
                <a:spcPct val="106000"/>
              </a:lnSpc>
              <a:buNone/>
              <a:defRPr sz="1575" b="0">
                <a:solidFill>
                  <a:srgbClr val="706E6C"/>
                </a:solidFill>
                <a:latin typeface="Arial"/>
                <a:ea typeface="Arial"/>
                <a:cs typeface="Arial"/>
              </a:defRPr>
            </a:pPr>
            <a:r>
              <a:rPr sz="1575" b="0">
                <a:solidFill>
                  <a:srgbClr val="706E6C"/>
                </a:solidFill>
                <a:latin typeface="Arial"/>
                <a:ea typeface="Arial"/>
                <a:cs typeface="Arial"/>
              </a:rPr>
              <a:t>Older tuple</a:t>
            </a:r>
          </a:p>
        </p:txBody>
      </p:sp>
      <p:sp>
        <p:nvSpPr>
          <p:cNvPr id="12" name="text-188">
            <a:extLst>
              <a:ext uri="{FF2B5EF4-FFF2-40B4-BE49-F238E27FC236}">
                <a16:creationId xmlns:a16="http://schemas.microsoft.com/office/drawing/2014/main" id="{AFBE5121-F16B-4D82-9D1E-B1F7B7F6D9F7}"/>
              </a:ext>
            </a:extLst>
          </p:cNvPr>
          <p:cNvSpPr>
            <a:spLocks noGrp="1"/>
          </p:cNvSpPr>
          <p:nvPr/>
        </p:nvSpPr>
        <p:spPr>
          <a:xfrm>
            <a:off x="6248400" y="2543175"/>
            <a:ext cx="1981200" cy="428244"/>
          </a:xfrm>
          <a:prstGeom prst="rect">
            <a:avLst/>
          </a:prstGeom>
          <a:noFill/>
          <a:ln w="0">
            <a:noFill/>
          </a:ln>
        </p:spPr>
        <p:txBody>
          <a:bodyPr wrap="square" lIns="0" tIns="0" rIns="0" bIns="0">
            <a:noAutofit/>
          </a:bodyPr>
          <a:lstStyle/>
          <a:p>
            <a:pPr>
              <a:lnSpc>
                <a:spcPct val="106000"/>
              </a:lnSpc>
              <a:buNone/>
              <a:defRPr sz="2475" b="1">
                <a:solidFill>
                  <a:srgbClr val="171717"/>
                </a:solidFill>
                <a:latin typeface="Arial"/>
                <a:ea typeface="Arial"/>
                <a:cs typeface="Arial"/>
              </a:defRPr>
            </a:pPr>
            <a:r>
              <a:rPr sz="2475" b="1">
                <a:solidFill>
                  <a:srgbClr val="171717"/>
                </a:solidFill>
                <a:latin typeface="Arial"/>
                <a:ea typeface="Arial"/>
                <a:cs typeface="Arial"/>
              </a:rPr>
              <a:t>version 1</a:t>
            </a:r>
          </a:p>
        </p:txBody>
      </p:sp>
      <p:sp>
        <p:nvSpPr>
          <p:cNvPr id="13" name="diagram-189">
            <a:extLst>
              <a:ext uri="{FF2B5EF4-FFF2-40B4-BE49-F238E27FC236}">
                <a16:creationId xmlns:a16="http://schemas.microsoft.com/office/drawing/2014/main" id="{975E4E4E-CEDF-4DC8-A37C-C4A1800741FB}"/>
              </a:ext>
            </a:extLst>
          </p:cNvPr>
          <p:cNvSpPr>
            <a:spLocks noGrp="1"/>
          </p:cNvSpPr>
          <p:nvPr/>
        </p:nvSpPr>
        <p:spPr>
          <a:xfrm>
            <a:off x="3009900" y="2609850"/>
            <a:ext cx="228600" cy="28575"/>
          </a:xfrm>
          <a:prstGeom prst="rect">
            <a:avLst/>
          </a:prstGeom>
          <a:solidFill>
            <a:srgbClr val="171717"/>
          </a:solidFill>
          <a:ln w="0">
            <a:noFill/>
          </a:ln>
        </p:spPr>
        <p:txBody>
          <a:bodyPr/>
          <a:lstStyle/>
          <a:p>
            <a:endParaRPr lang="pt-BR"/>
          </a:p>
        </p:txBody>
      </p:sp>
      <p:sp>
        <p:nvSpPr>
          <p:cNvPr id="14" name="arrow-190">
            <a:extLst>
              <a:ext uri="{FF2B5EF4-FFF2-40B4-BE49-F238E27FC236}">
                <a16:creationId xmlns:a16="http://schemas.microsoft.com/office/drawing/2014/main" id="{328AFE88-173F-43DB-89BE-8F8C2C187DF8}"/>
              </a:ext>
            </a:extLst>
          </p:cNvPr>
          <p:cNvSpPr>
            <a:spLocks noGrp="1"/>
          </p:cNvSpPr>
          <p:nvPr/>
        </p:nvSpPr>
        <p:spPr>
          <a:xfrm rot="5400000">
            <a:off x="3219450" y="2552700"/>
            <a:ext cx="133350" cy="152400"/>
          </a:xfrm>
          <a:prstGeom prst="triangle">
            <a:avLst/>
          </a:prstGeom>
          <a:solidFill>
            <a:srgbClr val="171717"/>
          </a:solidFill>
          <a:ln w="0">
            <a:noFill/>
          </a:ln>
        </p:spPr>
        <p:txBody>
          <a:bodyPr/>
          <a:lstStyle/>
          <a:p>
            <a:endParaRPr lang="pt-BR"/>
          </a:p>
        </p:txBody>
      </p:sp>
      <p:sp>
        <p:nvSpPr>
          <p:cNvPr id="15" name="diagram-191">
            <a:extLst>
              <a:ext uri="{FF2B5EF4-FFF2-40B4-BE49-F238E27FC236}">
                <a16:creationId xmlns:a16="http://schemas.microsoft.com/office/drawing/2014/main" id="{B1FD645D-3F43-402A-878B-D426CE5570AB}"/>
              </a:ext>
            </a:extLst>
          </p:cNvPr>
          <p:cNvSpPr>
            <a:spLocks noGrp="1"/>
          </p:cNvSpPr>
          <p:nvPr/>
        </p:nvSpPr>
        <p:spPr>
          <a:xfrm>
            <a:off x="5724525" y="2609850"/>
            <a:ext cx="228600" cy="28575"/>
          </a:xfrm>
          <a:prstGeom prst="rect">
            <a:avLst/>
          </a:prstGeom>
          <a:solidFill>
            <a:srgbClr val="171717"/>
          </a:solidFill>
          <a:ln w="0">
            <a:noFill/>
          </a:ln>
        </p:spPr>
        <p:txBody>
          <a:bodyPr/>
          <a:lstStyle/>
          <a:p>
            <a:endParaRPr lang="pt-BR"/>
          </a:p>
        </p:txBody>
      </p:sp>
      <p:sp>
        <p:nvSpPr>
          <p:cNvPr id="16" name="arrow-192">
            <a:extLst>
              <a:ext uri="{FF2B5EF4-FFF2-40B4-BE49-F238E27FC236}">
                <a16:creationId xmlns:a16="http://schemas.microsoft.com/office/drawing/2014/main" id="{68659027-94A3-4156-AC15-8C88FC976CAD}"/>
              </a:ext>
            </a:extLst>
          </p:cNvPr>
          <p:cNvSpPr>
            <a:spLocks noGrp="1"/>
          </p:cNvSpPr>
          <p:nvPr/>
        </p:nvSpPr>
        <p:spPr>
          <a:xfrm rot="5400000">
            <a:off x="5934075" y="2552700"/>
            <a:ext cx="133350" cy="152400"/>
          </a:xfrm>
          <a:prstGeom prst="triangle">
            <a:avLst/>
          </a:prstGeom>
          <a:solidFill>
            <a:srgbClr val="171717"/>
          </a:solidFill>
          <a:ln w="0">
            <a:noFill/>
          </a:ln>
        </p:spPr>
        <p:txBody>
          <a:bodyPr/>
          <a:lstStyle/>
          <a:p>
            <a:endParaRPr lang="pt-BR"/>
          </a:p>
        </p:txBody>
      </p:sp>
      <p:sp>
        <p:nvSpPr>
          <p:cNvPr id="17" name="text-193">
            <a:extLst>
              <a:ext uri="{FF2B5EF4-FFF2-40B4-BE49-F238E27FC236}">
                <a16:creationId xmlns:a16="http://schemas.microsoft.com/office/drawing/2014/main" id="{0CB34980-FD1C-4CB7-BCF0-E842C597A6B1}"/>
              </a:ext>
            </a:extLst>
          </p:cNvPr>
          <p:cNvSpPr>
            <a:spLocks noGrp="1"/>
          </p:cNvSpPr>
          <p:nvPr/>
        </p:nvSpPr>
        <p:spPr>
          <a:xfrm>
            <a:off x="952500" y="3486150"/>
            <a:ext cx="3048000" cy="364236"/>
          </a:xfrm>
          <a:prstGeom prst="rect">
            <a:avLst/>
          </a:prstGeom>
          <a:noFill/>
          <a:ln w="0">
            <a:noFill/>
          </a:ln>
        </p:spPr>
        <p:txBody>
          <a:bodyPr wrap="square" lIns="0" tIns="0" rIns="0" bIns="0">
            <a:noAutofit/>
          </a:bodyPr>
          <a:lstStyle/>
          <a:p>
            <a:pPr>
              <a:lnSpc>
                <a:spcPct val="106000"/>
              </a:lnSpc>
              <a:buNone/>
              <a:defRPr sz="2025" b="1">
                <a:solidFill>
                  <a:srgbClr val="171717"/>
                </a:solidFill>
                <a:latin typeface="Arial"/>
                <a:ea typeface="Arial"/>
                <a:cs typeface="Arial"/>
              </a:defRPr>
            </a:pPr>
            <a:r>
              <a:rPr sz="2025" b="1">
                <a:solidFill>
                  <a:srgbClr val="171717"/>
                </a:solidFill>
                <a:latin typeface="Arial"/>
                <a:ea typeface="Arial"/>
                <a:cs typeface="Arial"/>
              </a:rPr>
              <a:t>ROLLBACK</a:t>
            </a:r>
          </a:p>
        </p:txBody>
      </p:sp>
      <p:sp>
        <p:nvSpPr>
          <p:cNvPr id="18" name="text-194">
            <a:extLst>
              <a:ext uri="{FF2B5EF4-FFF2-40B4-BE49-F238E27FC236}">
                <a16:creationId xmlns:a16="http://schemas.microsoft.com/office/drawing/2014/main" id="{FEBD791A-DE6E-4EB9-9F4B-6D202A13C52E}"/>
              </a:ext>
            </a:extLst>
          </p:cNvPr>
          <p:cNvSpPr>
            <a:spLocks noGrp="1"/>
          </p:cNvSpPr>
          <p:nvPr/>
        </p:nvSpPr>
        <p:spPr>
          <a:xfrm>
            <a:off x="952500" y="3857625"/>
            <a:ext cx="3238500" cy="321564"/>
          </a:xfrm>
          <a:prstGeom prst="rect">
            <a:avLst/>
          </a:prstGeom>
          <a:noFill/>
          <a:ln w="0">
            <a:noFill/>
          </a:ln>
        </p:spPr>
        <p:txBody>
          <a:bodyPr wrap="square" lIns="0" tIns="0" rIns="0" bIns="0">
            <a:noAutofit/>
          </a:bodyPr>
          <a:lstStyle/>
          <a:p>
            <a:pPr>
              <a:lnSpc>
                <a:spcPct val="106000"/>
              </a:lnSpc>
              <a:buNone/>
              <a:defRPr sz="1725" b="0">
                <a:solidFill>
                  <a:srgbClr val="1A1A1A"/>
                </a:solidFill>
                <a:latin typeface="Arial"/>
                <a:ea typeface="Arial"/>
                <a:cs typeface="Arial"/>
              </a:defRPr>
            </a:pPr>
            <a:r>
              <a:rPr sz="1725" b="0">
                <a:solidFill>
                  <a:srgbClr val="1A1A1A"/>
                </a:solidFill>
                <a:latin typeface="Arial"/>
                <a:ea typeface="Arial"/>
                <a:cs typeface="Arial"/>
              </a:rPr>
              <a:t>Aborted changes stay invisible</a:t>
            </a:r>
          </a:p>
        </p:txBody>
      </p:sp>
      <p:sp>
        <p:nvSpPr>
          <p:cNvPr id="19" name="text-195">
            <a:extLst>
              <a:ext uri="{FF2B5EF4-FFF2-40B4-BE49-F238E27FC236}">
                <a16:creationId xmlns:a16="http://schemas.microsoft.com/office/drawing/2014/main" id="{0CF75EB5-2DA5-42C0-B8A5-CF8E272E5233}"/>
              </a:ext>
            </a:extLst>
          </p:cNvPr>
          <p:cNvSpPr>
            <a:spLocks noGrp="1"/>
          </p:cNvSpPr>
          <p:nvPr/>
        </p:nvSpPr>
        <p:spPr>
          <a:xfrm>
            <a:off x="5067300" y="3486150"/>
            <a:ext cx="3524250" cy="364236"/>
          </a:xfrm>
          <a:prstGeom prst="rect">
            <a:avLst/>
          </a:prstGeom>
          <a:noFill/>
          <a:ln w="0">
            <a:noFill/>
          </a:ln>
        </p:spPr>
        <p:txBody>
          <a:bodyPr wrap="square" lIns="0" tIns="0" rIns="0" bIns="0">
            <a:noAutofit/>
          </a:bodyPr>
          <a:lstStyle/>
          <a:p>
            <a:pPr>
              <a:lnSpc>
                <a:spcPct val="106000"/>
              </a:lnSpc>
              <a:buNone/>
              <a:defRPr sz="2025" b="1">
                <a:solidFill>
                  <a:srgbClr val="171717"/>
                </a:solidFill>
                <a:latin typeface="Arial"/>
                <a:ea typeface="Arial"/>
                <a:cs typeface="Arial"/>
              </a:defRPr>
            </a:pPr>
            <a:r>
              <a:rPr sz="2025" b="1">
                <a:solidFill>
                  <a:srgbClr val="171717"/>
                </a:solidFill>
                <a:latin typeface="Arial"/>
                <a:ea typeface="Arial"/>
                <a:cs typeface="Arial"/>
              </a:rPr>
              <a:t>SNAPSHOT READ</a:t>
            </a:r>
          </a:p>
        </p:txBody>
      </p:sp>
      <p:sp>
        <p:nvSpPr>
          <p:cNvPr id="20" name="text-196">
            <a:extLst>
              <a:ext uri="{FF2B5EF4-FFF2-40B4-BE49-F238E27FC236}">
                <a16:creationId xmlns:a16="http://schemas.microsoft.com/office/drawing/2014/main" id="{9E3D3907-9278-4D7A-AA74-9E55977ADFCA}"/>
              </a:ext>
            </a:extLst>
          </p:cNvPr>
          <p:cNvSpPr>
            <a:spLocks noGrp="1"/>
          </p:cNvSpPr>
          <p:nvPr/>
        </p:nvSpPr>
        <p:spPr>
          <a:xfrm>
            <a:off x="5067300" y="3857625"/>
            <a:ext cx="3524250" cy="321564"/>
          </a:xfrm>
          <a:prstGeom prst="rect">
            <a:avLst/>
          </a:prstGeom>
          <a:noFill/>
          <a:ln w="0">
            <a:noFill/>
          </a:ln>
        </p:spPr>
        <p:txBody>
          <a:bodyPr wrap="square" lIns="0" tIns="0" rIns="0" bIns="0">
            <a:noAutofit/>
          </a:bodyPr>
          <a:lstStyle/>
          <a:p>
            <a:pPr>
              <a:lnSpc>
                <a:spcPct val="106000"/>
              </a:lnSpc>
              <a:buNone/>
              <a:defRPr sz="1725" b="0">
                <a:solidFill>
                  <a:srgbClr val="1A1A1A"/>
                </a:solidFill>
                <a:latin typeface="Arial"/>
                <a:ea typeface="Arial"/>
                <a:cs typeface="Arial"/>
              </a:defRPr>
            </a:pPr>
            <a:r>
              <a:rPr sz="1725" b="0">
                <a:solidFill>
                  <a:srgbClr val="1A1A1A"/>
                </a:solidFill>
                <a:latin typeface="Arial"/>
                <a:ea typeface="Arial"/>
                <a:cs typeface="Arial"/>
              </a:rPr>
              <a:t>Choose a visible tuple version</a:t>
            </a:r>
          </a:p>
        </p:txBody>
      </p:sp>
      <p:sp>
        <p:nvSpPr>
          <p:cNvPr id="21" name="text-197">
            <a:extLst>
              <a:ext uri="{FF2B5EF4-FFF2-40B4-BE49-F238E27FC236}">
                <a16:creationId xmlns:a16="http://schemas.microsoft.com/office/drawing/2014/main" id="{7B9FE8A4-FFF6-4E67-9670-237B1C1F0AAC}"/>
              </a:ext>
            </a:extLst>
          </p:cNvPr>
          <p:cNvSpPr>
            <a:spLocks noGrp="1"/>
          </p:cNvSpPr>
          <p:nvPr/>
        </p:nvSpPr>
        <p:spPr>
          <a:xfrm>
            <a:off x="457200" y="4552950"/>
            <a:ext cx="7953375" cy="278892"/>
          </a:xfrm>
          <a:prstGeom prst="rect">
            <a:avLst/>
          </a:prstGeom>
          <a:noFill/>
          <a:ln w="0">
            <a:noFill/>
          </a:ln>
        </p:spPr>
        <p:txBody>
          <a:bodyPr wrap="square" lIns="0" tIns="0" rIns="0" bIns="0">
            <a:noAutofit/>
          </a:bodyPr>
          <a:lstStyle/>
          <a:p>
            <a:pPr>
              <a:lnSpc>
                <a:spcPct val="106000"/>
              </a:lnSpc>
              <a:buNone/>
              <a:defRPr sz="1425" b="0">
                <a:solidFill>
                  <a:srgbClr val="706E6C"/>
                </a:solidFill>
                <a:latin typeface="Arial"/>
                <a:ea typeface="Arial"/>
                <a:cs typeface="Arial"/>
              </a:defRPr>
            </a:pPr>
            <a:r>
              <a:rPr sz="1425" b="0">
                <a:solidFill>
                  <a:srgbClr val="706E6C"/>
                </a:solidFill>
                <a:latin typeface="Arial"/>
                <a:ea typeface="Arial"/>
                <a:cs typeface="Arial"/>
              </a:rPr>
              <a:t>Long snapshots delay cleanup. VACUUM reclaims versions no snapshot needs.</a:t>
            </a:r>
          </a:p>
        </p:txBody>
      </p:sp>
      <p:sp>
        <p:nvSpPr>
          <p:cNvPr id="9513"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13</a:t>
            </a:r>
          </a:p>
        </p:txBody>
      </p:sp>
    </p:spTree>
    <p:extLst>
      <p:ext uri="{BB962C8B-B14F-4D97-AF65-F5344CB8AC3E}">
        <p14:creationId xmlns:p14="http://schemas.microsoft.com/office/powerpoint/2010/main" val="123173110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457200" y="239275"/>
            <a:ext cx="952500" cy="216776"/>
          </a:xfrm>
          <a:prstGeom prst="rect">
            <a:avLst/>
          </a:prstGeom>
        </p:spPr>
      </p:pic>
      <p:sp>
        <p:nvSpPr>
          <p:cNvPr id="3" name="Slide title">
            <a:extLst>
              <a:ext uri="{FF2B5EF4-FFF2-40B4-BE49-F238E27FC236}">
                <a16:creationId xmlns:a16="http://schemas.microsoft.com/office/drawing/2014/main" id="{0633744A-D945-47BE-AD08-FB5900304D3B}"/>
              </a:ext>
            </a:extLst>
          </p:cNvPr>
          <p:cNvSpPr>
            <a:spLocks noGrp="1"/>
          </p:cNvSpPr>
          <p:nvPr/>
        </p:nvSpPr>
        <p:spPr>
          <a:xfrm>
            <a:off x="457200" y="790575"/>
            <a:ext cx="8229600" cy="460248"/>
          </a:xfrm>
          <a:prstGeom prst="rect">
            <a:avLst/>
          </a:prstGeom>
          <a:noFill/>
          <a:ln w="0">
            <a:noFill/>
          </a:ln>
        </p:spPr>
        <p:txBody>
          <a:bodyPr wrap="none" lIns="0" tIns="0" rIns="0" bIns="0">
            <a:noAutofit/>
          </a:bodyPr>
          <a:lstStyle/>
          <a:p>
            <a:pPr>
              <a:lnSpc>
                <a:spcPct val="106000"/>
              </a:lnSpc>
              <a:buNone/>
              <a:defRPr sz="2700" b="1">
                <a:solidFill>
                  <a:srgbClr val="1A1A1A"/>
                </a:solidFill>
                <a:latin typeface="Arial"/>
                <a:ea typeface="Arial"/>
                <a:cs typeface="Arial"/>
              </a:defRPr>
            </a:pPr>
            <a:r>
              <a:rPr sz="2700" b="1">
                <a:solidFill>
                  <a:srgbClr val="1A1A1A"/>
                </a:solidFill>
                <a:latin typeface="Arial"/>
                <a:ea typeface="Arial"/>
                <a:cs typeface="Arial"/>
              </a:rPr>
              <a:t>Autocommit still means a transaction</a:t>
            </a:r>
          </a:p>
        </p:txBody>
      </p:sp>
      <p:sp>
        <p:nvSpPr>
          <p:cNvPr id="4" name="text-198">
            <a:extLst>
              <a:ext uri="{FF2B5EF4-FFF2-40B4-BE49-F238E27FC236}">
                <a16:creationId xmlns:a16="http://schemas.microsoft.com/office/drawing/2014/main" id="{9C767DA6-28DE-4B05-8DF0-BA290773D548}"/>
              </a:ext>
            </a:extLst>
          </p:cNvPr>
          <p:cNvSpPr>
            <a:spLocks noGrp="1"/>
          </p:cNvSpPr>
          <p:nvPr/>
        </p:nvSpPr>
        <p:spPr>
          <a:xfrm>
            <a:off x="457200" y="1914525"/>
            <a:ext cx="2476500" cy="342900"/>
          </a:xfrm>
          <a:prstGeom prst="rect">
            <a:avLst/>
          </a:prstGeom>
          <a:noFill/>
          <a:ln w="0">
            <a:noFill/>
          </a:ln>
        </p:spPr>
        <p:txBody>
          <a:bodyPr wrap="none" lIns="0" tIns="0" rIns="0" bIns="0">
            <a:noAutofit/>
          </a:bodyPr>
          <a:lstStyle/>
          <a:p>
            <a:pPr>
              <a:lnSpc>
                <a:spcPct val="106000"/>
              </a:lnSpc>
              <a:buNone/>
              <a:defRPr sz="1875" b="1">
                <a:solidFill>
                  <a:srgbClr val="171717"/>
                </a:solidFill>
                <a:latin typeface="Arial"/>
                <a:ea typeface="Arial"/>
                <a:cs typeface="Arial"/>
              </a:defRPr>
            </a:pPr>
            <a:r>
              <a:rPr sz="1875" b="1">
                <a:solidFill>
                  <a:srgbClr val="171717"/>
                </a:solidFill>
                <a:latin typeface="Arial"/>
                <a:ea typeface="Arial"/>
                <a:cs typeface="Arial"/>
              </a:rPr>
              <a:t>Autocommit</a:t>
            </a:r>
          </a:p>
        </p:txBody>
      </p:sp>
      <p:sp>
        <p:nvSpPr>
          <p:cNvPr id="5" name="text-199">
            <a:extLst>
              <a:ext uri="{FF2B5EF4-FFF2-40B4-BE49-F238E27FC236}">
                <a16:creationId xmlns:a16="http://schemas.microsoft.com/office/drawing/2014/main" id="{0A3CCF83-A788-41D0-9E7C-3222AE5C7412}"/>
              </a:ext>
            </a:extLst>
          </p:cNvPr>
          <p:cNvSpPr>
            <a:spLocks noGrp="1"/>
          </p:cNvSpPr>
          <p:nvPr/>
        </p:nvSpPr>
        <p:spPr>
          <a:xfrm>
            <a:off x="3143250" y="1914525"/>
            <a:ext cx="5486400" cy="332232"/>
          </a:xfrm>
          <a:prstGeom prst="rect">
            <a:avLst/>
          </a:prstGeom>
          <a:noFill/>
          <a:ln w="0">
            <a:noFill/>
          </a:ln>
        </p:spPr>
        <p:txBody>
          <a:bodyPr wrap="none" lIns="0" tIns="0" rIns="0" bIns="0">
            <a:noAutofit/>
          </a:bodyPr>
          <a:lstStyle/>
          <a:p>
            <a:pPr>
              <a:lnSpc>
                <a:spcPct val="106000"/>
              </a:lnSpc>
              <a:buNone/>
              <a:defRPr sz="1800" b="0">
                <a:solidFill>
                  <a:srgbClr val="1A1A1A"/>
                </a:solidFill>
                <a:latin typeface="Arial"/>
                <a:ea typeface="Arial"/>
                <a:cs typeface="Arial"/>
              </a:defRPr>
            </a:pPr>
            <a:r>
              <a:rPr sz="1800" b="0">
                <a:solidFill>
                  <a:srgbClr val="1A1A1A"/>
                </a:solidFill>
                <a:latin typeface="Arial"/>
                <a:ea typeface="Arial"/>
                <a:cs typeface="Arial"/>
              </a:rPr>
              <a:t>statement 1     COMMIT</a:t>
            </a:r>
          </a:p>
        </p:txBody>
      </p:sp>
      <p:sp>
        <p:nvSpPr>
          <p:cNvPr id="6" name="text-200">
            <a:extLst>
              <a:ext uri="{FF2B5EF4-FFF2-40B4-BE49-F238E27FC236}">
                <a16:creationId xmlns:a16="http://schemas.microsoft.com/office/drawing/2014/main" id="{A37BCCD6-A60F-4B90-9D50-6C0B3B7F0700}"/>
              </a:ext>
            </a:extLst>
          </p:cNvPr>
          <p:cNvSpPr>
            <a:spLocks noGrp="1"/>
          </p:cNvSpPr>
          <p:nvPr/>
        </p:nvSpPr>
        <p:spPr>
          <a:xfrm>
            <a:off x="457200" y="2705100"/>
            <a:ext cx="2476500" cy="342900"/>
          </a:xfrm>
          <a:prstGeom prst="rect">
            <a:avLst/>
          </a:prstGeom>
          <a:noFill/>
          <a:ln w="0">
            <a:noFill/>
          </a:ln>
        </p:spPr>
        <p:txBody>
          <a:bodyPr wrap="none" lIns="0" tIns="0" rIns="0" bIns="0">
            <a:noAutofit/>
          </a:bodyPr>
          <a:lstStyle/>
          <a:p>
            <a:endParaRPr/>
          </a:p>
        </p:txBody>
      </p:sp>
      <p:sp>
        <p:nvSpPr>
          <p:cNvPr id="7" name="text-201">
            <a:extLst>
              <a:ext uri="{FF2B5EF4-FFF2-40B4-BE49-F238E27FC236}">
                <a16:creationId xmlns:a16="http://schemas.microsoft.com/office/drawing/2014/main" id="{403E8296-8A1D-4E13-A1E4-16F1731FAFFD}"/>
              </a:ext>
            </a:extLst>
          </p:cNvPr>
          <p:cNvSpPr>
            <a:spLocks noGrp="1"/>
          </p:cNvSpPr>
          <p:nvPr/>
        </p:nvSpPr>
        <p:spPr>
          <a:xfrm>
            <a:off x="3143250" y="2705100"/>
            <a:ext cx="5486400" cy="332232"/>
          </a:xfrm>
          <a:prstGeom prst="rect">
            <a:avLst/>
          </a:prstGeom>
          <a:noFill/>
          <a:ln w="0">
            <a:noFill/>
          </a:ln>
        </p:spPr>
        <p:txBody>
          <a:bodyPr wrap="none" lIns="0" tIns="0" rIns="0" bIns="0">
            <a:noAutofit/>
          </a:bodyPr>
          <a:lstStyle/>
          <a:p>
            <a:pPr>
              <a:lnSpc>
                <a:spcPct val="106000"/>
              </a:lnSpc>
              <a:buNone/>
              <a:defRPr sz="1800" b="0">
                <a:solidFill>
                  <a:srgbClr val="1A1A1A"/>
                </a:solidFill>
                <a:latin typeface="Arial"/>
                <a:ea typeface="Arial"/>
                <a:cs typeface="Arial"/>
              </a:defRPr>
            </a:pPr>
            <a:r>
              <a:rPr sz="1800" b="0">
                <a:solidFill>
                  <a:srgbClr val="1A1A1A"/>
                </a:solidFill>
                <a:latin typeface="Arial"/>
                <a:ea typeface="Arial"/>
                <a:cs typeface="Arial"/>
              </a:rPr>
              <a:t>statement 2     COMMIT</a:t>
            </a:r>
          </a:p>
        </p:txBody>
      </p:sp>
      <p:sp>
        <p:nvSpPr>
          <p:cNvPr id="8" name="text-202">
            <a:extLst>
              <a:ext uri="{FF2B5EF4-FFF2-40B4-BE49-F238E27FC236}">
                <a16:creationId xmlns:a16="http://schemas.microsoft.com/office/drawing/2014/main" id="{CD5BB990-0975-4F66-B02B-C195309F3994}"/>
              </a:ext>
            </a:extLst>
          </p:cNvPr>
          <p:cNvSpPr>
            <a:spLocks noGrp="1"/>
          </p:cNvSpPr>
          <p:nvPr/>
        </p:nvSpPr>
        <p:spPr>
          <a:xfrm>
            <a:off x="457200" y="3495675"/>
            <a:ext cx="2476500" cy="342900"/>
          </a:xfrm>
          <a:prstGeom prst="rect">
            <a:avLst/>
          </a:prstGeom>
          <a:noFill/>
          <a:ln w="0">
            <a:noFill/>
          </a:ln>
        </p:spPr>
        <p:txBody>
          <a:bodyPr wrap="none" lIns="0" tIns="0" rIns="0" bIns="0">
            <a:noAutofit/>
          </a:bodyPr>
          <a:lstStyle/>
          <a:p>
            <a:pPr>
              <a:lnSpc>
                <a:spcPct val="106000"/>
              </a:lnSpc>
              <a:buNone/>
              <a:defRPr sz="1875" b="1">
                <a:solidFill>
                  <a:srgbClr val="171717"/>
                </a:solidFill>
                <a:latin typeface="Arial"/>
                <a:ea typeface="Arial"/>
                <a:cs typeface="Arial"/>
              </a:defRPr>
            </a:pPr>
            <a:r>
              <a:rPr sz="1875" b="1">
                <a:solidFill>
                  <a:srgbClr val="171717"/>
                </a:solidFill>
                <a:latin typeface="Arial"/>
                <a:ea typeface="Arial"/>
                <a:cs typeface="Arial"/>
              </a:rPr>
              <a:t>Explicit transaction</a:t>
            </a:r>
          </a:p>
        </p:txBody>
      </p:sp>
      <p:sp>
        <p:nvSpPr>
          <p:cNvPr id="9" name="text-203">
            <a:extLst>
              <a:ext uri="{FF2B5EF4-FFF2-40B4-BE49-F238E27FC236}">
                <a16:creationId xmlns:a16="http://schemas.microsoft.com/office/drawing/2014/main" id="{6529D3F5-83C7-43EA-88FC-28A9FC6AB40F}"/>
              </a:ext>
            </a:extLst>
          </p:cNvPr>
          <p:cNvSpPr>
            <a:spLocks noGrp="1"/>
          </p:cNvSpPr>
          <p:nvPr/>
        </p:nvSpPr>
        <p:spPr>
          <a:xfrm>
            <a:off x="3143250" y="3495675"/>
            <a:ext cx="5486400" cy="332232"/>
          </a:xfrm>
          <a:prstGeom prst="rect">
            <a:avLst/>
          </a:prstGeom>
          <a:noFill/>
          <a:ln w="0">
            <a:noFill/>
          </a:ln>
        </p:spPr>
        <p:txBody>
          <a:bodyPr wrap="none" lIns="0" tIns="0" rIns="0" bIns="0">
            <a:noAutofit/>
          </a:bodyPr>
          <a:lstStyle/>
          <a:p>
            <a:pPr>
              <a:lnSpc>
                <a:spcPct val="106000"/>
              </a:lnSpc>
              <a:buNone/>
              <a:defRPr sz="1800" b="0">
                <a:solidFill>
                  <a:srgbClr val="1A1A1A"/>
                </a:solidFill>
                <a:latin typeface="Arial"/>
                <a:ea typeface="Arial"/>
                <a:cs typeface="Arial"/>
              </a:defRPr>
            </a:pPr>
            <a:r>
              <a:rPr sz="1800" b="0">
                <a:solidFill>
                  <a:srgbClr val="1A1A1A"/>
                </a:solidFill>
                <a:latin typeface="Arial"/>
                <a:ea typeface="Arial"/>
                <a:cs typeface="Arial"/>
              </a:rPr>
              <a:t>BEGIN    statement 1    statement 2    COMMIT</a:t>
            </a:r>
          </a:p>
        </p:txBody>
      </p:sp>
      <p:sp>
        <p:nvSpPr>
          <p:cNvPr id="10" name="text-204">
            <a:extLst>
              <a:ext uri="{FF2B5EF4-FFF2-40B4-BE49-F238E27FC236}">
                <a16:creationId xmlns:a16="http://schemas.microsoft.com/office/drawing/2014/main" id="{15333DE2-B643-4953-94ED-BE1261977A45}"/>
              </a:ext>
            </a:extLst>
          </p:cNvPr>
          <p:cNvSpPr>
            <a:spLocks noGrp="1"/>
          </p:cNvSpPr>
          <p:nvPr/>
        </p:nvSpPr>
        <p:spPr>
          <a:xfrm>
            <a:off x="457200" y="4552950"/>
            <a:ext cx="7953375" cy="278892"/>
          </a:xfrm>
          <a:prstGeom prst="rect">
            <a:avLst/>
          </a:prstGeom>
          <a:noFill/>
          <a:ln w="0">
            <a:noFill/>
          </a:ln>
        </p:spPr>
        <p:txBody>
          <a:bodyPr wrap="square" lIns="0" tIns="0" rIns="0" bIns="0">
            <a:noAutofit/>
          </a:bodyPr>
          <a:lstStyle/>
          <a:p>
            <a:pPr>
              <a:lnSpc>
                <a:spcPct val="106000"/>
              </a:lnSpc>
              <a:buNone/>
              <a:defRPr sz="1425" b="0">
                <a:solidFill>
                  <a:srgbClr val="706E6C"/>
                </a:solidFill>
                <a:latin typeface="Arial"/>
                <a:ea typeface="Arial"/>
                <a:cs typeface="Arial"/>
              </a:defRPr>
            </a:pPr>
            <a:r>
              <a:rPr sz="1425" b="0">
                <a:solidFill>
                  <a:srgbClr val="706E6C"/>
                </a:solidFill>
                <a:latin typeface="Arial"/>
                <a:ea typeface="Arial"/>
                <a:cs typeface="Arial"/>
              </a:rPr>
              <a:t>READ COMMITTED: a snapshot per statement. REPEATABLE READ: one per transaction.</a:t>
            </a:r>
          </a:p>
        </p:txBody>
      </p:sp>
      <p:sp>
        <p:nvSpPr>
          <p:cNvPr id="9514"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14</a:t>
            </a:r>
          </a:p>
        </p:txBody>
      </p:sp>
    </p:spTree>
    <p:extLst>
      <p:ext uri="{BB962C8B-B14F-4D97-AF65-F5344CB8AC3E}">
        <p14:creationId xmlns:p14="http://schemas.microsoft.com/office/powerpoint/2010/main" val="78358195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p:cNvGrpSpPr/>
        <p:nvPr/>
      </p:nvGrpSpPr>
      <p:grpSpPr>
        <a:xfrm>
          <a:off x="0" y="0"/>
          <a:ext cx="0" cy="0"/>
          <a:chOff x="0" y="0"/>
          <a:chExt cx="0" cy="0"/>
        </a:xfrm>
      </p:grpSpPr>
      <p:pic>
        <p:nvPicPr>
          <p:cNvPr id="7" name="Readyset logo" descr="Readyset logo"/>
          <p:cNvPicPr>
            <a:picLocks noChangeAspect="1"/>
          </p:cNvPicPr>
          <p:nvPr/>
        </p:nvPicPr>
        <p:blipFill>
          <a:blip r:embed="rId3"/>
          <a:stretch/>
        </p:blipFill>
        <p:spPr>
          <a:xfrm>
            <a:off x="457200" y="238132"/>
            <a:ext cx="952500" cy="216776"/>
          </a:xfrm>
          <a:prstGeom prst="rect">
            <a:avLst/>
          </a:prstGeom>
        </p:spPr>
      </p:pic>
      <p:sp>
        <p:nvSpPr>
          <p:cNvPr id="4" name="Slide title">
            <a:extLst>
              <a:ext uri="{FF2B5EF4-FFF2-40B4-BE49-F238E27FC236}">
                <a16:creationId xmlns:a16="http://schemas.microsoft.com/office/drawing/2014/main" id="{961C9B7B-B1B5-4FBB-9C2E-685AEEBAEAE4}"/>
              </a:ext>
            </a:extLst>
          </p:cNvPr>
          <p:cNvSpPr>
            <a:spLocks noGrp="1"/>
          </p:cNvSpPr>
          <p:nvPr/>
        </p:nvSpPr>
        <p:spPr>
          <a:xfrm>
            <a:off x="457200" y="2038350"/>
            <a:ext cx="5905500" cy="1476375"/>
          </a:xfrm>
          <a:prstGeom prst="rect">
            <a:avLst/>
          </a:prstGeom>
          <a:noFill/>
          <a:ln w="0">
            <a:noFill/>
          </a:ln>
        </p:spPr>
        <p:txBody>
          <a:bodyPr wrap="none" lIns="0" tIns="0" rIns="0" bIns="0">
            <a:noAutofit/>
          </a:bodyPr>
          <a:lstStyle/>
          <a:p>
            <a:pPr>
              <a:lnSpc>
                <a:spcPct val="110000"/>
              </a:lnSpc>
              <a:buNone/>
              <a:defRPr sz="4275" b="1">
                <a:solidFill>
                  <a:srgbClr val="EDEDEC"/>
                </a:solidFill>
                <a:latin typeface="Arial"/>
                <a:ea typeface="Arial"/>
                <a:cs typeface="Arial"/>
              </a:defRPr>
            </a:pPr>
            <a:r>
              <a:rPr sz="4275" b="1">
                <a:solidFill>
                  <a:srgbClr val="EDEDEC"/>
                </a:solidFill>
                <a:latin typeface="Arial"/>
                <a:ea typeface="Arial"/>
                <a:cs typeface="Arial"/>
              </a:rPr>
              <a:t>Isolation levels</a:t>
            </a:r>
          </a:p>
        </p:txBody>
      </p:sp>
      <p:sp>
        <p:nvSpPr>
          <p:cNvPr id="5" name="Section explanation">
            <a:extLst>
              <a:ext uri="{FF2B5EF4-FFF2-40B4-BE49-F238E27FC236}">
                <a16:creationId xmlns:a16="http://schemas.microsoft.com/office/drawing/2014/main" id="{E73C6BE2-2CD0-48A1-AD66-11776E44D04C}"/>
              </a:ext>
            </a:extLst>
          </p:cNvPr>
          <p:cNvSpPr>
            <a:spLocks noGrp="1"/>
          </p:cNvSpPr>
          <p:nvPr/>
        </p:nvSpPr>
        <p:spPr>
          <a:xfrm>
            <a:off x="476250" y="3705225"/>
            <a:ext cx="5905500" cy="341948"/>
          </a:xfrm>
          <a:prstGeom prst="rect">
            <a:avLst/>
          </a:prstGeom>
          <a:noFill/>
          <a:ln w="0">
            <a:noFill/>
          </a:ln>
        </p:spPr>
        <p:txBody>
          <a:bodyPr wrap="square" lIns="0" tIns="0" rIns="0" bIns="0">
            <a:noAutofit/>
          </a:bodyPr>
          <a:lstStyle/>
          <a:p>
            <a:pPr>
              <a:lnSpc>
                <a:spcPct val="110000"/>
              </a:lnSpc>
              <a:buNone/>
              <a:defRPr sz="1950" b="0">
                <a:solidFill>
                  <a:srgbClr val="C8C5C1"/>
                </a:solidFill>
                <a:latin typeface="Arial"/>
                <a:ea typeface="Arial"/>
                <a:cs typeface="Arial"/>
              </a:defRPr>
            </a:pPr>
            <a:r>
              <a:rPr sz="1950" b="0">
                <a:solidFill>
                  <a:srgbClr val="C8C5C1"/>
                </a:solidFill>
                <a:latin typeface="Arial"/>
                <a:ea typeface="Arial"/>
                <a:cs typeface="Arial"/>
              </a:rPr>
              <a:t>Statement snapshots, transaction snapshots, and serialization failures</a:t>
            </a:r>
          </a:p>
        </p:txBody>
      </p:sp>
      <p:pic>
        <p:nvPicPr>
          <p:cNvPr id="12" name="Section glyph" descr="Section glyph"/>
          <p:cNvPicPr>
            <a:picLocks noChangeAspect="1"/>
          </p:cNvPicPr>
          <p:nvPr/>
        </p:nvPicPr>
        <p:blipFill>
          <a:blip r:embed="rId4"/>
          <a:stretch/>
        </p:blipFill>
        <p:spPr>
          <a:xfrm>
            <a:off x="6905625" y="1823085"/>
            <a:ext cx="1619250" cy="1554480"/>
          </a:xfrm>
          <a:prstGeom prst="rect">
            <a:avLst/>
          </a:prstGeom>
        </p:spPr>
      </p:pic>
      <p:sp>
        <p:nvSpPr>
          <p:cNvPr id="9515"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15</a:t>
            </a:r>
          </a:p>
        </p:txBody>
      </p:sp>
    </p:spTree>
    <p:extLst>
      <p:ext uri="{BB962C8B-B14F-4D97-AF65-F5344CB8AC3E}">
        <p14:creationId xmlns:p14="http://schemas.microsoft.com/office/powerpoint/2010/main" val="21032636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set>
                                      <p:cBhvr>
                                        <p:cTn id="8" dur="1" fill="hold">
                                          <p:stCondLst>
                                            <p:cond delay="0"/>
                                          </p:stCondLst>
                                        </p:cTn>
                                        <p:tgtEl>
                                          <p:spTgt spid="12"/>
                                        </p:tgtEl>
                                        <p:attrNameLst>
                                          <p:attrName>style.visibility</p:attrName>
                                        </p:attrNameLst>
                                      </p:cBhvr>
                                      <p:to>
                                        <p:strVal val="visible"/>
                                      </p:to>
                                    </p:set>
                                    <p:animEffect transition="in" filter="fade">
                                      <p:cBhvr>
                                        <p:cTn id="9" dur="3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p:blipFill>
        <p:spPr>
          <a:xfrm>
            <a:off x="457200" y="238125"/>
            <a:ext cx="952500" cy="219075"/>
          </a:xfrm>
          <a:prstGeom prst="rect">
            <a:avLst/>
          </a:prstGeom>
        </p:spPr>
      </p:pic>
      <p:sp>
        <p:nvSpPr>
          <p:cNvPr id="2" name="Rectangle 1">
            <a:extLst>
              <a:ext uri="{FF2B5EF4-FFF2-40B4-BE49-F238E27FC236}">
                <a16:creationId xmlns:a16="http://schemas.microsoft.com/office/drawing/2014/main" id="{ACEB144F-9AC5-461A-A2FD-CA0A6B612E4F}"/>
              </a:ext>
            </a:extLst>
          </p:cNvPr>
          <p:cNvSpPr>
            <a:spLocks noGrp="1"/>
          </p:cNvSpPr>
          <p:nvPr/>
        </p:nvSpPr>
        <p:spPr>
          <a:xfrm>
            <a:off x="457200" y="781050"/>
            <a:ext cx="8229600" cy="476250"/>
          </a:xfrm>
          <a:prstGeom prst="rect">
            <a:avLst/>
          </a:prstGeom>
          <a:noFill/>
          <a:ln w="0">
            <a:noFill/>
          </a:ln>
        </p:spPr>
        <p:txBody>
          <a:bodyPr wrap="square" lIns="0" tIns="0" rIns="0" bIns="0"/>
          <a:lstStyle>
            <a:defPPr>
              <a:defRPr sz="2400"/>
            </a:defPPr>
          </a:lstStyle>
          <a:p>
            <a:pPr>
              <a:buNone/>
              <a:defRPr sz="2400" b="1">
                <a:solidFill>
                  <a:srgbClr val="25232C"/>
                </a:solidFill>
                <a:latin typeface="Arial"/>
                <a:ea typeface="Arial"/>
                <a:cs typeface="Arial"/>
              </a:defRPr>
            </a:pPr>
            <a:r>
              <a:rPr sz="2400" b="1">
                <a:solidFill>
                  <a:srgbClr val="25232C"/>
                </a:solidFill>
                <a:latin typeface="Arial"/>
                <a:ea typeface="Arial"/>
                <a:cs typeface="Arial"/>
              </a:rPr>
              <a:t>Read Uncommitted behaves like Read Committed</a:t>
            </a:r>
          </a:p>
        </p:txBody>
      </p:sp>
      <p:pic>
        <p:nvPicPr>
          <p:cNvPr id="7" name="Read Uncommitted animated story" descr="Continuous PostgreSQL animation: ru. Starts automatically; hover to pause or replay.">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381000" y="1428750"/>
            <a:ext cx="8382000" cy="3143250"/>
          </a:xfrm>
          <a:prstGeom prst="rect">
            <a:avLst/>
          </a:prstGeom>
        </p:spPr>
      </p:pic>
      <p:sp>
        <p:nvSpPr>
          <p:cNvPr id="9516"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16</a:t>
            </a:r>
          </a:p>
        </p:txBody>
      </p:sp>
    </p:spTree>
    <p:extLst>
      <p:ext uri="{BB962C8B-B14F-4D97-AF65-F5344CB8AC3E}">
        <p14:creationId xmlns:p14="http://schemas.microsoft.com/office/powerpoint/2010/main" val="939685464"/>
      </p:ext>
    </p:extLst>
  </p:cSld>
  <p:clrMapOvr>
    <a:masterClrMapping/>
  </p:clrMapOvr>
  <p:timing>
    <p:tnLst>
      <p:par>
        <p:cTn id="1" dur="indefinite" restart="never" nodeType="tmRoot">
          <p:childTnLst>
            <p:video>
              <p:cMediaNode vol="80000">
                <p:cTn id="2" fill="hold" display="0">
                  <p:stCondLst>
                    <p:cond delay="0"/>
                  </p:stCondLst>
                </p:cTn>
                <p:tgtEl>
                  <p:spTgt spid="7"/>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p:blipFill>
        <p:spPr>
          <a:xfrm>
            <a:off x="457200" y="238125"/>
            <a:ext cx="952500" cy="219075"/>
          </a:xfrm>
          <a:prstGeom prst="rect">
            <a:avLst/>
          </a:prstGeom>
        </p:spPr>
      </p:pic>
      <p:sp>
        <p:nvSpPr>
          <p:cNvPr id="2" name="Rectangle 1">
            <a:extLst>
              <a:ext uri="{FF2B5EF4-FFF2-40B4-BE49-F238E27FC236}">
                <a16:creationId xmlns:a16="http://schemas.microsoft.com/office/drawing/2014/main" id="{FCB0A2FE-9E2E-4C03-A9B0-FA7D2B5FC1BC}"/>
              </a:ext>
            </a:extLst>
          </p:cNvPr>
          <p:cNvSpPr>
            <a:spLocks noGrp="1"/>
          </p:cNvSpPr>
          <p:nvPr/>
        </p:nvSpPr>
        <p:spPr>
          <a:xfrm>
            <a:off x="457200" y="781050"/>
            <a:ext cx="8229600" cy="476250"/>
          </a:xfrm>
          <a:prstGeom prst="rect">
            <a:avLst/>
          </a:prstGeom>
          <a:noFill/>
          <a:ln w="0">
            <a:noFill/>
          </a:ln>
        </p:spPr>
        <p:txBody>
          <a:bodyPr wrap="square" lIns="0" tIns="0" rIns="0" bIns="0"/>
          <a:lstStyle>
            <a:defPPr>
              <a:defRPr sz="2400"/>
            </a:defPPr>
          </a:lstStyle>
          <a:p>
            <a:pPr>
              <a:buNone/>
              <a:defRPr sz="2400" b="1">
                <a:solidFill>
                  <a:srgbClr val="25232C"/>
                </a:solidFill>
                <a:latin typeface="Arial"/>
                <a:ea typeface="Arial"/>
                <a:cs typeface="Arial"/>
              </a:defRPr>
            </a:pPr>
            <a:r>
              <a:rPr sz="2400" b="1">
                <a:solidFill>
                  <a:srgbClr val="25232C"/>
                </a:solidFill>
                <a:latin typeface="Arial"/>
                <a:ea typeface="Arial"/>
                <a:cs typeface="Arial"/>
              </a:rPr>
              <a:t>Read Committed: PostgreSQL’s default</a:t>
            </a:r>
          </a:p>
        </p:txBody>
      </p:sp>
      <p:pic>
        <p:nvPicPr>
          <p:cNvPr id="7" name="Read Committed animated story" descr="Continuous PostgreSQL animation: rc. Starts automatically; hover to pause or replay.">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381000" y="1428750"/>
            <a:ext cx="8382000" cy="3143250"/>
          </a:xfrm>
          <a:prstGeom prst="rect">
            <a:avLst/>
          </a:prstGeom>
        </p:spPr>
      </p:pic>
      <p:sp>
        <p:nvSpPr>
          <p:cNvPr id="9517"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17</a:t>
            </a:r>
          </a:p>
        </p:txBody>
      </p:sp>
    </p:spTree>
    <p:extLst>
      <p:ext uri="{BB962C8B-B14F-4D97-AF65-F5344CB8AC3E}">
        <p14:creationId xmlns:p14="http://schemas.microsoft.com/office/powerpoint/2010/main" val="1040377038"/>
      </p:ext>
    </p:extLst>
  </p:cSld>
  <p:clrMapOvr>
    <a:masterClrMapping/>
  </p:clrMapOvr>
  <p:timing>
    <p:tnLst>
      <p:par>
        <p:cTn id="1" dur="indefinite" restart="never" nodeType="tmRoot">
          <p:childTnLst>
            <p:video>
              <p:cMediaNode vol="80000">
                <p:cTn id="2" fill="hold" display="0">
                  <p:stCondLst>
                    <p:cond delay="0"/>
                  </p:stCondLst>
                </p:cTn>
                <p:tgtEl>
                  <p:spTgt spid="7"/>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p:blipFill>
        <p:spPr>
          <a:xfrm>
            <a:off x="457200" y="238125"/>
            <a:ext cx="952500" cy="219075"/>
          </a:xfrm>
          <a:prstGeom prst="rect">
            <a:avLst/>
          </a:prstGeom>
        </p:spPr>
      </p:pic>
      <p:sp>
        <p:nvSpPr>
          <p:cNvPr id="2" name="Rectangle 1">
            <a:extLst>
              <a:ext uri="{FF2B5EF4-FFF2-40B4-BE49-F238E27FC236}">
                <a16:creationId xmlns:a16="http://schemas.microsoft.com/office/drawing/2014/main" id="{0A157A1A-7DB6-4778-99AE-7447BDF11ECB}"/>
              </a:ext>
            </a:extLst>
          </p:cNvPr>
          <p:cNvSpPr>
            <a:spLocks noGrp="1"/>
          </p:cNvSpPr>
          <p:nvPr/>
        </p:nvSpPr>
        <p:spPr>
          <a:xfrm>
            <a:off x="457200" y="781050"/>
            <a:ext cx="8229600" cy="476250"/>
          </a:xfrm>
          <a:prstGeom prst="rect">
            <a:avLst/>
          </a:prstGeom>
          <a:noFill/>
          <a:ln w="0">
            <a:noFill/>
          </a:ln>
        </p:spPr>
        <p:txBody>
          <a:bodyPr wrap="square" lIns="0" tIns="0" rIns="0" bIns="0"/>
          <a:lstStyle>
            <a:defPPr>
              <a:defRPr sz="2400"/>
            </a:defPPr>
          </a:lstStyle>
          <a:p>
            <a:pPr>
              <a:buNone/>
              <a:defRPr sz="2400" b="1">
                <a:solidFill>
                  <a:srgbClr val="25232C"/>
                </a:solidFill>
                <a:latin typeface="Arial"/>
                <a:ea typeface="Arial"/>
                <a:cs typeface="Arial"/>
              </a:defRPr>
            </a:pPr>
            <a:r>
              <a:rPr sz="2400" b="1">
                <a:solidFill>
                  <a:srgbClr val="25232C"/>
                </a:solidFill>
                <a:latin typeface="Arial"/>
                <a:ea typeface="Arial"/>
                <a:cs typeface="Arial"/>
              </a:rPr>
              <a:t>Repeatable Read: a stable snapshot</a:t>
            </a:r>
          </a:p>
        </p:txBody>
      </p:sp>
      <p:pic>
        <p:nvPicPr>
          <p:cNvPr id="7" name="Repeatable Read animated story" descr="Continuous PostgreSQL animation: rr. Starts automatically; hover to pause or replay.">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381000" y="1428750"/>
            <a:ext cx="8382000" cy="3143250"/>
          </a:xfrm>
          <a:prstGeom prst="rect">
            <a:avLst/>
          </a:prstGeom>
        </p:spPr>
      </p:pic>
      <p:sp>
        <p:nvSpPr>
          <p:cNvPr id="9518"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18</a:t>
            </a:r>
          </a:p>
        </p:txBody>
      </p:sp>
    </p:spTree>
    <p:extLst>
      <p:ext uri="{BB962C8B-B14F-4D97-AF65-F5344CB8AC3E}">
        <p14:creationId xmlns:p14="http://schemas.microsoft.com/office/powerpoint/2010/main" val="464293435"/>
      </p:ext>
    </p:extLst>
  </p:cSld>
  <p:clrMapOvr>
    <a:masterClrMapping/>
  </p:clrMapOvr>
  <p:timing>
    <p:tnLst>
      <p:par>
        <p:cTn id="1" dur="indefinite" restart="never" nodeType="tmRoot">
          <p:childTnLst>
            <p:video>
              <p:cMediaNode vol="80000">
                <p:cTn id="2" fill="hold" display="0">
                  <p:stCondLst>
                    <p:cond delay="0"/>
                  </p:stCondLst>
                </p:cTn>
                <p:tgtEl>
                  <p:spTgt spid="7"/>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p:blipFill>
        <p:spPr>
          <a:xfrm>
            <a:off x="457200" y="238125"/>
            <a:ext cx="952500" cy="219075"/>
          </a:xfrm>
          <a:prstGeom prst="rect">
            <a:avLst/>
          </a:prstGeom>
        </p:spPr>
      </p:pic>
      <p:sp>
        <p:nvSpPr>
          <p:cNvPr id="2" name="Rectangle 1">
            <a:extLst>
              <a:ext uri="{FF2B5EF4-FFF2-40B4-BE49-F238E27FC236}">
                <a16:creationId xmlns:a16="http://schemas.microsoft.com/office/drawing/2014/main" id="{68F68446-9188-4ADA-9383-3EB1ABFC9A66}"/>
              </a:ext>
            </a:extLst>
          </p:cNvPr>
          <p:cNvSpPr>
            <a:spLocks noGrp="1"/>
          </p:cNvSpPr>
          <p:nvPr/>
        </p:nvSpPr>
        <p:spPr>
          <a:xfrm>
            <a:off x="457200" y="781050"/>
            <a:ext cx="8229600" cy="476250"/>
          </a:xfrm>
          <a:prstGeom prst="rect">
            <a:avLst/>
          </a:prstGeom>
          <a:noFill/>
          <a:ln w="0">
            <a:noFill/>
          </a:ln>
        </p:spPr>
        <p:txBody>
          <a:bodyPr wrap="square" lIns="0" tIns="0" rIns="0" bIns="0"/>
          <a:lstStyle>
            <a:defPPr>
              <a:defRPr sz="2400"/>
            </a:defPPr>
          </a:lstStyle>
          <a:p>
            <a:pPr>
              <a:buNone/>
              <a:defRPr sz="2400" b="1">
                <a:solidFill>
                  <a:srgbClr val="25232C"/>
                </a:solidFill>
                <a:latin typeface="Arial"/>
                <a:ea typeface="Arial"/>
                <a:cs typeface="Arial"/>
              </a:defRPr>
            </a:pPr>
            <a:r>
              <a:rPr sz="2400" b="1">
                <a:solidFill>
                  <a:srgbClr val="25232C"/>
                </a:solidFill>
                <a:latin typeface="Arial"/>
                <a:ea typeface="Arial"/>
                <a:cs typeface="Arial"/>
              </a:rPr>
              <a:t>Serializable: two bookings, one room</a:t>
            </a:r>
          </a:p>
        </p:txBody>
      </p:sp>
      <p:pic>
        <p:nvPicPr>
          <p:cNvPr id="7" name="Serializable animated story" descr="Continuous PostgreSQL animation: ssi. Starts automatically; hover to pause or replay.">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381000" y="1428750"/>
            <a:ext cx="8382000" cy="3143250"/>
          </a:xfrm>
          <a:prstGeom prst="rect">
            <a:avLst/>
          </a:prstGeom>
        </p:spPr>
      </p:pic>
      <p:sp>
        <p:nvSpPr>
          <p:cNvPr id="4" name="Rectangle 3">
            <a:extLst>
              <a:ext uri="{FF2B5EF4-FFF2-40B4-BE49-F238E27FC236}">
                <a16:creationId xmlns:a16="http://schemas.microsoft.com/office/drawing/2014/main" id="{CCD86F88-8B42-4EA5-8921-EF4136B817FD}"/>
              </a:ext>
            </a:extLst>
          </p:cNvPr>
          <p:cNvSpPr>
            <a:spLocks noGrp="1"/>
          </p:cNvSpPr>
          <p:nvPr/>
        </p:nvSpPr>
        <p:spPr>
          <a:xfrm>
            <a:off x="457200" y="4810125"/>
            <a:ext cx="7810500" cy="200000"/>
          </a:xfrm>
          <a:prstGeom prst="rect">
            <a:avLst/>
          </a:prstGeom>
          <a:noFill/>
          <a:ln w="0">
            <a:noFill/>
          </a:ln>
        </p:spPr>
        <p:txBody>
          <a:bodyPr wrap="square" lIns="0" tIns="0" rIns="0" bIns="0"/>
          <a:lstStyle/>
          <a:p>
            <a:pPr>
              <a:buNone/>
              <a:defRPr sz="900" b="1">
                <a:solidFill>
                  <a:srgbClr val="706E6C"/>
                </a:solidFill>
                <a:latin typeface="Arial"/>
                <a:ea typeface="Arial"/>
                <a:cs typeface="Arial"/>
              </a:defRPr>
            </a:pPr>
            <a:r>
              <a:rPr sz="900" b="1">
                <a:solidFill>
                  <a:srgbClr val="706E6C"/>
                </a:solidFill>
                <a:latin typeface="Arial"/>
                <a:ea typeface="Arial"/>
                <a:cs typeface="Arial"/>
              </a:rPr>
              <a:t>Local PostgreSQL 18.3 test. Animation timing is illustrative.</a:t>
            </a:r>
          </a:p>
        </p:txBody>
      </p:sp>
      <p:sp>
        <p:nvSpPr>
          <p:cNvPr id="9519"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19</a:t>
            </a:r>
          </a:p>
        </p:txBody>
      </p:sp>
    </p:spTree>
    <p:extLst>
      <p:ext uri="{BB962C8B-B14F-4D97-AF65-F5344CB8AC3E}">
        <p14:creationId xmlns:p14="http://schemas.microsoft.com/office/powerpoint/2010/main" val="820906282"/>
      </p:ext>
    </p:extLst>
  </p:cSld>
  <p:clrMapOvr>
    <a:masterClrMapping/>
  </p:clrMapOvr>
  <p:timing>
    <p:tnLst>
      <p:par>
        <p:cTn id="1" dur="indefinite" restart="never" nodeType="tmRoot">
          <p:childTnLst>
            <p:video>
              <p:cMediaNode vol="80000">
                <p:cTn id="2" fill="hold" display="0">
                  <p:stCondLst>
                    <p:cond delay="0"/>
                  </p:stCondLst>
                </p:cTn>
                <p:tgtEl>
                  <p:spTgt spid="7"/>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p:blipFill>
        <p:spPr>
          <a:xfrm>
            <a:off x="457200" y="239275"/>
            <a:ext cx="952500" cy="216776"/>
          </a:xfrm>
          <a:prstGeom prst="rect">
            <a:avLst/>
          </a:prstGeom>
        </p:spPr>
      </p:pic>
      <p:sp>
        <p:nvSpPr>
          <p:cNvPr id="3" name="Slide title">
            <a:extLst>
              <a:ext uri="{FF2B5EF4-FFF2-40B4-BE49-F238E27FC236}">
                <a16:creationId xmlns:a16="http://schemas.microsoft.com/office/drawing/2014/main" id="{EA1DE502-5636-4C9A-B45F-9E70161EE9E4}"/>
              </a:ext>
            </a:extLst>
          </p:cNvPr>
          <p:cNvSpPr>
            <a:spLocks noGrp="1"/>
          </p:cNvSpPr>
          <p:nvPr/>
        </p:nvSpPr>
        <p:spPr>
          <a:xfrm>
            <a:off x="457200" y="790575"/>
            <a:ext cx="8229600" cy="460248"/>
          </a:xfrm>
          <a:prstGeom prst="rect">
            <a:avLst/>
          </a:prstGeom>
          <a:noFill/>
          <a:ln w="0">
            <a:noFill/>
          </a:ln>
        </p:spPr>
        <p:txBody>
          <a:bodyPr wrap="square" lIns="0" tIns="0" rIns="0" bIns="0">
            <a:noAutofit/>
          </a:bodyPr>
          <a:lstStyle>
            <a:defPPr>
              <a:defRPr sz="2400"/>
            </a:defPPr>
          </a:lstStyle>
          <a:p>
            <a:pPr>
              <a:lnSpc>
                <a:spcPct val="106000"/>
              </a:lnSpc>
              <a:buNone/>
              <a:defRPr sz="2400" b="1">
                <a:solidFill>
                  <a:srgbClr val="1A1A1A"/>
                </a:solidFill>
                <a:latin typeface="Arial"/>
                <a:ea typeface="Arial"/>
                <a:cs typeface="Arial"/>
              </a:defRPr>
            </a:pPr>
            <a:r>
              <a:rPr sz="2400" b="1">
                <a:solidFill>
                  <a:srgbClr val="1A1A1A"/>
                </a:solidFill>
                <a:latin typeface="Arial"/>
                <a:ea typeface="Arial"/>
                <a:cs typeface="Arial"/>
              </a:rPr>
              <a:t>Physical standby: WAL replay and read snapshots</a:t>
            </a:r>
          </a:p>
        </p:txBody>
      </p:sp>
      <p:sp>
        <p:nvSpPr>
          <p:cNvPr id="4" name="diagram-748">
            <a:extLst>
              <a:ext uri="{FF2B5EF4-FFF2-40B4-BE49-F238E27FC236}">
                <a16:creationId xmlns:a16="http://schemas.microsoft.com/office/drawing/2014/main" id="{3C7E92B4-1D15-4C6B-BA31-6548392BC18B}"/>
              </a:ext>
            </a:extLst>
          </p:cNvPr>
          <p:cNvSpPr>
            <a:spLocks noGrp="1"/>
          </p:cNvSpPr>
          <p:nvPr/>
        </p:nvSpPr>
        <p:spPr>
          <a:xfrm>
            <a:off x="609600" y="2038350"/>
            <a:ext cx="3876675" cy="1066800"/>
          </a:xfrm>
          <a:prstGeom prst="rect">
            <a:avLst/>
          </a:prstGeom>
          <a:solidFill>
            <a:srgbClr val="F8F6F3"/>
          </a:solidFill>
          <a:ln w="19050">
            <a:solidFill>
              <a:srgbClr val="171717"/>
            </a:solidFill>
          </a:ln>
        </p:spPr>
        <p:txBody>
          <a:bodyPr/>
          <a:lstStyle/>
          <a:p>
            <a:endParaRPr lang="pt-BR"/>
          </a:p>
        </p:txBody>
      </p:sp>
      <p:sp>
        <p:nvSpPr>
          <p:cNvPr id="5" name="text-749">
            <a:extLst>
              <a:ext uri="{FF2B5EF4-FFF2-40B4-BE49-F238E27FC236}">
                <a16:creationId xmlns:a16="http://schemas.microsoft.com/office/drawing/2014/main" id="{BE452C92-6FF0-4AA2-A3B0-CBA6872F7A12}"/>
              </a:ext>
            </a:extLst>
          </p:cNvPr>
          <p:cNvSpPr>
            <a:spLocks noGrp="1"/>
          </p:cNvSpPr>
          <p:nvPr/>
        </p:nvSpPr>
        <p:spPr>
          <a:xfrm>
            <a:off x="762000" y="2162175"/>
            <a:ext cx="3571875" cy="300228"/>
          </a:xfrm>
          <a:prstGeom prst="rect">
            <a:avLst/>
          </a:prstGeom>
          <a:noFill/>
          <a:ln w="0">
            <a:noFill/>
          </a:ln>
        </p:spPr>
        <p:txBody>
          <a:bodyPr wrap="square" lIns="0" tIns="0" rIns="0" bIns="0">
            <a:noAutofit/>
          </a:bodyPr>
          <a:lstStyle/>
          <a:p>
            <a:pPr>
              <a:lnSpc>
                <a:spcPct val="106000"/>
              </a:lnSpc>
              <a:buNone/>
              <a:defRPr sz="1575" b="0">
                <a:solidFill>
                  <a:srgbClr val="706E6C"/>
                </a:solidFill>
                <a:latin typeface="Arial"/>
                <a:ea typeface="Arial"/>
                <a:cs typeface="Arial"/>
              </a:defRPr>
            </a:pPr>
            <a:r>
              <a:rPr sz="1575" b="0">
                <a:solidFill>
                  <a:srgbClr val="706E6C"/>
                </a:solidFill>
                <a:latin typeface="Arial"/>
                <a:ea typeface="Arial"/>
                <a:cs typeface="Arial"/>
              </a:rPr>
              <a:t>Recovery process</a:t>
            </a:r>
          </a:p>
        </p:txBody>
      </p:sp>
      <p:sp>
        <p:nvSpPr>
          <p:cNvPr id="6" name="text-750">
            <a:extLst>
              <a:ext uri="{FF2B5EF4-FFF2-40B4-BE49-F238E27FC236}">
                <a16:creationId xmlns:a16="http://schemas.microsoft.com/office/drawing/2014/main" id="{059A1778-8A4B-4E26-9A12-C18868B7D16E}"/>
              </a:ext>
            </a:extLst>
          </p:cNvPr>
          <p:cNvSpPr>
            <a:spLocks noGrp="1"/>
          </p:cNvSpPr>
          <p:nvPr/>
        </p:nvSpPr>
        <p:spPr>
          <a:xfrm>
            <a:off x="762000" y="2495550"/>
            <a:ext cx="3571875" cy="428244"/>
          </a:xfrm>
          <a:prstGeom prst="rect">
            <a:avLst/>
          </a:prstGeom>
          <a:noFill/>
          <a:ln w="0">
            <a:noFill/>
          </a:ln>
        </p:spPr>
        <p:txBody>
          <a:bodyPr wrap="square" lIns="0" tIns="0" rIns="0" bIns="0">
            <a:noAutofit/>
          </a:bodyPr>
          <a:lstStyle/>
          <a:p>
            <a:pPr>
              <a:lnSpc>
                <a:spcPct val="106000"/>
              </a:lnSpc>
              <a:buNone/>
              <a:defRPr sz="2475" b="1">
                <a:solidFill>
                  <a:srgbClr val="171717"/>
                </a:solidFill>
                <a:latin typeface="Arial"/>
                <a:ea typeface="Arial"/>
                <a:cs typeface="Arial"/>
              </a:defRPr>
            </a:pPr>
            <a:r>
              <a:rPr sz="2475" b="1">
                <a:solidFill>
                  <a:srgbClr val="171717"/>
                </a:solidFill>
                <a:latin typeface="Arial"/>
                <a:ea typeface="Arial"/>
                <a:cs typeface="Arial"/>
              </a:rPr>
              <a:t>WAL replay</a:t>
            </a:r>
          </a:p>
        </p:txBody>
      </p:sp>
      <p:sp>
        <p:nvSpPr>
          <p:cNvPr id="7" name="diagram-751">
            <a:extLst>
              <a:ext uri="{FF2B5EF4-FFF2-40B4-BE49-F238E27FC236}">
                <a16:creationId xmlns:a16="http://schemas.microsoft.com/office/drawing/2014/main" id="{279DFC15-CD97-49EF-8295-6D9E094B6B66}"/>
              </a:ext>
            </a:extLst>
          </p:cNvPr>
          <p:cNvSpPr>
            <a:spLocks noGrp="1"/>
          </p:cNvSpPr>
          <p:nvPr/>
        </p:nvSpPr>
        <p:spPr>
          <a:xfrm>
            <a:off x="4857750" y="2038350"/>
            <a:ext cx="3667125" cy="1066800"/>
          </a:xfrm>
          <a:prstGeom prst="rect">
            <a:avLst/>
          </a:prstGeom>
          <a:solidFill>
            <a:srgbClr val="F8F6F3"/>
          </a:solidFill>
          <a:ln w="19050">
            <a:solidFill>
              <a:srgbClr val="171717"/>
            </a:solidFill>
          </a:ln>
        </p:spPr>
        <p:txBody>
          <a:bodyPr/>
          <a:lstStyle/>
          <a:p>
            <a:endParaRPr lang="pt-BR"/>
          </a:p>
        </p:txBody>
      </p:sp>
      <p:sp>
        <p:nvSpPr>
          <p:cNvPr id="8" name="text-752">
            <a:extLst>
              <a:ext uri="{FF2B5EF4-FFF2-40B4-BE49-F238E27FC236}">
                <a16:creationId xmlns:a16="http://schemas.microsoft.com/office/drawing/2014/main" id="{B9911BC1-1BBC-49F3-B4F8-3960BB85DEA2}"/>
              </a:ext>
            </a:extLst>
          </p:cNvPr>
          <p:cNvSpPr>
            <a:spLocks noGrp="1"/>
          </p:cNvSpPr>
          <p:nvPr/>
        </p:nvSpPr>
        <p:spPr>
          <a:xfrm>
            <a:off x="5010150" y="2162175"/>
            <a:ext cx="3362325" cy="300228"/>
          </a:xfrm>
          <a:prstGeom prst="rect">
            <a:avLst/>
          </a:prstGeom>
          <a:noFill/>
          <a:ln w="0">
            <a:noFill/>
          </a:ln>
        </p:spPr>
        <p:txBody>
          <a:bodyPr wrap="square" lIns="0" tIns="0" rIns="0" bIns="0">
            <a:noAutofit/>
          </a:bodyPr>
          <a:lstStyle/>
          <a:p>
            <a:pPr>
              <a:lnSpc>
                <a:spcPct val="106000"/>
              </a:lnSpc>
              <a:buNone/>
              <a:defRPr sz="1575" b="0">
                <a:solidFill>
                  <a:srgbClr val="706E6C"/>
                </a:solidFill>
                <a:latin typeface="Arial"/>
                <a:ea typeface="Arial"/>
                <a:cs typeface="Arial"/>
              </a:defRPr>
            </a:pPr>
            <a:r>
              <a:rPr sz="1575" b="0">
                <a:solidFill>
                  <a:srgbClr val="706E6C"/>
                </a:solidFill>
                <a:latin typeface="Arial"/>
                <a:ea typeface="Arial"/>
                <a:cs typeface="Arial"/>
              </a:rPr>
              <a:t>Read-only client</a:t>
            </a:r>
          </a:p>
        </p:txBody>
      </p:sp>
      <p:sp>
        <p:nvSpPr>
          <p:cNvPr id="9" name="text-753">
            <a:extLst>
              <a:ext uri="{FF2B5EF4-FFF2-40B4-BE49-F238E27FC236}">
                <a16:creationId xmlns:a16="http://schemas.microsoft.com/office/drawing/2014/main" id="{265BC0B5-567F-4AF1-8C44-71542DB7F9C4}"/>
              </a:ext>
            </a:extLst>
          </p:cNvPr>
          <p:cNvSpPr>
            <a:spLocks noGrp="1"/>
          </p:cNvSpPr>
          <p:nvPr/>
        </p:nvSpPr>
        <p:spPr>
          <a:xfrm>
            <a:off x="5010150" y="2495550"/>
            <a:ext cx="3362325" cy="428244"/>
          </a:xfrm>
          <a:prstGeom prst="rect">
            <a:avLst/>
          </a:prstGeom>
          <a:noFill/>
          <a:ln w="0">
            <a:noFill/>
          </a:ln>
        </p:spPr>
        <p:txBody>
          <a:bodyPr wrap="square" lIns="0" tIns="0" rIns="0" bIns="0">
            <a:noAutofit/>
          </a:bodyPr>
          <a:lstStyle/>
          <a:p>
            <a:pPr>
              <a:lnSpc>
                <a:spcPct val="106000"/>
              </a:lnSpc>
              <a:buNone/>
              <a:defRPr sz="2475" b="1">
                <a:solidFill>
                  <a:srgbClr val="171717"/>
                </a:solidFill>
                <a:latin typeface="Arial"/>
                <a:ea typeface="Arial"/>
                <a:cs typeface="Arial"/>
              </a:defRPr>
            </a:pPr>
            <a:r>
              <a:rPr sz="2475" b="1">
                <a:solidFill>
                  <a:srgbClr val="171717"/>
                </a:solidFill>
                <a:latin typeface="Arial"/>
                <a:ea typeface="Arial"/>
                <a:cs typeface="Arial"/>
              </a:rPr>
              <a:t>RC or RR snapshot</a:t>
            </a:r>
          </a:p>
        </p:txBody>
      </p:sp>
      <p:sp>
        <p:nvSpPr>
          <p:cNvPr id="10" name="text-754">
            <a:extLst>
              <a:ext uri="{FF2B5EF4-FFF2-40B4-BE49-F238E27FC236}">
                <a16:creationId xmlns:a16="http://schemas.microsoft.com/office/drawing/2014/main" id="{988AAEE3-0098-44D2-9B5F-C2F80677445B}"/>
              </a:ext>
            </a:extLst>
          </p:cNvPr>
          <p:cNvSpPr>
            <a:spLocks noGrp="1"/>
          </p:cNvSpPr>
          <p:nvPr/>
        </p:nvSpPr>
        <p:spPr>
          <a:xfrm>
            <a:off x="609600" y="3381375"/>
            <a:ext cx="3876675" cy="332232"/>
          </a:xfrm>
          <a:prstGeom prst="rect">
            <a:avLst/>
          </a:prstGeom>
          <a:noFill/>
          <a:ln w="0">
            <a:noFill/>
          </a:ln>
        </p:spPr>
        <p:txBody>
          <a:bodyPr wrap="square" lIns="0" tIns="0" rIns="0" bIns="0">
            <a:noAutofit/>
          </a:bodyPr>
          <a:lstStyle/>
          <a:p>
            <a:pPr>
              <a:lnSpc>
                <a:spcPct val="106000"/>
              </a:lnSpc>
              <a:buNone/>
              <a:defRPr sz="1800" b="0">
                <a:solidFill>
                  <a:srgbClr val="1A1A1A"/>
                </a:solidFill>
                <a:latin typeface="Arial"/>
                <a:ea typeface="Arial"/>
                <a:cs typeface="Arial"/>
              </a:defRPr>
            </a:pPr>
            <a:r>
              <a:rPr sz="1800" b="0">
                <a:solidFill>
                  <a:srgbClr val="1A1A1A"/>
                </a:solidFill>
                <a:latin typeface="Arial"/>
                <a:ea typeface="Arial"/>
                <a:cs typeface="Arial"/>
              </a:rPr>
              <a:t>Visibility advances after commit replay</a:t>
            </a:r>
          </a:p>
        </p:txBody>
      </p:sp>
      <p:sp>
        <p:nvSpPr>
          <p:cNvPr id="11" name="text-755">
            <a:extLst>
              <a:ext uri="{FF2B5EF4-FFF2-40B4-BE49-F238E27FC236}">
                <a16:creationId xmlns:a16="http://schemas.microsoft.com/office/drawing/2014/main" id="{9A42B3BB-80BB-48BF-A5CA-0EE5382326D3}"/>
              </a:ext>
            </a:extLst>
          </p:cNvPr>
          <p:cNvSpPr>
            <a:spLocks noGrp="1"/>
          </p:cNvSpPr>
          <p:nvPr/>
        </p:nvSpPr>
        <p:spPr>
          <a:xfrm>
            <a:off x="4857750" y="3381375"/>
            <a:ext cx="3667125" cy="332232"/>
          </a:xfrm>
          <a:prstGeom prst="rect">
            <a:avLst/>
          </a:prstGeom>
          <a:noFill/>
          <a:ln w="0">
            <a:noFill/>
          </a:ln>
        </p:spPr>
        <p:txBody>
          <a:bodyPr wrap="square" lIns="0" tIns="0" rIns="0" bIns="0">
            <a:noAutofit/>
          </a:bodyPr>
          <a:lstStyle/>
          <a:p>
            <a:pPr>
              <a:lnSpc>
                <a:spcPct val="106000"/>
              </a:lnSpc>
              <a:buNone/>
              <a:defRPr sz="1800" b="0">
                <a:solidFill>
                  <a:srgbClr val="1A1A1A"/>
                </a:solidFill>
                <a:latin typeface="Arial"/>
                <a:ea typeface="Arial"/>
                <a:cs typeface="Arial"/>
              </a:defRPr>
            </a:pPr>
            <a:r>
              <a:rPr sz="1800" b="0">
                <a:solidFill>
                  <a:srgbClr val="1A1A1A"/>
                </a:solidFill>
                <a:latin typeface="Arial"/>
                <a:ea typeface="Arial"/>
                <a:cs typeface="Arial"/>
              </a:rPr>
              <a:t>A long snapshot can conflict with recovery</a:t>
            </a:r>
          </a:p>
        </p:txBody>
      </p:sp>
      <p:sp>
        <p:nvSpPr>
          <p:cNvPr id="12" name="text-756">
            <a:extLst>
              <a:ext uri="{FF2B5EF4-FFF2-40B4-BE49-F238E27FC236}">
                <a16:creationId xmlns:a16="http://schemas.microsoft.com/office/drawing/2014/main" id="{69DE696A-7E9C-4FF2-B819-37FE461E4F8A}"/>
              </a:ext>
            </a:extLst>
          </p:cNvPr>
          <p:cNvSpPr>
            <a:spLocks noGrp="1"/>
          </p:cNvSpPr>
          <p:nvPr/>
        </p:nvSpPr>
        <p:spPr>
          <a:xfrm>
            <a:off x="457200" y="4552950"/>
            <a:ext cx="7953375" cy="278892"/>
          </a:xfrm>
          <a:prstGeom prst="rect">
            <a:avLst/>
          </a:prstGeom>
          <a:noFill/>
          <a:ln w="0">
            <a:noFill/>
          </a:ln>
        </p:spPr>
        <p:txBody>
          <a:bodyPr wrap="square" lIns="0" tIns="0" rIns="0" bIns="0">
            <a:noAutofit/>
          </a:bodyPr>
          <a:lstStyle/>
          <a:p>
            <a:pPr>
              <a:lnSpc>
                <a:spcPct val="106000"/>
              </a:lnSpc>
              <a:buNone/>
              <a:defRPr sz="1425" b="0">
                <a:solidFill>
                  <a:srgbClr val="706E6C"/>
                </a:solidFill>
                <a:latin typeface="Arial"/>
                <a:ea typeface="Arial"/>
                <a:cs typeface="Arial"/>
              </a:defRPr>
            </a:pPr>
            <a:r>
              <a:rPr sz="1425" b="0" dirty="0">
                <a:solidFill>
                  <a:srgbClr val="706E6C"/>
                </a:solidFill>
                <a:latin typeface="Arial"/>
                <a:ea typeface="Arial"/>
                <a:cs typeface="Arial"/>
              </a:rPr>
              <a:t>Replay lag and snapshot age both matter.</a:t>
            </a:r>
          </a:p>
        </p:txBody>
      </p:sp>
      <p:sp>
        <p:nvSpPr>
          <p:cNvPr id="9520"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20</a:t>
            </a:r>
          </a:p>
        </p:txBody>
      </p:sp>
    </p:spTree>
    <p:extLst>
      <p:ext uri="{BB962C8B-B14F-4D97-AF65-F5344CB8AC3E}">
        <p14:creationId xmlns:p14="http://schemas.microsoft.com/office/powerpoint/2010/main" val="25757338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a:extLst>
            <a:ext uri="{FF2B5EF4-FFF2-40B4-BE49-F238E27FC236}">
              <a16:creationId xmlns:a16="http://schemas.microsoft.com/office/drawing/2014/main" id="{C7D80EB1-884C-4C1C-E1D3-BDE4334D5D2A}"/>
            </a:ext>
          </a:extLst>
        </p:cNvPr>
        <p:cNvGrpSpPr/>
        <p:nvPr/>
      </p:nvGrpSpPr>
      <p:grpSpPr>
        <a:xfrm>
          <a:off x="0" y="0"/>
          <a:ext cx="0" cy="0"/>
          <a:chOff x="0" y="0"/>
          <a:chExt cx="0" cy="0"/>
        </a:xfrm>
      </p:grpSpPr>
      <p:pic>
        <p:nvPicPr>
          <p:cNvPr id="7" name="Readyset logo" descr="Readyset logo">
            <a:extLst>
              <a:ext uri="{FF2B5EF4-FFF2-40B4-BE49-F238E27FC236}">
                <a16:creationId xmlns:a16="http://schemas.microsoft.com/office/drawing/2014/main" id="{C3ABE36F-7767-67EA-7B74-526E122F97F1}"/>
              </a:ext>
            </a:extLst>
          </p:cNvPr>
          <p:cNvPicPr>
            <a:picLocks noChangeAspect="1"/>
          </p:cNvPicPr>
          <p:nvPr/>
        </p:nvPicPr>
        <p:blipFill>
          <a:blip r:embed="rId3"/>
          <a:stretch/>
        </p:blipFill>
        <p:spPr>
          <a:xfrm>
            <a:off x="457200" y="238132"/>
            <a:ext cx="952500" cy="216776"/>
          </a:xfrm>
          <a:prstGeom prst="rect">
            <a:avLst/>
          </a:prstGeom>
        </p:spPr>
      </p:pic>
      <p:sp>
        <p:nvSpPr>
          <p:cNvPr id="4" name="Slide title">
            <a:extLst>
              <a:ext uri="{FF2B5EF4-FFF2-40B4-BE49-F238E27FC236}">
                <a16:creationId xmlns:a16="http://schemas.microsoft.com/office/drawing/2014/main" id="{E8DD2B6C-0800-A288-0095-E7353D036EBC}"/>
              </a:ext>
            </a:extLst>
          </p:cNvPr>
          <p:cNvSpPr>
            <a:spLocks noGrp="1"/>
          </p:cNvSpPr>
          <p:nvPr/>
        </p:nvSpPr>
        <p:spPr>
          <a:xfrm>
            <a:off x="457200" y="2038350"/>
            <a:ext cx="5905500" cy="1476375"/>
          </a:xfrm>
          <a:prstGeom prst="rect">
            <a:avLst/>
          </a:prstGeom>
          <a:noFill/>
          <a:ln w="0">
            <a:noFill/>
          </a:ln>
        </p:spPr>
        <p:txBody>
          <a:bodyPr wrap="none" lIns="0" tIns="0" rIns="0" bIns="0">
            <a:noAutofit/>
          </a:bodyPr>
          <a:lstStyle/>
          <a:p>
            <a:pPr>
              <a:lnSpc>
                <a:spcPct val="110000"/>
              </a:lnSpc>
              <a:buNone/>
              <a:defRPr sz="4275" b="1">
                <a:solidFill>
                  <a:srgbClr val="EDEDEC"/>
                </a:solidFill>
                <a:latin typeface="Arial"/>
                <a:ea typeface="Arial"/>
                <a:cs typeface="Arial"/>
              </a:defRPr>
            </a:pPr>
            <a:r>
              <a:rPr lang="pt-BR" sz="4275" b="1" dirty="0">
                <a:solidFill>
                  <a:srgbClr val="EDEDEC"/>
                </a:solidFill>
                <a:latin typeface="Arial"/>
                <a:ea typeface="Arial"/>
                <a:cs typeface="Arial"/>
              </a:rPr>
              <a:t>Readyset</a:t>
            </a:r>
            <a:endParaRPr lang="en-BR" sz="4275" b="1" dirty="0">
              <a:solidFill>
                <a:srgbClr val="EDEDEC"/>
              </a:solidFill>
              <a:latin typeface="Arial"/>
              <a:ea typeface="Arial"/>
              <a:cs typeface="Arial"/>
            </a:endParaRPr>
          </a:p>
        </p:txBody>
      </p:sp>
      <p:pic>
        <p:nvPicPr>
          <p:cNvPr id="12" name="Section glyph" descr="Section glyph">
            <a:extLst>
              <a:ext uri="{FF2B5EF4-FFF2-40B4-BE49-F238E27FC236}">
                <a16:creationId xmlns:a16="http://schemas.microsoft.com/office/drawing/2014/main" id="{4B75D405-1A47-2501-B2F7-AE4F643A3DA0}"/>
              </a:ext>
            </a:extLst>
          </p:cNvPr>
          <p:cNvPicPr>
            <a:picLocks noChangeAspect="1"/>
          </p:cNvPicPr>
          <p:nvPr/>
        </p:nvPicPr>
        <p:blipFill>
          <a:blip r:embed="rId4"/>
          <a:stretch/>
        </p:blipFill>
        <p:spPr>
          <a:xfrm>
            <a:off x="6905625" y="1823085"/>
            <a:ext cx="1619250" cy="1554480"/>
          </a:xfrm>
          <a:prstGeom prst="rect">
            <a:avLst/>
          </a:prstGeom>
        </p:spPr>
      </p:pic>
      <p:sp>
        <p:nvSpPr>
          <p:cNvPr id="9521"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21</a:t>
            </a:r>
          </a:p>
        </p:txBody>
      </p:sp>
    </p:spTree>
    <p:extLst>
      <p:ext uri="{BB962C8B-B14F-4D97-AF65-F5344CB8AC3E}">
        <p14:creationId xmlns:p14="http://schemas.microsoft.com/office/powerpoint/2010/main" val="389600516"/>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4"/>
        <p:cNvGrpSpPr/>
        <p:nvPr/>
      </p:nvGrpSpPr>
      <p:grpSpPr>
        <a:xfrm>
          <a:off x="0" y="0"/>
          <a:ext cx="0" cy="0"/>
          <a:chOff x="0" y="0"/>
          <a:chExt cx="0" cy="0"/>
        </a:xfrm>
      </p:grpSpPr>
      <p:sp>
        <p:nvSpPr>
          <p:cNvPr id="385" name="Google Shape;385;p21"/>
          <p:cNvSpPr/>
          <p:nvPr/>
        </p:nvSpPr>
        <p:spPr>
          <a:xfrm>
            <a:off x="457200" y="1523848"/>
            <a:ext cx="5153101" cy="866851"/>
          </a:xfrm>
          <a:prstGeom prst="roundRect">
            <a:avLst>
              <a:gd name="adj" fmla="val 6593"/>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386" name="Google Shape;386;p21"/>
          <p:cNvSpPr/>
          <p:nvPr/>
        </p:nvSpPr>
        <p:spPr>
          <a:xfrm>
            <a:off x="457200" y="2476653"/>
            <a:ext cx="5143500" cy="1047903"/>
          </a:xfrm>
          <a:prstGeom prst="roundRect">
            <a:avLst>
              <a:gd name="adj" fmla="val 5454"/>
            </a:avLst>
          </a:prstGeom>
          <a:solidFill>
            <a:srgbClr val="16161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387" name="Google Shape;387;p21"/>
          <p:cNvSpPr/>
          <p:nvPr/>
        </p:nvSpPr>
        <p:spPr>
          <a:xfrm>
            <a:off x="457200" y="3619653"/>
            <a:ext cx="5153101" cy="771754"/>
          </a:xfrm>
          <a:prstGeom prst="roundRect">
            <a:avLst>
              <a:gd name="adj" fmla="val 7405"/>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388" name="Google Shape;388;p21"/>
          <p:cNvSpPr/>
          <p:nvPr/>
        </p:nvSpPr>
        <p:spPr>
          <a:xfrm>
            <a:off x="5791353" y="1523848"/>
            <a:ext cx="2676449" cy="2486254"/>
          </a:xfrm>
          <a:prstGeom prst="roundRect">
            <a:avLst>
              <a:gd name="adj" fmla="val 2299"/>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389" name="Google Shape;389;p21"/>
          <p:cNvSpPr/>
          <p:nvPr/>
        </p:nvSpPr>
        <p:spPr>
          <a:xfrm>
            <a:off x="5791353" y="4095598"/>
            <a:ext cx="2666848" cy="476403"/>
          </a:xfrm>
          <a:prstGeom prst="roundRect">
            <a:avLst>
              <a:gd name="adj" fmla="val 11996"/>
            </a:avLst>
          </a:prstGeom>
          <a:solidFill>
            <a:srgbClr val="16161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390" name="Google Shape;390;p21"/>
          <p:cNvSpPr txBox="1"/>
          <p:nvPr/>
        </p:nvSpPr>
        <p:spPr>
          <a:xfrm>
            <a:off x="2000250" y="276225"/>
            <a:ext cx="6686550" cy="209550"/>
          </a:xfrm>
          <a:prstGeom prst="rect">
            <a:avLst/>
          </a:prstGeom>
          <a:noFill/>
          <a:ln>
            <a:noFill/>
          </a:ln>
        </p:spPr>
        <p:txBody>
          <a:bodyPr spcFirstLastPara="1" wrap="square" lIns="0" tIns="0" rIns="0" bIns="0" anchor="t" anchorCtr="0">
            <a:noAutofit/>
          </a:bodyPr>
          <a:lstStyle/>
          <a:p>
            <a:pPr algn="l">
              <a:buClr>
                <a:srgbClr val="999999"/>
              </a:buClr>
              <a:buSzPts val="1500"/>
            </a:pPr>
            <a:r>
              <a:rPr lang="en-US" sz="900" b="0">
                <a:solidFill>
                  <a:srgbClr val="666666"/>
                </a:solidFill>
                <a:latin typeface="Arial"/>
                <a:ea typeface="Arial"/>
                <a:cs typeface="Arial"/>
                <a:sym typeface="IBM Plex Mono"/>
              </a:rPr>
              <a:t>the alternative · readyset</a:t>
            </a:r>
            <a:endParaRPr sz="900" b="0">
              <a:solidFill>
                <a:srgbClr val="666666"/>
              </a:solidFill>
              <a:latin typeface="Arial"/>
              <a:ea typeface="Arial"/>
              <a:cs typeface="Arial"/>
              <a:sym typeface="Arial"/>
            </a:endParaRPr>
          </a:p>
        </p:txBody>
      </p:sp>
      <p:sp>
        <p:nvSpPr>
          <p:cNvPr id="392" name="Google Shape;392;p21"/>
          <p:cNvSpPr txBox="1"/>
          <p:nvPr/>
        </p:nvSpPr>
        <p:spPr>
          <a:xfrm>
            <a:off x="457200" y="790575"/>
            <a:ext cx="8229600" cy="457200"/>
          </a:xfrm>
          <a:prstGeom prst="rect">
            <a:avLst/>
          </a:prstGeom>
          <a:noFill/>
          <a:ln>
            <a:noFill/>
          </a:ln>
        </p:spPr>
        <p:txBody>
          <a:bodyPr spcFirstLastPara="1" wrap="square" lIns="0" tIns="0" rIns="0" bIns="0" anchor="t" anchorCtr="0">
            <a:noAutofit/>
          </a:bodyPr>
          <a:lstStyle/>
          <a:p>
            <a:pPr algn="l">
              <a:buClr>
                <a:srgbClr val="1A1A1A"/>
              </a:buClr>
              <a:buSzPts val="4500"/>
            </a:pPr>
            <a:r>
              <a:rPr lang="en-US" sz="2700" b="1">
                <a:solidFill>
                  <a:srgbClr val="171717"/>
                </a:solidFill>
                <a:latin typeface="Arial"/>
                <a:ea typeface="Arial"/>
                <a:cs typeface="Arial"/>
                <a:sym typeface="Arial"/>
              </a:rPr>
              <a:t>A decade of research. One problem.</a:t>
            </a:r>
            <a:endParaRPr sz="2700" b="1">
              <a:solidFill>
                <a:srgbClr val="171717"/>
              </a:solidFill>
              <a:latin typeface="Arial"/>
              <a:ea typeface="Arial"/>
              <a:cs typeface="Arial"/>
              <a:sym typeface="Arial"/>
            </a:endParaRPr>
          </a:p>
        </p:txBody>
      </p:sp>
      <p:sp>
        <p:nvSpPr>
          <p:cNvPr id="393" name="Google Shape;393;p21"/>
          <p:cNvSpPr txBox="1"/>
          <p:nvPr/>
        </p:nvSpPr>
        <p:spPr>
          <a:xfrm>
            <a:off x="600304" y="1647749"/>
            <a:ext cx="4857750" cy="85954"/>
          </a:xfrm>
          <a:prstGeom prst="rect">
            <a:avLst/>
          </a:prstGeom>
          <a:noFill/>
          <a:ln>
            <a:noFill/>
          </a:ln>
        </p:spPr>
        <p:txBody>
          <a:bodyPr spcFirstLastPara="1" wrap="square" lIns="0" tIns="0" rIns="0" bIns="0" anchor="ctr" anchorCtr="0">
            <a:noAutofit/>
          </a:bodyPr>
          <a:lstStyle/>
          <a:p>
            <a:pPr>
              <a:buClr>
                <a:srgbClr val="999999"/>
              </a:buClr>
              <a:buSzPts val="1050"/>
            </a:pPr>
            <a:r>
              <a:rPr lang="en-US" sz="525">
                <a:solidFill>
                  <a:srgbClr val="999999"/>
                </a:solidFill>
                <a:latin typeface="Arial"/>
                <a:ea typeface="Arial"/>
                <a:cs typeface="Arial"/>
                <a:sym typeface="IBM Plex Mono"/>
              </a:rPr>
              <a:t>origin</a:t>
            </a:r>
            <a:endParaRPr sz="525">
              <a:solidFill>
                <a:schemeClr val="dk1"/>
              </a:solidFill>
              <a:latin typeface="Arial"/>
              <a:ea typeface="Arial"/>
              <a:cs typeface="Arial"/>
              <a:sym typeface="Arial"/>
            </a:endParaRPr>
          </a:p>
        </p:txBody>
      </p:sp>
      <p:sp>
        <p:nvSpPr>
          <p:cNvPr id="394" name="Google Shape;394;p21"/>
          <p:cNvSpPr txBox="1"/>
          <p:nvPr/>
        </p:nvSpPr>
        <p:spPr>
          <a:xfrm>
            <a:off x="600304" y="1781251"/>
            <a:ext cx="4857750" cy="186081"/>
          </a:xfrm>
          <a:prstGeom prst="rect">
            <a:avLst/>
          </a:prstGeom>
          <a:noFill/>
          <a:ln>
            <a:noFill/>
          </a:ln>
        </p:spPr>
        <p:txBody>
          <a:bodyPr spcFirstLastPara="1" wrap="square" lIns="0" tIns="0" rIns="0" bIns="0" anchor="ctr" anchorCtr="0">
            <a:noAutofit/>
          </a:bodyPr>
          <a:lstStyle/>
          <a:p>
            <a:pPr>
              <a:buClr>
                <a:srgbClr val="161615"/>
              </a:buClr>
              <a:buSzPts val="2400"/>
            </a:pPr>
            <a:r>
              <a:rPr lang="en-US" sz="1200" b="1">
                <a:solidFill>
                  <a:srgbClr val="161615"/>
                </a:solidFill>
                <a:latin typeface="Arial"/>
                <a:ea typeface="Arial"/>
                <a:cs typeface="Arial"/>
                <a:sym typeface="Arial"/>
              </a:rPr>
              <a:t>A decade of MIT research behind it</a:t>
            </a:r>
            <a:endParaRPr sz="1200">
              <a:solidFill>
                <a:schemeClr val="dk1"/>
              </a:solidFill>
              <a:latin typeface="Arial"/>
              <a:ea typeface="Arial"/>
              <a:cs typeface="Arial"/>
              <a:sym typeface="Arial"/>
            </a:endParaRPr>
          </a:p>
        </p:txBody>
      </p:sp>
      <p:sp>
        <p:nvSpPr>
          <p:cNvPr id="395" name="Google Shape;395;p21"/>
          <p:cNvSpPr txBox="1"/>
          <p:nvPr/>
        </p:nvSpPr>
        <p:spPr>
          <a:xfrm>
            <a:off x="600304" y="2002079"/>
            <a:ext cx="4857750" cy="267005"/>
          </a:xfrm>
          <a:prstGeom prst="rect">
            <a:avLst/>
          </a:prstGeom>
          <a:noFill/>
          <a:ln>
            <a:noFill/>
          </a:ln>
        </p:spPr>
        <p:txBody>
          <a:bodyPr spcFirstLastPara="1" wrap="square" lIns="0" tIns="0" rIns="0" bIns="0" anchor="ctr" anchorCtr="0">
            <a:noAutofit/>
          </a:bodyPr>
          <a:lstStyle/>
          <a:p>
            <a:pPr>
              <a:lnSpc>
                <a:spcPct val="140000"/>
              </a:lnSpc>
              <a:buClr>
                <a:srgbClr val="706E6C"/>
              </a:buClr>
              <a:buSzPts val="1500"/>
            </a:pPr>
            <a:r>
              <a:rPr lang="en-US" sz="750">
                <a:solidFill>
                  <a:srgbClr val="706E6C"/>
                </a:solidFill>
                <a:latin typeface="Arial"/>
                <a:ea typeface="Arial"/>
                <a:cs typeface="Arial"/>
                <a:sym typeface="Arial"/>
              </a:rPr>
              <a:t>The </a:t>
            </a:r>
            <a:r>
              <a:rPr lang="en-US" sz="750">
                <a:solidFill>
                  <a:srgbClr val="161615"/>
                </a:solidFill>
                <a:latin typeface="Arial"/>
                <a:ea typeface="Arial"/>
                <a:cs typeface="Arial"/>
                <a:sym typeface="IBM Plex Mono"/>
              </a:rPr>
              <a:t>Noria</a:t>
            </a:r>
            <a:r>
              <a:rPr lang="en-US" sz="750">
                <a:solidFill>
                  <a:srgbClr val="706E6C"/>
                </a:solidFill>
                <a:latin typeface="Arial"/>
                <a:ea typeface="Arial"/>
                <a:cs typeface="Arial"/>
                <a:sym typeface="Arial"/>
              </a:rPr>
              <a:t> paper (OSDI '18) describes the </a:t>
            </a:r>
            <a:r>
              <a:rPr lang="en-US" sz="750" b="1">
                <a:solidFill>
                  <a:srgbClr val="161615"/>
                </a:solidFill>
                <a:latin typeface="Arial"/>
                <a:ea typeface="Arial"/>
                <a:cs typeface="Arial"/>
                <a:sym typeface="Arial"/>
              </a:rPr>
              <a:t>partial dataflow</a:t>
            </a:r>
            <a:r>
              <a:rPr lang="en-US" sz="750">
                <a:solidFill>
                  <a:srgbClr val="706E6C"/>
                </a:solidFill>
                <a:latin typeface="Arial"/>
                <a:ea typeface="Arial"/>
                <a:cs typeface="Arial"/>
                <a:sym typeface="Arial"/>
              </a:rPr>
              <a:t> model Readyset is built on — from </a:t>
            </a:r>
            <a:r>
              <a:rPr lang="en-US" sz="750">
                <a:solidFill>
                  <a:srgbClr val="161615"/>
                </a:solidFill>
                <a:latin typeface="Arial"/>
                <a:ea typeface="Arial"/>
                <a:cs typeface="Arial"/>
                <a:sym typeface="IBM Plex Mono"/>
              </a:rPr>
              <a:t>MIT PDOS</a:t>
            </a:r>
            <a:r>
              <a:rPr lang="en-US" sz="750">
                <a:solidFill>
                  <a:srgbClr val="706E6C"/>
                </a:solidFill>
                <a:latin typeface="Arial"/>
                <a:ea typeface="Arial"/>
                <a:cs typeface="Arial"/>
                <a:sym typeface="Arial"/>
              </a:rPr>
              <a:t>, a systems group focused on parallel and distributed data.</a:t>
            </a:r>
            <a:endParaRPr sz="750">
              <a:solidFill>
                <a:schemeClr val="dk1"/>
              </a:solidFill>
              <a:latin typeface="Arial"/>
              <a:ea typeface="Arial"/>
              <a:cs typeface="Arial"/>
              <a:sym typeface="Arial"/>
            </a:endParaRPr>
          </a:p>
        </p:txBody>
      </p:sp>
      <p:sp>
        <p:nvSpPr>
          <p:cNvPr id="396" name="Google Shape;396;p21"/>
          <p:cNvSpPr txBox="1"/>
          <p:nvPr/>
        </p:nvSpPr>
        <p:spPr>
          <a:xfrm>
            <a:off x="600304" y="2600554"/>
            <a:ext cx="4857750" cy="85954"/>
          </a:xfrm>
          <a:prstGeom prst="rect">
            <a:avLst/>
          </a:prstGeom>
          <a:noFill/>
          <a:ln>
            <a:noFill/>
          </a:ln>
        </p:spPr>
        <p:txBody>
          <a:bodyPr spcFirstLastPara="1" wrap="square" lIns="0" tIns="0" rIns="0" bIns="0" anchor="ctr" anchorCtr="0">
            <a:noAutofit/>
          </a:bodyPr>
          <a:lstStyle/>
          <a:p>
            <a:pPr>
              <a:buClr>
                <a:srgbClr val="999999"/>
              </a:buClr>
              <a:buSzPts val="1050"/>
            </a:pPr>
            <a:r>
              <a:rPr lang="en-US" sz="525">
                <a:solidFill>
                  <a:srgbClr val="EEEEEE"/>
                </a:solidFill>
                <a:latin typeface="Arial"/>
                <a:ea typeface="Arial"/>
                <a:cs typeface="Arial"/>
                <a:sym typeface="IBM Plex Mono"/>
              </a:rPr>
              <a:t>mission</a:t>
            </a:r>
            <a:endParaRPr sz="525">
              <a:solidFill>
                <a:schemeClr val="dk1"/>
              </a:solidFill>
              <a:latin typeface="Arial"/>
              <a:ea typeface="Arial"/>
              <a:cs typeface="Arial"/>
              <a:sym typeface="Arial"/>
            </a:endParaRPr>
          </a:p>
        </p:txBody>
      </p:sp>
      <p:sp>
        <p:nvSpPr>
          <p:cNvPr id="397" name="Google Shape;397;p21"/>
          <p:cNvSpPr txBox="1"/>
          <p:nvPr/>
        </p:nvSpPr>
        <p:spPr>
          <a:xfrm>
            <a:off x="600304" y="2733599"/>
            <a:ext cx="4857750" cy="347929"/>
          </a:xfrm>
          <a:prstGeom prst="rect">
            <a:avLst/>
          </a:prstGeom>
          <a:noFill/>
          <a:ln>
            <a:noFill/>
          </a:ln>
        </p:spPr>
        <p:txBody>
          <a:bodyPr spcFirstLastPara="1" wrap="square" lIns="0" tIns="0" rIns="0" bIns="0" anchor="t" anchorCtr="0">
            <a:noAutofit/>
          </a:bodyPr>
          <a:lstStyle/>
          <a:p>
            <a:pPr>
              <a:lnSpc>
                <a:spcPct val="130000"/>
              </a:lnSpc>
              <a:buClr>
                <a:srgbClr val="EDEDEC"/>
              </a:buClr>
              <a:buSzPts val="2100"/>
            </a:pPr>
            <a:r>
              <a:rPr lang="en-US" sz="1050" b="1">
                <a:solidFill>
                  <a:srgbClr val="EDEDEC"/>
                </a:solidFill>
                <a:latin typeface="Arial"/>
                <a:ea typeface="Arial"/>
                <a:cs typeface="Arial"/>
                <a:sym typeface="Arial"/>
              </a:rPr>
              <a:t>“There are only two hard things in Computer Science:</a:t>
            </a:r>
            <a:endParaRPr sz="1050">
              <a:solidFill>
                <a:schemeClr val="dk1"/>
              </a:solidFill>
              <a:latin typeface="Arial"/>
              <a:ea typeface="Arial"/>
              <a:cs typeface="Arial"/>
              <a:sym typeface="Arial"/>
            </a:endParaRPr>
          </a:p>
          <a:p>
            <a:pPr>
              <a:lnSpc>
                <a:spcPct val="130000"/>
              </a:lnSpc>
              <a:buClr>
                <a:srgbClr val="999999"/>
              </a:buClr>
              <a:buSzPts val="2100"/>
            </a:pPr>
            <a:r>
              <a:rPr lang="en-US" sz="1050" b="1">
                <a:solidFill>
                  <a:srgbClr val="EEEEEE"/>
                </a:solidFill>
                <a:latin typeface="Arial"/>
                <a:ea typeface="Arial"/>
                <a:cs typeface="Arial"/>
                <a:sym typeface="Arial"/>
              </a:rPr>
              <a:t>cache invalidation</a:t>
            </a:r>
            <a:r>
              <a:rPr lang="en-US" sz="1050" b="1">
                <a:solidFill>
                  <a:srgbClr val="EDEDEC"/>
                </a:solidFill>
                <a:latin typeface="Arial"/>
                <a:ea typeface="Arial"/>
                <a:cs typeface="Arial"/>
                <a:sym typeface="Arial"/>
              </a:rPr>
              <a:t> and naming things.”</a:t>
            </a:r>
            <a:endParaRPr sz="1050">
              <a:solidFill>
                <a:schemeClr val="dk1"/>
              </a:solidFill>
              <a:latin typeface="Arial"/>
              <a:ea typeface="Arial"/>
              <a:cs typeface="Arial"/>
              <a:sym typeface="Arial"/>
            </a:endParaRPr>
          </a:p>
        </p:txBody>
      </p:sp>
      <p:sp>
        <p:nvSpPr>
          <p:cNvPr id="398" name="Google Shape;398;p21"/>
          <p:cNvSpPr txBox="1"/>
          <p:nvPr/>
        </p:nvSpPr>
        <p:spPr>
          <a:xfrm>
            <a:off x="600304" y="3137307"/>
            <a:ext cx="4857750" cy="95555"/>
          </a:xfrm>
          <a:prstGeom prst="rect">
            <a:avLst/>
          </a:prstGeom>
          <a:noFill/>
          <a:ln>
            <a:noFill/>
          </a:ln>
        </p:spPr>
        <p:txBody>
          <a:bodyPr spcFirstLastPara="1" wrap="square" lIns="0" tIns="0" rIns="0" bIns="0" anchor="ctr" anchorCtr="0">
            <a:noAutofit/>
          </a:bodyPr>
          <a:lstStyle/>
          <a:p>
            <a:pPr>
              <a:buClr>
                <a:srgbClr val="A1A09A"/>
              </a:buClr>
              <a:buSzPts val="1200"/>
            </a:pPr>
            <a:r>
              <a:rPr lang="en-US" sz="600">
                <a:solidFill>
                  <a:srgbClr val="EEEEEE"/>
                </a:solidFill>
                <a:latin typeface="Arial"/>
                <a:ea typeface="Arial"/>
                <a:cs typeface="Arial"/>
                <a:sym typeface="IBM Plex Mono"/>
              </a:rPr>
              <a:t>— Phil Karlton</a:t>
            </a:r>
            <a:endParaRPr sz="600">
              <a:solidFill>
                <a:schemeClr val="dk1"/>
              </a:solidFill>
              <a:latin typeface="Arial"/>
              <a:ea typeface="Arial"/>
              <a:cs typeface="Arial"/>
              <a:sym typeface="Arial"/>
            </a:endParaRPr>
          </a:p>
        </p:txBody>
      </p:sp>
      <p:sp>
        <p:nvSpPr>
          <p:cNvPr id="399" name="Google Shape;399;p21"/>
          <p:cNvSpPr txBox="1"/>
          <p:nvPr/>
        </p:nvSpPr>
        <p:spPr>
          <a:xfrm>
            <a:off x="600304" y="3270809"/>
            <a:ext cx="4857750" cy="123901"/>
          </a:xfrm>
          <a:prstGeom prst="rect">
            <a:avLst/>
          </a:prstGeom>
          <a:noFill/>
          <a:ln>
            <a:noFill/>
          </a:ln>
        </p:spPr>
        <p:txBody>
          <a:bodyPr spcFirstLastPara="1" wrap="square" lIns="0" tIns="0" rIns="0" bIns="0" anchor="ctr" anchorCtr="0">
            <a:noAutofit/>
          </a:bodyPr>
          <a:lstStyle/>
          <a:p>
            <a:pPr>
              <a:buClr>
                <a:srgbClr val="A1A09A"/>
              </a:buClr>
              <a:buSzPts val="1350"/>
            </a:pPr>
            <a:r>
              <a:rPr lang="en-US" sz="675" i="1">
                <a:solidFill>
                  <a:srgbClr val="EEEEEE"/>
                </a:solidFill>
                <a:latin typeface="Arial"/>
                <a:ea typeface="Arial"/>
                <a:cs typeface="Arial"/>
                <a:sym typeface="Arial"/>
              </a:rPr>
              <a:t>Readyset solves the first. You're on your own for the second.</a:t>
            </a:r>
            <a:endParaRPr sz="675">
              <a:solidFill>
                <a:schemeClr val="dk1"/>
              </a:solidFill>
              <a:latin typeface="Arial"/>
              <a:ea typeface="Arial"/>
              <a:cs typeface="Arial"/>
              <a:sym typeface="Arial"/>
            </a:endParaRPr>
          </a:p>
        </p:txBody>
      </p:sp>
      <p:sp>
        <p:nvSpPr>
          <p:cNvPr id="400" name="Google Shape;400;p21"/>
          <p:cNvSpPr txBox="1"/>
          <p:nvPr/>
        </p:nvSpPr>
        <p:spPr>
          <a:xfrm>
            <a:off x="600304" y="3743554"/>
            <a:ext cx="4857750" cy="85954"/>
          </a:xfrm>
          <a:prstGeom prst="rect">
            <a:avLst/>
          </a:prstGeom>
          <a:noFill/>
          <a:ln>
            <a:noFill/>
          </a:ln>
        </p:spPr>
        <p:txBody>
          <a:bodyPr spcFirstLastPara="1" wrap="square" lIns="0" tIns="0" rIns="0" bIns="0" anchor="ctr" anchorCtr="0">
            <a:noAutofit/>
          </a:bodyPr>
          <a:lstStyle/>
          <a:p>
            <a:pPr>
              <a:buClr>
                <a:srgbClr val="999999"/>
              </a:buClr>
              <a:buSzPts val="1050"/>
            </a:pPr>
            <a:r>
              <a:rPr lang="en-US" sz="525">
                <a:solidFill>
                  <a:srgbClr val="999999"/>
                </a:solidFill>
                <a:latin typeface="Arial"/>
                <a:ea typeface="Arial"/>
                <a:cs typeface="Arial"/>
                <a:sym typeface="IBM Plex Mono"/>
              </a:rPr>
              <a:t>two modes</a:t>
            </a:r>
            <a:endParaRPr sz="525">
              <a:solidFill>
                <a:schemeClr val="dk1"/>
              </a:solidFill>
              <a:latin typeface="Arial"/>
              <a:ea typeface="Arial"/>
              <a:cs typeface="Arial"/>
              <a:sym typeface="Arial"/>
            </a:endParaRPr>
          </a:p>
        </p:txBody>
      </p:sp>
      <p:sp>
        <p:nvSpPr>
          <p:cNvPr id="401" name="Google Shape;401;p21"/>
          <p:cNvSpPr txBox="1"/>
          <p:nvPr/>
        </p:nvSpPr>
        <p:spPr>
          <a:xfrm>
            <a:off x="600304" y="3895801"/>
            <a:ext cx="2352751" cy="138532"/>
          </a:xfrm>
          <a:prstGeom prst="rect">
            <a:avLst/>
          </a:prstGeom>
          <a:noFill/>
          <a:ln>
            <a:noFill/>
          </a:ln>
        </p:spPr>
        <p:txBody>
          <a:bodyPr spcFirstLastPara="1" wrap="square" lIns="0" tIns="0" rIns="0" bIns="0" anchor="ctr" anchorCtr="0">
            <a:noAutofit/>
          </a:bodyPr>
          <a:lstStyle/>
          <a:p>
            <a:pPr>
              <a:buClr>
                <a:srgbClr val="161615"/>
              </a:buClr>
              <a:buSzPts val="1800"/>
            </a:pPr>
            <a:r>
              <a:rPr lang="en-US" sz="900" b="1">
                <a:solidFill>
                  <a:srgbClr val="161615"/>
                </a:solidFill>
                <a:latin typeface="Arial"/>
                <a:ea typeface="Arial"/>
                <a:cs typeface="Arial"/>
                <a:sym typeface="Arial"/>
              </a:rPr>
              <a:t>Shallow Caching</a:t>
            </a:r>
            <a:endParaRPr sz="900">
              <a:solidFill>
                <a:schemeClr val="dk1"/>
              </a:solidFill>
              <a:latin typeface="Arial"/>
              <a:ea typeface="Arial"/>
              <a:cs typeface="Arial"/>
              <a:sym typeface="Arial"/>
            </a:endParaRPr>
          </a:p>
        </p:txBody>
      </p:sp>
      <p:sp>
        <p:nvSpPr>
          <p:cNvPr id="402" name="Google Shape;402;p21"/>
          <p:cNvSpPr txBox="1"/>
          <p:nvPr/>
        </p:nvSpPr>
        <p:spPr>
          <a:xfrm>
            <a:off x="600304" y="4053078"/>
            <a:ext cx="2695651" cy="109728"/>
          </a:xfrm>
          <a:prstGeom prst="rect">
            <a:avLst/>
          </a:prstGeom>
          <a:noFill/>
          <a:ln>
            <a:noFill/>
          </a:ln>
        </p:spPr>
        <p:txBody>
          <a:bodyPr spcFirstLastPara="1" wrap="square" lIns="0" tIns="0" rIns="0" bIns="0" anchor="ctr" anchorCtr="0">
            <a:noAutofit/>
          </a:bodyPr>
          <a:lstStyle/>
          <a:p>
            <a:pPr>
              <a:buClr>
                <a:srgbClr val="706E6C"/>
              </a:buClr>
              <a:buSzPts val="1275"/>
            </a:pPr>
            <a:r>
              <a:rPr lang="en-US" sz="638">
                <a:solidFill>
                  <a:srgbClr val="706E6C"/>
                </a:solidFill>
                <a:latin typeface="Arial"/>
                <a:ea typeface="Arial"/>
                <a:cs typeface="Arial"/>
                <a:sym typeface="Arial"/>
              </a:rPr>
              <a:t>TTL-based result cache. Lightweight setup, broad coverage.</a:t>
            </a:r>
            <a:endParaRPr sz="638">
              <a:solidFill>
                <a:schemeClr val="dk1"/>
              </a:solidFill>
              <a:latin typeface="Arial"/>
              <a:ea typeface="Arial"/>
              <a:cs typeface="Arial"/>
              <a:sym typeface="Arial"/>
            </a:endParaRPr>
          </a:p>
        </p:txBody>
      </p:sp>
      <p:sp>
        <p:nvSpPr>
          <p:cNvPr id="403" name="Google Shape;403;p21"/>
          <p:cNvSpPr txBox="1"/>
          <p:nvPr/>
        </p:nvSpPr>
        <p:spPr>
          <a:xfrm>
            <a:off x="3105303" y="3895801"/>
            <a:ext cx="2352751" cy="138532"/>
          </a:xfrm>
          <a:prstGeom prst="rect">
            <a:avLst/>
          </a:prstGeom>
          <a:noFill/>
          <a:ln>
            <a:noFill/>
          </a:ln>
        </p:spPr>
        <p:txBody>
          <a:bodyPr spcFirstLastPara="1" wrap="square" lIns="0" tIns="0" rIns="0" bIns="0" anchor="ctr" anchorCtr="0">
            <a:noAutofit/>
          </a:bodyPr>
          <a:lstStyle/>
          <a:p>
            <a:pPr>
              <a:buClr>
                <a:srgbClr val="161615"/>
              </a:buClr>
              <a:buSzPts val="1800"/>
            </a:pPr>
            <a:r>
              <a:rPr lang="en-US" sz="900" b="1">
                <a:solidFill>
                  <a:srgbClr val="161615"/>
                </a:solidFill>
                <a:latin typeface="Arial"/>
                <a:ea typeface="Arial"/>
                <a:cs typeface="Arial"/>
                <a:sym typeface="Arial"/>
              </a:rPr>
              <a:t>Deep Caching</a:t>
            </a:r>
            <a:endParaRPr sz="900">
              <a:solidFill>
                <a:schemeClr val="dk1"/>
              </a:solidFill>
              <a:latin typeface="Arial"/>
              <a:ea typeface="Arial"/>
              <a:cs typeface="Arial"/>
              <a:sym typeface="Arial"/>
            </a:endParaRPr>
          </a:p>
        </p:txBody>
      </p:sp>
      <p:sp>
        <p:nvSpPr>
          <p:cNvPr id="404" name="Google Shape;404;p21"/>
          <p:cNvSpPr txBox="1"/>
          <p:nvPr/>
        </p:nvSpPr>
        <p:spPr>
          <a:xfrm>
            <a:off x="3105303" y="4053078"/>
            <a:ext cx="2611984" cy="109728"/>
          </a:xfrm>
          <a:prstGeom prst="rect">
            <a:avLst/>
          </a:prstGeom>
          <a:noFill/>
          <a:ln>
            <a:noFill/>
          </a:ln>
        </p:spPr>
        <p:txBody>
          <a:bodyPr spcFirstLastPara="1" wrap="square" lIns="0" tIns="0" rIns="0" bIns="0" anchor="ctr">
            <a:noAutofit/>
          </a:bodyPr>
          <a:lstStyle/>
          <a:p>
            <a:pPr>
              <a:buClr>
                <a:srgbClr val="706E6C"/>
              </a:buClr>
              <a:buSzPts val="1275"/>
              <a:buNone/>
            </a:pPr>
            <a:r>
              <a:rPr sz="638">
                <a:solidFill>
                  <a:srgbClr val="706E6C"/>
                </a:solidFill>
                <a:latin typeface="Arial"/>
                <a:ea typeface="Arial"/>
                <a:cs typeface="Arial"/>
              </a:rPr>
              <a:t>Incremental dataflow via CDC/IVM. Eventual consistency.</a:t>
            </a:r>
            <a:endParaRPr sz="638">
              <a:solidFill>
                <a:schemeClr val="dk1"/>
              </a:solidFill>
              <a:latin typeface="Arial"/>
              <a:ea typeface="Arial"/>
              <a:cs typeface="Arial"/>
            </a:endParaRPr>
          </a:p>
        </p:txBody>
      </p:sp>
      <p:sp>
        <p:nvSpPr>
          <p:cNvPr id="405" name="Google Shape;405;p21"/>
          <p:cNvSpPr txBox="1"/>
          <p:nvPr/>
        </p:nvSpPr>
        <p:spPr>
          <a:xfrm>
            <a:off x="5933999" y="1647749"/>
            <a:ext cx="2381555" cy="85954"/>
          </a:xfrm>
          <a:prstGeom prst="rect">
            <a:avLst/>
          </a:prstGeom>
          <a:noFill/>
          <a:ln>
            <a:noFill/>
          </a:ln>
        </p:spPr>
        <p:txBody>
          <a:bodyPr spcFirstLastPara="1" wrap="square" lIns="0" tIns="0" rIns="0" bIns="0" anchor="ctr" anchorCtr="0">
            <a:noAutofit/>
          </a:bodyPr>
          <a:lstStyle/>
          <a:p>
            <a:pPr>
              <a:buClr>
                <a:srgbClr val="999999"/>
              </a:buClr>
              <a:buSzPts val="1050"/>
            </a:pPr>
            <a:r>
              <a:rPr lang="en-US" sz="525">
                <a:solidFill>
                  <a:srgbClr val="999999"/>
                </a:solidFill>
                <a:latin typeface="Arial"/>
                <a:ea typeface="Arial"/>
                <a:cs typeface="Arial"/>
                <a:sym typeface="IBM Plex Mono"/>
              </a:rPr>
              <a:t>paper — OSDI '18</a:t>
            </a:r>
            <a:endParaRPr sz="525">
              <a:solidFill>
                <a:schemeClr val="dk1"/>
              </a:solidFill>
              <a:latin typeface="Arial"/>
              <a:ea typeface="Arial"/>
              <a:cs typeface="Arial"/>
              <a:sym typeface="Arial"/>
            </a:endParaRPr>
          </a:p>
        </p:txBody>
      </p:sp>
      <p:sp>
        <p:nvSpPr>
          <p:cNvPr id="406" name="Google Shape;406;p21"/>
          <p:cNvSpPr txBox="1"/>
          <p:nvPr/>
        </p:nvSpPr>
        <p:spPr>
          <a:xfrm>
            <a:off x="5933999" y="1781251"/>
            <a:ext cx="2381555" cy="495605"/>
          </a:xfrm>
          <a:prstGeom prst="rect">
            <a:avLst/>
          </a:prstGeom>
          <a:noFill/>
          <a:ln>
            <a:noFill/>
          </a:ln>
        </p:spPr>
        <p:txBody>
          <a:bodyPr spcFirstLastPara="1" wrap="square" lIns="0" tIns="0" rIns="0" bIns="0" anchor="ctr" anchorCtr="0">
            <a:noAutofit/>
          </a:bodyPr>
          <a:lstStyle/>
          <a:p>
            <a:pPr>
              <a:lnSpc>
                <a:spcPct val="115000"/>
              </a:lnSpc>
              <a:buClr>
                <a:srgbClr val="161615"/>
              </a:buClr>
              <a:buSzPts val="2250"/>
            </a:pPr>
            <a:r>
              <a:rPr lang="en-US" sz="1125" b="1">
                <a:solidFill>
                  <a:srgbClr val="161615"/>
                </a:solidFill>
                <a:latin typeface="Arial"/>
                <a:ea typeface="Arial"/>
                <a:cs typeface="Arial"/>
                <a:sym typeface="Arial"/>
              </a:rPr>
              <a:t>Noria: dynamic, partially stateful data-flow for high performance web applications</a:t>
            </a:r>
            <a:endParaRPr sz="1125">
              <a:solidFill>
                <a:schemeClr val="dk1"/>
              </a:solidFill>
              <a:latin typeface="Arial"/>
              <a:ea typeface="Arial"/>
              <a:cs typeface="Arial"/>
              <a:sym typeface="Arial"/>
            </a:endParaRPr>
          </a:p>
        </p:txBody>
      </p:sp>
      <p:sp>
        <p:nvSpPr>
          <p:cNvPr id="407" name="Google Shape;407;p21"/>
          <p:cNvSpPr txBox="1"/>
          <p:nvPr/>
        </p:nvSpPr>
        <p:spPr>
          <a:xfrm>
            <a:off x="5933999" y="2312061"/>
            <a:ext cx="2381555" cy="105156"/>
          </a:xfrm>
          <a:prstGeom prst="rect">
            <a:avLst/>
          </a:prstGeom>
          <a:noFill/>
          <a:ln>
            <a:noFill/>
          </a:ln>
        </p:spPr>
        <p:txBody>
          <a:bodyPr spcFirstLastPara="1" wrap="square" lIns="0" tIns="0" rIns="0" bIns="0" anchor="ctr" anchorCtr="0">
            <a:noAutofit/>
          </a:bodyPr>
          <a:lstStyle/>
          <a:p>
            <a:pPr>
              <a:buClr>
                <a:srgbClr val="706E6C"/>
              </a:buClr>
              <a:buSzPts val="1200"/>
            </a:pPr>
            <a:r>
              <a:rPr lang="en-US" sz="600">
                <a:solidFill>
                  <a:srgbClr val="706E6C"/>
                </a:solidFill>
                <a:latin typeface="Arial"/>
                <a:ea typeface="Arial"/>
                <a:cs typeface="Arial"/>
                <a:sym typeface="Arial"/>
              </a:rPr>
              <a:t>Jon Gjengset - MIT PDOS · 2018</a:t>
            </a:r>
            <a:endParaRPr sz="600">
              <a:solidFill>
                <a:schemeClr val="dk1"/>
              </a:solidFill>
              <a:latin typeface="Arial"/>
              <a:ea typeface="Arial"/>
              <a:cs typeface="Arial"/>
              <a:sym typeface="Arial"/>
            </a:endParaRPr>
          </a:p>
        </p:txBody>
      </p:sp>
      <p:pic>
        <p:nvPicPr>
          <p:cNvPr id="408" name="Google Shape;408;p21" descr="gen-dedup-6435ea99b289bb3a42882b94058d33db.jpg"/>
          <p:cNvPicPr preferRelativeResize="0"/>
          <p:nvPr/>
        </p:nvPicPr>
        <p:blipFill rotWithShape="1">
          <a:blip r:embed="rId3">
            <a:alphaModFix/>
          </a:blip>
          <a:srcRect/>
          <a:stretch/>
        </p:blipFill>
        <p:spPr>
          <a:xfrm>
            <a:off x="6743700" y="2762403"/>
            <a:ext cx="952348" cy="952348"/>
          </a:xfrm>
          <a:prstGeom prst="rect">
            <a:avLst/>
          </a:prstGeom>
          <a:noFill/>
          <a:ln>
            <a:noFill/>
          </a:ln>
        </p:spPr>
      </p:pic>
      <p:sp>
        <p:nvSpPr>
          <p:cNvPr id="409" name="Google Shape;409;p21"/>
          <p:cNvSpPr txBox="1"/>
          <p:nvPr/>
        </p:nvSpPr>
        <p:spPr>
          <a:xfrm>
            <a:off x="5933999" y="3762299"/>
            <a:ext cx="2381555" cy="85954"/>
          </a:xfrm>
          <a:prstGeom prst="rect">
            <a:avLst/>
          </a:prstGeom>
          <a:noFill/>
          <a:ln>
            <a:noFill/>
          </a:ln>
        </p:spPr>
        <p:txBody>
          <a:bodyPr spcFirstLastPara="1" wrap="square" lIns="0" tIns="0" rIns="0" bIns="0" anchor="ctr" anchorCtr="0">
            <a:noAutofit/>
          </a:bodyPr>
          <a:lstStyle/>
          <a:p>
            <a:pPr algn="ctr">
              <a:buClr>
                <a:srgbClr val="706E6C"/>
              </a:buClr>
              <a:buSzPts val="1050"/>
            </a:pPr>
            <a:r>
              <a:rPr lang="en-US" sz="525">
                <a:solidFill>
                  <a:srgbClr val="706E6C"/>
                </a:solidFill>
                <a:latin typeface="Arial"/>
                <a:ea typeface="Arial"/>
                <a:cs typeface="Arial"/>
                <a:sym typeface="IBM Plex Mono"/>
              </a:rPr>
              <a:t>pdos.csail.mit.edu/papers/noria:osdi18.pdf</a:t>
            </a:r>
            <a:endParaRPr sz="525">
              <a:solidFill>
                <a:schemeClr val="dk1"/>
              </a:solidFill>
              <a:latin typeface="Arial"/>
              <a:ea typeface="Arial"/>
              <a:cs typeface="Arial"/>
              <a:sym typeface="Arial"/>
            </a:endParaRPr>
          </a:p>
        </p:txBody>
      </p:sp>
      <p:sp>
        <p:nvSpPr>
          <p:cNvPr id="410" name="Google Shape;410;p21"/>
          <p:cNvSpPr txBox="1"/>
          <p:nvPr/>
        </p:nvSpPr>
        <p:spPr>
          <a:xfrm>
            <a:off x="5933999" y="4181551"/>
            <a:ext cx="2381555" cy="71781"/>
          </a:xfrm>
          <a:prstGeom prst="rect">
            <a:avLst/>
          </a:prstGeom>
          <a:noFill/>
          <a:ln>
            <a:noFill/>
          </a:ln>
        </p:spPr>
        <p:txBody>
          <a:bodyPr spcFirstLastPara="1" wrap="square" lIns="0" tIns="0" rIns="0" bIns="0" anchor="ctr" anchorCtr="0">
            <a:noAutofit/>
          </a:bodyPr>
          <a:lstStyle/>
          <a:p>
            <a:pPr>
              <a:buClr>
                <a:srgbClr val="999999"/>
              </a:buClr>
              <a:buSzPts val="900"/>
            </a:pPr>
            <a:r>
              <a:rPr lang="en-US" sz="450">
                <a:solidFill>
                  <a:srgbClr val="EEEEEE"/>
                </a:solidFill>
                <a:latin typeface="Arial"/>
                <a:ea typeface="Arial"/>
                <a:cs typeface="Arial"/>
                <a:sym typeface="IBM Plex Mono"/>
              </a:rPr>
              <a:t>open source</a:t>
            </a:r>
            <a:endParaRPr sz="450">
              <a:solidFill>
                <a:schemeClr val="dk1"/>
              </a:solidFill>
              <a:latin typeface="Arial"/>
              <a:ea typeface="Arial"/>
              <a:cs typeface="Arial"/>
              <a:sym typeface="Arial"/>
            </a:endParaRPr>
          </a:p>
        </p:txBody>
      </p:sp>
      <p:sp>
        <p:nvSpPr>
          <p:cNvPr id="411" name="Google Shape;411;p21"/>
          <p:cNvSpPr txBox="1"/>
          <p:nvPr/>
        </p:nvSpPr>
        <p:spPr>
          <a:xfrm>
            <a:off x="5933999" y="4281678"/>
            <a:ext cx="2381555" cy="138532"/>
          </a:xfrm>
          <a:prstGeom prst="rect">
            <a:avLst/>
          </a:prstGeom>
          <a:noFill/>
          <a:ln>
            <a:noFill/>
          </a:ln>
        </p:spPr>
        <p:txBody>
          <a:bodyPr spcFirstLastPara="1" wrap="square" lIns="0" tIns="0" rIns="0" bIns="0" anchor="ctr" anchorCtr="0">
            <a:noAutofit/>
          </a:bodyPr>
          <a:lstStyle/>
          <a:p>
            <a:pPr>
              <a:buClr>
                <a:srgbClr val="EDEDEC"/>
              </a:buClr>
              <a:buSzPts val="1650"/>
            </a:pPr>
            <a:r>
              <a:rPr lang="en-US" sz="825">
                <a:solidFill>
                  <a:srgbClr val="EDEDEC"/>
                </a:solidFill>
                <a:latin typeface="Arial"/>
                <a:ea typeface="Arial"/>
                <a:cs typeface="Arial"/>
                <a:sym typeface="IBM Plex Mono"/>
              </a:rPr>
              <a:t>github.com/readysettech/readyset</a:t>
            </a:r>
            <a:endParaRPr sz="825">
              <a:solidFill>
                <a:schemeClr val="dk1"/>
              </a:solidFill>
              <a:latin typeface="Arial"/>
              <a:ea typeface="Arial"/>
              <a:cs typeface="Arial"/>
              <a:sym typeface="Arial"/>
            </a:endParaRPr>
          </a:p>
        </p:txBody>
      </p:sp>
      <p:pic>
        <p:nvPicPr>
          <p:cNvPr id="9022" name="Readyset standard logo 22"/>
          <p:cNvPicPr>
            <a:picLocks noChangeAspect="1"/>
          </p:cNvPicPr>
          <p:nvPr/>
        </p:nvPicPr>
        <p:blipFill>
          <a:blip r:embed="rId4"/>
          <a:stretch/>
        </p:blipFill>
        <p:spPr>
          <a:xfrm>
            <a:off x="457200" y="239275"/>
            <a:ext cx="952500" cy="216776"/>
          </a:xfrm>
          <a:prstGeom prst="rect">
            <a:avLst/>
          </a:prstGeom>
        </p:spPr>
      </p:pic>
      <p:sp>
        <p:nvSpPr>
          <p:cNvPr id="9522"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a:extLst>
            <a:ext uri="{FF2B5EF4-FFF2-40B4-BE49-F238E27FC236}">
              <a16:creationId xmlns:a16="http://schemas.microsoft.com/office/drawing/2014/main" id="{6375BCB6-51B4-27A3-2EF0-265A92B0FB99}"/>
            </a:ext>
          </a:extLst>
        </p:cNvPr>
        <p:cNvGrpSpPr/>
        <p:nvPr/>
      </p:nvGrpSpPr>
      <p:grpSpPr>
        <a:xfrm>
          <a:off x="0" y="0"/>
          <a:ext cx="0" cy="0"/>
          <a:chOff x="0" y="0"/>
          <a:chExt cx="0" cy="0"/>
        </a:xfrm>
      </p:grpSpPr>
      <p:pic>
        <p:nvPicPr>
          <p:cNvPr id="7" name="Readyset logo" descr="Readyset logo">
            <a:extLst>
              <a:ext uri="{FF2B5EF4-FFF2-40B4-BE49-F238E27FC236}">
                <a16:creationId xmlns:a16="http://schemas.microsoft.com/office/drawing/2014/main" id="{672F3752-F860-5773-1575-C306F7D02DFC}"/>
              </a:ext>
            </a:extLst>
          </p:cNvPr>
          <p:cNvPicPr>
            <a:picLocks noChangeAspect="1"/>
          </p:cNvPicPr>
          <p:nvPr/>
        </p:nvPicPr>
        <p:blipFill>
          <a:blip r:embed="rId3"/>
          <a:stretch/>
        </p:blipFill>
        <p:spPr>
          <a:xfrm>
            <a:off x="457200" y="238132"/>
            <a:ext cx="952500" cy="216776"/>
          </a:xfrm>
          <a:prstGeom prst="rect">
            <a:avLst/>
          </a:prstGeom>
        </p:spPr>
      </p:pic>
      <p:sp>
        <p:nvSpPr>
          <p:cNvPr id="4" name="Slide title">
            <a:extLst>
              <a:ext uri="{FF2B5EF4-FFF2-40B4-BE49-F238E27FC236}">
                <a16:creationId xmlns:a16="http://schemas.microsoft.com/office/drawing/2014/main" id="{A5E8E7C5-40D5-F489-44D9-45953ACCF5DB}"/>
              </a:ext>
            </a:extLst>
          </p:cNvPr>
          <p:cNvSpPr>
            <a:spLocks noGrp="1"/>
          </p:cNvSpPr>
          <p:nvPr/>
        </p:nvSpPr>
        <p:spPr>
          <a:xfrm>
            <a:off x="457200" y="2038350"/>
            <a:ext cx="5905500" cy="1476375"/>
          </a:xfrm>
          <a:prstGeom prst="rect">
            <a:avLst/>
          </a:prstGeom>
          <a:noFill/>
          <a:ln w="0">
            <a:noFill/>
          </a:ln>
        </p:spPr>
        <p:txBody>
          <a:bodyPr wrap="none" lIns="0" tIns="0" rIns="0" bIns="0">
            <a:noAutofit/>
          </a:bodyPr>
          <a:lstStyle/>
          <a:p>
            <a:pPr>
              <a:lnSpc>
                <a:spcPct val="110000"/>
              </a:lnSpc>
              <a:buNone/>
              <a:defRPr sz="4275" b="1">
                <a:solidFill>
                  <a:srgbClr val="EDEDEC"/>
                </a:solidFill>
                <a:latin typeface="Arial"/>
                <a:ea typeface="Arial"/>
                <a:cs typeface="Arial"/>
              </a:defRPr>
            </a:pPr>
            <a:r>
              <a:rPr lang="pt-BR" sz="4275" b="1" dirty="0" err="1">
                <a:solidFill>
                  <a:srgbClr val="EDEDEC"/>
                </a:solidFill>
                <a:latin typeface="Arial"/>
                <a:ea typeface="Arial"/>
                <a:cs typeface="Arial"/>
              </a:rPr>
              <a:t>Shallow</a:t>
            </a:r>
            <a:r>
              <a:rPr lang="pt-BR" sz="4275" b="1" dirty="0">
                <a:solidFill>
                  <a:srgbClr val="EDEDEC"/>
                </a:solidFill>
                <a:latin typeface="Arial"/>
                <a:ea typeface="Arial"/>
                <a:cs typeface="Arial"/>
              </a:rPr>
              <a:t> </a:t>
            </a:r>
            <a:r>
              <a:rPr lang="pt-BR" sz="4275" b="1" dirty="0" err="1">
                <a:solidFill>
                  <a:srgbClr val="EDEDEC"/>
                </a:solidFill>
                <a:latin typeface="Arial"/>
                <a:ea typeface="Arial"/>
                <a:cs typeface="Arial"/>
              </a:rPr>
              <a:t>Caching</a:t>
            </a:r>
            <a:endParaRPr lang="en-BR" sz="4275" b="1" dirty="0">
              <a:solidFill>
                <a:srgbClr val="EDEDEC"/>
              </a:solidFill>
              <a:latin typeface="Arial"/>
              <a:ea typeface="Arial"/>
              <a:cs typeface="Arial"/>
            </a:endParaRPr>
          </a:p>
        </p:txBody>
      </p:sp>
      <p:pic>
        <p:nvPicPr>
          <p:cNvPr id="12" name="Section glyph" descr="Section glyph">
            <a:extLst>
              <a:ext uri="{FF2B5EF4-FFF2-40B4-BE49-F238E27FC236}">
                <a16:creationId xmlns:a16="http://schemas.microsoft.com/office/drawing/2014/main" id="{5F6BF6A7-F8BD-2498-99BF-2E43B2CB339D}"/>
              </a:ext>
            </a:extLst>
          </p:cNvPr>
          <p:cNvPicPr>
            <a:picLocks noChangeAspect="1"/>
          </p:cNvPicPr>
          <p:nvPr/>
        </p:nvPicPr>
        <p:blipFill>
          <a:blip r:embed="rId4"/>
          <a:stretch/>
        </p:blipFill>
        <p:spPr>
          <a:xfrm>
            <a:off x="6905625" y="1823085"/>
            <a:ext cx="1619250" cy="1554480"/>
          </a:xfrm>
          <a:prstGeom prst="rect">
            <a:avLst/>
          </a:prstGeom>
        </p:spPr>
      </p:pic>
      <p:sp>
        <p:nvSpPr>
          <p:cNvPr id="9523"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23</a:t>
            </a:r>
          </a:p>
        </p:txBody>
      </p:sp>
    </p:spTree>
    <p:extLst>
      <p:ext uri="{BB962C8B-B14F-4D97-AF65-F5344CB8AC3E}">
        <p14:creationId xmlns:p14="http://schemas.microsoft.com/office/powerpoint/2010/main" val="391294346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9"/>
        <p:cNvGrpSpPr/>
        <p:nvPr/>
      </p:nvGrpSpPr>
      <p:grpSpPr>
        <a:xfrm>
          <a:off x="0" y="0"/>
          <a:ext cx="0" cy="0"/>
          <a:chOff x="0" y="0"/>
          <a:chExt cx="0" cy="0"/>
        </a:xfrm>
      </p:grpSpPr>
      <p:sp>
        <p:nvSpPr>
          <p:cNvPr id="450" name="Google Shape;450;p24"/>
          <p:cNvSpPr/>
          <p:nvPr/>
        </p:nvSpPr>
        <p:spPr>
          <a:xfrm>
            <a:off x="380848" y="1905153"/>
            <a:ext cx="8391449" cy="1629004"/>
          </a:xfrm>
          <a:prstGeom prst="roundRect">
            <a:avLst>
              <a:gd name="adj" fmla="val 3508"/>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51" name="Google Shape;451;p24"/>
          <p:cNvSpPr/>
          <p:nvPr/>
        </p:nvSpPr>
        <p:spPr>
          <a:xfrm>
            <a:off x="457200" y="4381348"/>
            <a:ext cx="8001000" cy="380848"/>
          </a:xfrm>
          <a:prstGeom prst="roundRect">
            <a:avLst>
              <a:gd name="adj" fmla="val 9964"/>
            </a:avLst>
          </a:prstGeom>
          <a:solidFill>
            <a:srgbClr val="16161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52" name="Google Shape;452;p24"/>
          <p:cNvSpPr txBox="1"/>
          <p:nvPr/>
        </p:nvSpPr>
        <p:spPr>
          <a:xfrm>
            <a:off x="2000250" y="276225"/>
            <a:ext cx="6686550" cy="209550"/>
          </a:xfrm>
          <a:prstGeom prst="rect">
            <a:avLst/>
          </a:prstGeom>
          <a:noFill/>
          <a:ln>
            <a:noFill/>
          </a:ln>
        </p:spPr>
        <p:txBody>
          <a:bodyPr spcFirstLastPara="1" wrap="square" lIns="0" tIns="0" rIns="0" bIns="0" anchor="t" anchorCtr="0">
            <a:noAutofit/>
          </a:bodyPr>
          <a:lstStyle/>
          <a:p>
            <a:pPr algn="l">
              <a:buClr>
                <a:srgbClr val="555555"/>
              </a:buClr>
              <a:buSzPts val="1500"/>
            </a:pPr>
            <a:r>
              <a:rPr lang="en-US" sz="900" b="0">
                <a:solidFill>
                  <a:srgbClr val="666666"/>
                </a:solidFill>
                <a:latin typeface="Arial"/>
                <a:ea typeface="Arial"/>
                <a:cs typeface="Arial"/>
                <a:sym typeface="IBM Plex Mono"/>
              </a:rPr>
              <a:t>shallow caching · flow per request</a:t>
            </a:r>
            <a:endParaRPr sz="900" b="0">
              <a:solidFill>
                <a:srgbClr val="666666"/>
              </a:solidFill>
              <a:latin typeface="Arial"/>
              <a:ea typeface="Arial"/>
              <a:cs typeface="Arial"/>
              <a:sym typeface="Arial"/>
            </a:endParaRPr>
          </a:p>
        </p:txBody>
      </p:sp>
      <p:sp>
        <p:nvSpPr>
          <p:cNvPr id="454" name="Google Shape;454;p24"/>
          <p:cNvSpPr txBox="1"/>
          <p:nvPr/>
        </p:nvSpPr>
        <p:spPr>
          <a:xfrm>
            <a:off x="457200" y="790575"/>
            <a:ext cx="8229600" cy="457200"/>
          </a:xfrm>
          <a:prstGeom prst="rect">
            <a:avLst/>
          </a:prstGeom>
          <a:noFill/>
          <a:ln>
            <a:noFill/>
          </a:ln>
        </p:spPr>
        <p:txBody>
          <a:bodyPr spcFirstLastPara="1" wrap="square" lIns="0" tIns="0" rIns="0" bIns="0" anchor="t" anchorCtr="0">
            <a:noAutofit/>
          </a:bodyPr>
          <a:lstStyle/>
          <a:p>
            <a:pPr algn="l">
              <a:buClr>
                <a:srgbClr val="1A1A1A"/>
              </a:buClr>
              <a:buSzPts val="4500"/>
            </a:pPr>
            <a:r>
              <a:rPr lang="en-US" sz="2700" b="1">
                <a:solidFill>
                  <a:srgbClr val="171717"/>
                </a:solidFill>
                <a:latin typeface="Arial"/>
                <a:ea typeface="Arial"/>
                <a:cs typeface="Arial"/>
                <a:sym typeface="Arial"/>
              </a:rPr>
              <a:t>How a query moves through Readyset</a:t>
            </a:r>
            <a:endParaRPr sz="2700" b="1">
              <a:solidFill>
                <a:srgbClr val="171717"/>
              </a:solidFill>
              <a:latin typeface="Arial"/>
              <a:ea typeface="Arial"/>
              <a:cs typeface="Arial"/>
              <a:sym typeface="Arial"/>
            </a:endParaRPr>
          </a:p>
        </p:txBody>
      </p:sp>
      <p:sp>
        <p:nvSpPr>
          <p:cNvPr id="455" name="Google Shape;455;p24"/>
          <p:cNvSpPr txBox="1"/>
          <p:nvPr/>
        </p:nvSpPr>
        <p:spPr>
          <a:xfrm>
            <a:off x="457200" y="1381201"/>
            <a:ext cx="8001000" cy="128931"/>
          </a:xfrm>
          <a:prstGeom prst="rect">
            <a:avLst/>
          </a:prstGeom>
          <a:noFill/>
          <a:ln>
            <a:noFill/>
          </a:ln>
        </p:spPr>
        <p:txBody>
          <a:bodyPr spcFirstLastPara="1" wrap="square" lIns="0" tIns="0" rIns="0" bIns="0" anchor="ctr">
            <a:noAutofit/>
          </a:bodyPr>
          <a:lstStyle/>
          <a:p>
            <a:pPr>
              <a:buClr>
                <a:srgbClr val="706E6C"/>
              </a:buClr>
              <a:buSzPts val="1500"/>
              <a:buNone/>
            </a:pPr>
            <a:r>
              <a:rPr sz="750">
                <a:solidFill>
                  <a:srgbClr val="706E6C"/>
                </a:solidFill>
                <a:latin typeface="Arial"/>
                <a:ea typeface="Arial"/>
                <a:cs typeface="Arial"/>
              </a:rPr>
              <a:t>TTL-based results with background refresh for eligible entries</a:t>
            </a:r>
            <a:endParaRPr sz="750">
              <a:solidFill>
                <a:schemeClr val="dk1"/>
              </a:solidFill>
              <a:latin typeface="Arial"/>
              <a:ea typeface="Arial"/>
              <a:cs typeface="Arial"/>
            </a:endParaRPr>
          </a:p>
        </p:txBody>
      </p:sp>
      <p:sp>
        <p:nvSpPr>
          <p:cNvPr id="456" name="Google Shape;456;p24"/>
          <p:cNvSpPr txBox="1"/>
          <p:nvPr/>
        </p:nvSpPr>
        <p:spPr>
          <a:xfrm>
            <a:off x="457200" y="3333903"/>
            <a:ext cx="8001000" cy="90526"/>
          </a:xfrm>
          <a:prstGeom prst="rect">
            <a:avLst/>
          </a:prstGeom>
          <a:noFill/>
          <a:ln>
            <a:noFill/>
          </a:ln>
        </p:spPr>
        <p:txBody>
          <a:bodyPr spcFirstLastPara="1" wrap="square" lIns="0" tIns="0" rIns="0" bIns="0" anchor="ctr">
            <a:noAutofit/>
          </a:bodyPr>
          <a:lstStyle/>
          <a:p>
            <a:pPr algn="ctr">
              <a:buClr>
                <a:srgbClr val="555555"/>
              </a:buClr>
              <a:buSzPts val="1125"/>
              <a:buNone/>
            </a:pPr>
            <a:r>
              <a:rPr sz="563">
                <a:solidFill>
                  <a:srgbClr val="555555"/>
                </a:solidFill>
                <a:latin typeface="Arial"/>
                <a:ea typeface="Arial"/>
                <a:cs typeface="Arial"/>
              </a:rPr>
              <a:t>Proxy routes queries. Cache stores results. Misses and refreshes query PostgreSQL.</a:t>
            </a:r>
            <a:endParaRPr sz="563">
              <a:solidFill>
                <a:schemeClr val="dk1"/>
              </a:solidFill>
              <a:latin typeface="Arial"/>
              <a:ea typeface="Arial"/>
              <a:cs typeface="Arial"/>
            </a:endParaRPr>
          </a:p>
        </p:txBody>
      </p:sp>
      <p:sp>
        <p:nvSpPr>
          <p:cNvPr id="457" name="Google Shape;457;p24"/>
          <p:cNvSpPr txBox="1"/>
          <p:nvPr/>
        </p:nvSpPr>
        <p:spPr>
          <a:xfrm>
            <a:off x="600304" y="4448099"/>
            <a:ext cx="7715250" cy="81382"/>
          </a:xfrm>
          <a:prstGeom prst="rect">
            <a:avLst/>
          </a:prstGeom>
          <a:noFill/>
          <a:ln>
            <a:noFill/>
          </a:ln>
        </p:spPr>
        <p:txBody>
          <a:bodyPr spcFirstLastPara="1" wrap="square" lIns="0" tIns="0" rIns="0" bIns="0" anchor="ctr" anchorCtr="0">
            <a:noAutofit/>
          </a:bodyPr>
          <a:lstStyle/>
          <a:p>
            <a:pPr>
              <a:buClr>
                <a:srgbClr val="555555"/>
              </a:buClr>
              <a:buSzPts val="975"/>
            </a:pPr>
            <a:r>
              <a:rPr lang="en-US" sz="488">
                <a:solidFill>
                  <a:srgbClr val="EEEEEE"/>
                </a:solidFill>
                <a:latin typeface="Arial"/>
                <a:ea typeface="Arial"/>
                <a:cs typeface="Arial"/>
                <a:sym typeface="IBM Plex Mono"/>
              </a:rPr>
              <a:t>outcome</a:t>
            </a:r>
            <a:endParaRPr sz="488">
              <a:solidFill>
                <a:schemeClr val="dk1"/>
              </a:solidFill>
              <a:latin typeface="Arial"/>
              <a:ea typeface="Arial"/>
              <a:cs typeface="Arial"/>
              <a:sym typeface="Arial"/>
            </a:endParaRPr>
          </a:p>
        </p:txBody>
      </p:sp>
      <p:sp>
        <p:nvSpPr>
          <p:cNvPr id="458" name="Google Shape;458;p24"/>
          <p:cNvSpPr txBox="1"/>
          <p:nvPr/>
        </p:nvSpPr>
        <p:spPr>
          <a:xfrm>
            <a:off x="600304" y="4548226"/>
            <a:ext cx="8058150" cy="138532"/>
          </a:xfrm>
          <a:prstGeom prst="rect">
            <a:avLst/>
          </a:prstGeom>
          <a:noFill/>
          <a:ln>
            <a:noFill/>
          </a:ln>
        </p:spPr>
        <p:txBody>
          <a:bodyPr spcFirstLastPara="1" wrap="square" lIns="0" tIns="0" rIns="0" bIns="0" anchor="ctr">
            <a:noAutofit/>
          </a:bodyPr>
          <a:lstStyle/>
          <a:p>
            <a:pPr>
              <a:buClr>
                <a:srgbClr val="EDEDEC"/>
              </a:buClr>
              <a:buSzPts val="1650"/>
              <a:buNone/>
            </a:pPr>
            <a:r>
              <a:rPr sz="825">
                <a:solidFill>
                  <a:srgbClr val="EDEDEC"/>
                </a:solidFill>
                <a:latin typeface="Arial"/>
                <a:ea typeface="Arial"/>
                <a:cs typeface="Arial"/>
              </a:rPr>
              <a:t>A refresh can serve the existing result while a background query runs. Cold or expired entries can wait for upstream.</a:t>
            </a:r>
            <a:endParaRPr sz="825">
              <a:solidFill>
                <a:schemeClr val="dk1"/>
              </a:solidFill>
              <a:latin typeface="Arial"/>
              <a:ea typeface="Arial"/>
              <a:cs typeface="Arial"/>
            </a:endParaRPr>
          </a:p>
        </p:txBody>
      </p:sp>
      <p:pic>
        <p:nvPicPr>
          <p:cNvPr id="461" name="Google Shape;461;p24" descr="gen-dedup-3c106051117ffc1ac2e7d54e60e2941e.png"/>
          <p:cNvPicPr preferRelativeResize="0"/>
          <p:nvPr/>
        </p:nvPicPr>
        <p:blipFill rotWithShape="1">
          <a:blip r:embed="rId3">
            <a:alphaModFix/>
          </a:blip>
          <a:srcRect/>
          <a:stretch/>
        </p:blipFill>
        <p:spPr>
          <a:xfrm>
            <a:off x="386334" y="2081632"/>
            <a:ext cx="8425577" cy="1004926"/>
          </a:xfrm>
          <a:prstGeom prst="rect">
            <a:avLst/>
          </a:prstGeom>
          <a:noFill/>
          <a:ln>
            <a:noFill/>
          </a:ln>
        </p:spPr>
      </p:pic>
      <p:pic>
        <p:nvPicPr>
          <p:cNvPr id="9024" name="Readyset standard logo 24"/>
          <p:cNvPicPr>
            <a:picLocks noChangeAspect="1"/>
          </p:cNvPicPr>
          <p:nvPr/>
        </p:nvPicPr>
        <p:blipFill>
          <a:blip r:embed="rId4"/>
          <a:stretch/>
        </p:blipFill>
        <p:spPr>
          <a:xfrm>
            <a:off x="457200" y="239275"/>
            <a:ext cx="952500" cy="216776"/>
          </a:xfrm>
          <a:prstGeom prst="rect">
            <a:avLst/>
          </a:prstGeom>
        </p:spPr>
      </p:pic>
      <p:sp>
        <p:nvSpPr>
          <p:cNvPr id="9524"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p:blipFill>
        <p:spPr>
          <a:xfrm>
            <a:off x="457200" y="238125"/>
            <a:ext cx="952500" cy="219075"/>
          </a:xfrm>
          <a:prstGeom prst="rect">
            <a:avLst/>
          </a:prstGeom>
        </p:spPr>
      </p:pic>
      <p:sp>
        <p:nvSpPr>
          <p:cNvPr id="2" name="Rectangle 1">
            <a:extLst>
              <a:ext uri="{FF2B5EF4-FFF2-40B4-BE49-F238E27FC236}">
                <a16:creationId xmlns:a16="http://schemas.microsoft.com/office/drawing/2014/main" id="{68F68446-9188-4ADA-9383-3EB1ABFC9A66}"/>
              </a:ext>
            </a:extLst>
          </p:cNvPr>
          <p:cNvSpPr>
            <a:spLocks noGrp="1"/>
          </p:cNvSpPr>
          <p:nvPr/>
        </p:nvSpPr>
        <p:spPr>
          <a:xfrm>
            <a:off x="457200" y="781050"/>
            <a:ext cx="8229600" cy="476250"/>
          </a:xfrm>
          <a:prstGeom prst="rect">
            <a:avLst/>
          </a:prstGeom>
          <a:noFill/>
          <a:ln w="0">
            <a:noFill/>
          </a:ln>
        </p:spPr>
        <p:txBody>
          <a:bodyPr wrap="square" lIns="0" tIns="0" rIns="0" bIns="0"/>
          <a:lstStyle>
            <a:defPPr>
              <a:defRPr sz="2400"/>
            </a:defPPr>
          </a:lstStyle>
          <a:p>
            <a:pPr>
              <a:buNone/>
              <a:defRPr sz="2400" b="1">
                <a:solidFill>
                  <a:srgbClr val="25232C"/>
                </a:solidFill>
                <a:latin typeface="Arial"/>
                <a:ea typeface="Arial"/>
                <a:cs typeface="Arial"/>
              </a:defRPr>
            </a:pPr>
            <a:r>
              <a:rPr sz="2400" b="1">
                <a:solidFill>
                  <a:srgbClr val="25232C"/>
                </a:solidFill>
                <a:latin typeface="Arial"/>
                <a:ea typeface="Arial"/>
                <a:cs typeface="Arial"/>
              </a:rPr>
              <a:t>Shallow cache: refresh after a write</a:t>
            </a:r>
          </a:p>
        </p:txBody>
      </p:sp>
      <p:pic>
        <p:nvPicPr>
          <p:cNvPr id="7" name="Shallow cache animated simulation" descr="Continuous animation of shallow cache internals. Starts automatically. Hover to pause or replay.">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381000" y="1428750"/>
            <a:ext cx="8382000" cy="3143250"/>
          </a:xfrm>
          <a:prstGeom prst="rect">
            <a:avLst/>
          </a:prstGeom>
        </p:spPr>
      </p:pic>
      <p:sp>
        <p:nvSpPr>
          <p:cNvPr id="4" name="Rectangle 3">
            <a:extLst>
              <a:ext uri="{FF2B5EF4-FFF2-40B4-BE49-F238E27FC236}">
                <a16:creationId xmlns:a16="http://schemas.microsoft.com/office/drawing/2014/main" id="{CCD86F88-8B42-4EA5-8921-EF4136B817FD}"/>
              </a:ext>
            </a:extLst>
          </p:cNvPr>
          <p:cNvSpPr>
            <a:spLocks noGrp="1"/>
          </p:cNvSpPr>
          <p:nvPr/>
        </p:nvSpPr>
        <p:spPr>
          <a:xfrm>
            <a:off x="457200" y="4810125"/>
            <a:ext cx="7810500" cy="200000"/>
          </a:xfrm>
          <a:prstGeom prst="rect">
            <a:avLst/>
          </a:prstGeom>
          <a:noFill/>
          <a:ln w="0">
            <a:noFill/>
          </a:ln>
        </p:spPr>
        <p:txBody>
          <a:bodyPr wrap="square" lIns="0" tIns="0" rIns="0" bIns="0"/>
          <a:lstStyle/>
          <a:p>
            <a:pPr>
              <a:buNone/>
              <a:defRPr sz="900" b="1">
                <a:solidFill>
                  <a:srgbClr val="706E6C"/>
                </a:solidFill>
                <a:latin typeface="Arial"/>
                <a:ea typeface="Arial"/>
                <a:cs typeface="Arial"/>
              </a:defRPr>
            </a:pPr>
            <a:r>
              <a:rPr sz="900" b="1">
                <a:solidFill>
                  <a:srgbClr val="706E6C"/>
                </a:solidFill>
                <a:latin typeface="Arial"/>
                <a:ea typeface="Arial"/>
                <a:cs typeface="Arial"/>
              </a:rPr>
              <a:t>Warm key: story 2. Conceptual simulation. Timing is illustrative.</a:t>
            </a:r>
          </a:p>
        </p:txBody>
      </p:sp>
      <p:sp>
        <p:nvSpPr>
          <p:cNvPr id="9519"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25</a:t>
            </a:r>
          </a:p>
        </p:txBody>
      </p:sp>
    </p:spTree>
    <p:extLst>
      <p:ext uri="{BB962C8B-B14F-4D97-AF65-F5344CB8AC3E}">
        <p14:creationId xmlns:p14="http://schemas.microsoft.com/office/powerpoint/2010/main" val="820906282"/>
      </p:ext>
    </p:extLst>
  </p:cSld>
  <p:clrMapOvr>
    <a:masterClrMapping/>
  </p:clrMapOvr>
  <p:timing>
    <p:tnLst>
      <p:par>
        <p:cTn id="1" dur="indefinite" restart="never" nodeType="tmRoot">
          <p:childTnLst>
            <p:video>
              <p:cMediaNode vol="80000">
                <p:cTn id="2" fill="hold" display="0">
                  <p:stCondLst>
                    <p:cond delay="0"/>
                  </p:stCondLst>
                </p:cTn>
                <p:tgtEl>
                  <p:spTgt spid="7"/>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6"/>
        <p:cNvGrpSpPr/>
        <p:nvPr/>
      </p:nvGrpSpPr>
      <p:grpSpPr>
        <a:xfrm>
          <a:off x="0" y="0"/>
          <a:ext cx="0" cy="0"/>
          <a:chOff x="0" y="0"/>
          <a:chExt cx="0" cy="0"/>
        </a:xfrm>
      </p:grpSpPr>
      <p:sp>
        <p:nvSpPr>
          <p:cNvPr id="468" name="Google Shape;468;p25"/>
          <p:cNvSpPr txBox="1"/>
          <p:nvPr/>
        </p:nvSpPr>
        <p:spPr>
          <a:xfrm>
            <a:off x="2000250" y="276225"/>
            <a:ext cx="6686550" cy="209550"/>
          </a:xfrm>
          <a:prstGeom prst="rect">
            <a:avLst/>
          </a:prstGeom>
          <a:noFill/>
          <a:ln>
            <a:noFill/>
          </a:ln>
        </p:spPr>
        <p:txBody>
          <a:bodyPr spcFirstLastPara="1" wrap="square" lIns="0" tIns="0" rIns="0" bIns="0" anchor="t">
            <a:noAutofit/>
          </a:bodyPr>
          <a:lstStyle/>
          <a:p>
            <a:pPr algn="l">
              <a:buClr>
                <a:srgbClr val="555555"/>
              </a:buClr>
              <a:buSzPts val="1500"/>
              <a:buNone/>
            </a:pPr>
            <a:r>
              <a:rPr sz="900" b="0">
                <a:solidFill>
                  <a:srgbClr val="666666"/>
                </a:solidFill>
                <a:latin typeface="Arial"/>
                <a:ea typeface="Arial"/>
                <a:cs typeface="Arial"/>
              </a:rPr>
              <a:t>shallow caching · PostgreSQL behavior and boundaries</a:t>
            </a:r>
          </a:p>
        </p:txBody>
      </p:sp>
      <p:sp>
        <p:nvSpPr>
          <p:cNvPr id="469" name="Google Shape;469;p25"/>
          <p:cNvSpPr txBox="1"/>
          <p:nvPr/>
        </p:nvSpPr>
        <p:spPr>
          <a:xfrm>
            <a:off x="457200" y="790575"/>
            <a:ext cx="8229600" cy="819150"/>
          </a:xfrm>
          <a:prstGeom prst="rect">
            <a:avLst/>
          </a:prstGeom>
          <a:noFill/>
          <a:ln>
            <a:noFill/>
          </a:ln>
        </p:spPr>
        <p:txBody>
          <a:bodyPr spcFirstLastPara="1" wrap="square" lIns="0" tIns="0" rIns="0" bIns="0" anchor="t">
            <a:noAutofit/>
          </a:bodyPr>
          <a:lstStyle/>
          <a:p>
            <a:pPr algn="l">
              <a:buClr>
                <a:srgbClr val="161615"/>
              </a:buClr>
              <a:buSzPts val="4500"/>
              <a:buNone/>
            </a:pPr>
            <a:r>
              <a:rPr sz="2700" b="1">
                <a:solidFill>
                  <a:srgbClr val="171717"/>
                </a:solidFill>
                <a:latin typeface="Arial"/>
                <a:ea typeface="Arial"/>
                <a:cs typeface="Arial"/>
              </a:rPr>
              <a:t>Shallow caching in PostgreSQL applications</a:t>
            </a:r>
          </a:p>
        </p:txBody>
      </p:sp>
      <p:sp>
        <p:nvSpPr>
          <p:cNvPr id="470" name="Google Shape;470;p25"/>
          <p:cNvSpPr/>
          <p:nvPr/>
        </p:nvSpPr>
        <p:spPr>
          <a:xfrm>
            <a:off x="457200" y="1790548"/>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71" name="Google Shape;471;p25"/>
          <p:cNvSpPr txBox="1"/>
          <p:nvPr/>
        </p:nvSpPr>
        <p:spPr>
          <a:xfrm>
            <a:off x="657454" y="1714653"/>
            <a:ext cx="7801204" cy="243231"/>
          </a:xfrm>
          <a:prstGeom prst="rect">
            <a:avLst/>
          </a:prstGeom>
          <a:noFill/>
          <a:ln>
            <a:noFill/>
          </a:ln>
        </p:spPr>
        <p:txBody>
          <a:bodyPr spcFirstLastPara="1" wrap="square" lIns="0" tIns="0" rIns="0" bIns="0" anchor="ctr">
            <a:noAutofit/>
          </a:bodyPr>
          <a:lstStyle/>
          <a:p>
            <a:pPr>
              <a:buClr>
                <a:srgbClr val="1A1A1A"/>
              </a:buClr>
              <a:buSzPts val="2700"/>
              <a:buNone/>
            </a:pPr>
            <a:r>
              <a:rPr sz="1350" b="1">
                <a:solidFill>
                  <a:srgbClr val="1A1A1A"/>
                </a:solidFill>
                <a:latin typeface="Arial"/>
                <a:ea typeface="Arial"/>
                <a:cs typeface="Arial"/>
              </a:rPr>
              <a:t>Access control: ordinary cached results are shared</a:t>
            </a:r>
            <a:endParaRPr sz="1350">
              <a:solidFill>
                <a:schemeClr val="dk1"/>
              </a:solidFill>
              <a:latin typeface="Arial"/>
              <a:ea typeface="Arial"/>
              <a:cs typeface="Arial"/>
            </a:endParaRPr>
          </a:p>
        </p:txBody>
      </p:sp>
      <p:sp>
        <p:nvSpPr>
          <p:cNvPr id="472" name="Google Shape;472;p25"/>
          <p:cNvSpPr/>
          <p:nvPr/>
        </p:nvSpPr>
        <p:spPr>
          <a:xfrm>
            <a:off x="457200" y="2164080"/>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73" name="Google Shape;473;p25"/>
          <p:cNvSpPr txBox="1"/>
          <p:nvPr/>
        </p:nvSpPr>
        <p:spPr>
          <a:xfrm>
            <a:off x="657454" y="2087728"/>
            <a:ext cx="7801204" cy="243231"/>
          </a:xfrm>
          <a:prstGeom prst="rect">
            <a:avLst/>
          </a:prstGeom>
          <a:noFill/>
          <a:ln>
            <a:noFill/>
          </a:ln>
        </p:spPr>
        <p:txBody>
          <a:bodyPr spcFirstLastPara="1" wrap="square" lIns="0" tIns="0" rIns="0" bIns="0" anchor="ctr">
            <a:noAutofit/>
          </a:bodyPr>
          <a:lstStyle/>
          <a:p>
            <a:pPr>
              <a:buClr>
                <a:srgbClr val="1A1A1A"/>
              </a:buClr>
              <a:buSzPts val="2700"/>
              <a:buNone/>
            </a:pPr>
            <a:r>
              <a:rPr sz="1350" b="1">
                <a:solidFill>
                  <a:srgbClr val="1A1A1A"/>
                </a:solidFill>
                <a:latin typeface="Arial"/>
                <a:ea typeface="Arial"/>
                <a:cs typeface="Arial"/>
              </a:rPr>
              <a:t>Coalescing: concurrent misses can share upstream work</a:t>
            </a:r>
            <a:endParaRPr sz="1350">
              <a:solidFill>
                <a:schemeClr val="dk1"/>
              </a:solidFill>
              <a:latin typeface="Arial"/>
              <a:ea typeface="Arial"/>
              <a:cs typeface="Arial"/>
            </a:endParaRPr>
          </a:p>
        </p:txBody>
      </p:sp>
      <p:sp>
        <p:nvSpPr>
          <p:cNvPr id="474" name="Google Shape;474;p25"/>
          <p:cNvSpPr/>
          <p:nvPr/>
        </p:nvSpPr>
        <p:spPr>
          <a:xfrm>
            <a:off x="457200" y="2537613"/>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75" name="Google Shape;475;p25"/>
          <p:cNvSpPr txBox="1"/>
          <p:nvPr/>
        </p:nvSpPr>
        <p:spPr>
          <a:xfrm>
            <a:off x="657454" y="2461260"/>
            <a:ext cx="7801204" cy="243231"/>
          </a:xfrm>
          <a:prstGeom prst="rect">
            <a:avLst/>
          </a:prstGeom>
          <a:noFill/>
          <a:ln>
            <a:noFill/>
          </a:ln>
        </p:spPr>
        <p:txBody>
          <a:bodyPr spcFirstLastPara="1" wrap="square" lIns="0" tIns="0" rIns="0" bIns="0" anchor="ctr">
            <a:noAutofit/>
          </a:bodyPr>
          <a:lstStyle/>
          <a:p>
            <a:pPr>
              <a:buClr>
                <a:srgbClr val="1A1A1A"/>
              </a:buClr>
              <a:buSzPts val="2700"/>
              <a:buNone/>
            </a:pPr>
            <a:r>
              <a:rPr sz="1350" b="1">
                <a:solidFill>
                  <a:srgbClr val="1A1A1A"/>
                </a:solidFill>
                <a:latin typeface="Arial"/>
                <a:ea typeface="Arial"/>
                <a:cs typeface="Arial"/>
              </a:rPr>
              <a:t>TTL: entry lifetime follows last access</a:t>
            </a:r>
            <a:endParaRPr sz="1350">
              <a:solidFill>
                <a:schemeClr val="dk1"/>
              </a:solidFill>
              <a:latin typeface="Arial"/>
              <a:ea typeface="Arial"/>
              <a:cs typeface="Arial"/>
            </a:endParaRPr>
          </a:p>
        </p:txBody>
      </p:sp>
      <p:sp>
        <p:nvSpPr>
          <p:cNvPr id="476" name="Google Shape;476;p25"/>
          <p:cNvSpPr/>
          <p:nvPr/>
        </p:nvSpPr>
        <p:spPr>
          <a:xfrm>
            <a:off x="457200" y="2911145"/>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77" name="Google Shape;477;p25"/>
          <p:cNvSpPr txBox="1"/>
          <p:nvPr/>
        </p:nvSpPr>
        <p:spPr>
          <a:xfrm>
            <a:off x="657454" y="2834793"/>
            <a:ext cx="7801204" cy="243231"/>
          </a:xfrm>
          <a:prstGeom prst="rect">
            <a:avLst/>
          </a:prstGeom>
          <a:noFill/>
          <a:ln>
            <a:noFill/>
          </a:ln>
        </p:spPr>
        <p:txBody>
          <a:bodyPr spcFirstLastPara="1" wrap="square" lIns="0" tIns="0" rIns="0" bIns="0" anchor="ctr">
            <a:noAutofit/>
          </a:bodyPr>
          <a:lstStyle/>
          <a:p>
            <a:pPr>
              <a:buClr>
                <a:srgbClr val="1A1A1A"/>
              </a:buClr>
              <a:buSzPts val="2700"/>
              <a:buNone/>
            </a:pPr>
            <a:r>
              <a:rPr sz="1350" b="1">
                <a:solidFill>
                  <a:srgbClr val="1A1A1A"/>
                </a:solidFill>
                <a:latin typeface="Arial"/>
                <a:ea typeface="Arial"/>
                <a:cs typeface="Arial"/>
              </a:rPr>
              <a:t>Refresh: eligible entries refresh in the background</a:t>
            </a:r>
            <a:endParaRPr sz="1350">
              <a:solidFill>
                <a:schemeClr val="dk1"/>
              </a:solidFill>
              <a:latin typeface="Arial"/>
              <a:ea typeface="Arial"/>
              <a:cs typeface="Arial"/>
            </a:endParaRPr>
          </a:p>
        </p:txBody>
      </p:sp>
      <p:sp>
        <p:nvSpPr>
          <p:cNvPr id="478" name="Google Shape;478;p25"/>
          <p:cNvSpPr/>
          <p:nvPr/>
        </p:nvSpPr>
        <p:spPr>
          <a:xfrm>
            <a:off x="457200" y="3284220"/>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79" name="Google Shape;479;p25"/>
          <p:cNvSpPr txBox="1"/>
          <p:nvPr/>
        </p:nvSpPr>
        <p:spPr>
          <a:xfrm>
            <a:off x="657454" y="3208325"/>
            <a:ext cx="7801204" cy="243231"/>
          </a:xfrm>
          <a:prstGeom prst="rect">
            <a:avLst/>
          </a:prstGeom>
          <a:noFill/>
          <a:ln>
            <a:noFill/>
          </a:ln>
        </p:spPr>
        <p:txBody>
          <a:bodyPr spcFirstLastPara="1" wrap="square" lIns="0" tIns="0" rIns="0" bIns="0" anchor="ctr">
            <a:noAutofit/>
          </a:bodyPr>
          <a:lstStyle/>
          <a:p>
            <a:pPr>
              <a:buClr>
                <a:srgbClr val="1A1A1A"/>
              </a:buClr>
              <a:buSzPts val="2700"/>
              <a:buNone/>
            </a:pPr>
            <a:r>
              <a:rPr sz="1350" b="1">
                <a:solidFill>
                  <a:srgbClr val="1A1A1A"/>
                </a:solidFill>
                <a:latin typeface="Arial"/>
                <a:ea typeface="Arial"/>
                <a:cs typeface="Arial"/>
              </a:rPr>
              <a:t>RLS: supported policies partition keys by session state</a:t>
            </a:r>
            <a:endParaRPr sz="1350">
              <a:solidFill>
                <a:schemeClr val="dk1"/>
              </a:solidFill>
              <a:latin typeface="Arial"/>
              <a:ea typeface="Arial"/>
              <a:cs typeface="Arial"/>
            </a:endParaRPr>
          </a:p>
        </p:txBody>
      </p:sp>
      <p:sp>
        <p:nvSpPr>
          <p:cNvPr id="480" name="Google Shape;480;p25"/>
          <p:cNvSpPr/>
          <p:nvPr/>
        </p:nvSpPr>
        <p:spPr>
          <a:xfrm>
            <a:off x="457200" y="3657753"/>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81" name="Google Shape;481;p25"/>
          <p:cNvSpPr txBox="1"/>
          <p:nvPr/>
        </p:nvSpPr>
        <p:spPr>
          <a:xfrm>
            <a:off x="657454" y="3581400"/>
            <a:ext cx="7801204" cy="243231"/>
          </a:xfrm>
          <a:prstGeom prst="rect">
            <a:avLst/>
          </a:prstGeom>
          <a:noFill/>
          <a:ln>
            <a:noFill/>
          </a:ln>
        </p:spPr>
        <p:txBody>
          <a:bodyPr spcFirstLastPara="1" wrap="square" lIns="0" tIns="0" rIns="0" bIns="0" anchor="ctr">
            <a:noAutofit/>
          </a:bodyPr>
          <a:lstStyle/>
          <a:p>
            <a:pPr>
              <a:buClr>
                <a:srgbClr val="1A1A1A"/>
              </a:buClr>
              <a:buSzPts val="2700"/>
              <a:buNone/>
            </a:pPr>
            <a:r>
              <a:rPr sz="1350" b="1">
                <a:solidFill>
                  <a:srgbClr val="1A1A1A"/>
                </a:solidFill>
                <a:latin typeface="Arial"/>
                <a:ea typeface="Arial"/>
                <a:cs typeface="Arial"/>
              </a:rPr>
              <a:t>RLS refresh: in-session on a miss, not in the background</a:t>
            </a:r>
            <a:endParaRPr sz="1350">
              <a:solidFill>
                <a:schemeClr val="dk1"/>
              </a:solidFill>
              <a:latin typeface="Arial"/>
              <a:ea typeface="Arial"/>
              <a:cs typeface="Arial"/>
            </a:endParaRPr>
          </a:p>
        </p:txBody>
      </p:sp>
      <p:sp>
        <p:nvSpPr>
          <p:cNvPr id="482" name="Google Shape;482;p25"/>
          <p:cNvSpPr/>
          <p:nvPr/>
        </p:nvSpPr>
        <p:spPr>
          <a:xfrm>
            <a:off x="457200" y="4031285"/>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83" name="Google Shape;483;p25"/>
          <p:cNvSpPr txBox="1"/>
          <p:nvPr/>
        </p:nvSpPr>
        <p:spPr>
          <a:xfrm>
            <a:off x="657454" y="3954933"/>
            <a:ext cx="7801204" cy="243231"/>
          </a:xfrm>
          <a:prstGeom prst="rect">
            <a:avLst/>
          </a:prstGeom>
          <a:noFill/>
          <a:ln>
            <a:noFill/>
          </a:ln>
        </p:spPr>
        <p:txBody>
          <a:bodyPr spcFirstLastPara="1" wrap="square" lIns="0" tIns="0" rIns="0" bIns="0" anchor="ctr">
            <a:noAutofit/>
          </a:bodyPr>
          <a:lstStyle/>
          <a:p>
            <a:pPr>
              <a:buClr>
                <a:srgbClr val="1A1A1A"/>
              </a:buClr>
              <a:buSzPts val="2700"/>
              <a:buNone/>
            </a:pPr>
            <a:r>
              <a:rPr sz="1350" b="1">
                <a:solidFill>
                  <a:srgbClr val="1A1A1A"/>
                </a:solidFill>
                <a:latin typeface="Arial"/>
                <a:ea typeface="Arial"/>
                <a:cs typeface="Arial"/>
              </a:rPr>
              <a:t>Policy changes: catalog polling adds a staleness window</a:t>
            </a:r>
            <a:endParaRPr sz="1350">
              <a:solidFill>
                <a:schemeClr val="dk1"/>
              </a:solidFill>
              <a:latin typeface="Arial"/>
              <a:ea typeface="Arial"/>
              <a:cs typeface="Arial"/>
            </a:endParaRPr>
          </a:p>
        </p:txBody>
      </p:sp>
      <p:sp>
        <p:nvSpPr>
          <p:cNvPr id="484" name="Google Shape;484;p25"/>
          <p:cNvSpPr/>
          <p:nvPr/>
        </p:nvSpPr>
        <p:spPr>
          <a:xfrm>
            <a:off x="457200" y="4404360"/>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85" name="Google Shape;485;p25"/>
          <p:cNvSpPr txBox="1"/>
          <p:nvPr/>
        </p:nvSpPr>
        <p:spPr>
          <a:xfrm>
            <a:off x="657454" y="4328465"/>
            <a:ext cx="7801204" cy="243231"/>
          </a:xfrm>
          <a:prstGeom prst="rect">
            <a:avLst/>
          </a:prstGeom>
          <a:noFill/>
          <a:ln>
            <a:noFill/>
          </a:ln>
        </p:spPr>
        <p:txBody>
          <a:bodyPr spcFirstLastPara="1" wrap="square" lIns="0" tIns="0" rIns="0" bIns="0" anchor="ctr">
            <a:noAutofit/>
          </a:bodyPr>
          <a:lstStyle/>
          <a:p>
            <a:pPr>
              <a:buClr>
                <a:srgbClr val="1A1A1A"/>
              </a:buClr>
              <a:buSzPts val="2700"/>
              <a:buNone/>
            </a:pPr>
            <a:r>
              <a:rPr sz="1350" b="1">
                <a:solidFill>
                  <a:srgbClr val="1A1A1A"/>
                </a:solidFill>
                <a:latin typeface="Arial"/>
                <a:ea typeface="Arial"/>
                <a:cs typeface="Arial"/>
              </a:rPr>
              <a:t>Deep caching does not support RLS-protected tables</a:t>
            </a:r>
            <a:endParaRPr sz="1350">
              <a:solidFill>
                <a:schemeClr val="dk1"/>
              </a:solidFill>
              <a:latin typeface="Arial"/>
              <a:ea typeface="Arial"/>
              <a:cs typeface="Arial"/>
            </a:endParaRPr>
          </a:p>
        </p:txBody>
      </p:sp>
      <p:pic>
        <p:nvPicPr>
          <p:cNvPr id="9025" name="Readyset standard logo 25"/>
          <p:cNvPicPr>
            <a:picLocks noChangeAspect="1"/>
          </p:cNvPicPr>
          <p:nvPr/>
        </p:nvPicPr>
        <p:blipFill>
          <a:blip r:embed="rId3"/>
          <a:stretch/>
        </p:blipFill>
        <p:spPr>
          <a:xfrm>
            <a:off x="457200" y="239275"/>
            <a:ext cx="952500" cy="216776"/>
          </a:xfrm>
          <a:prstGeom prst="rect">
            <a:avLst/>
          </a:prstGeom>
        </p:spPr>
      </p:pic>
      <p:sp>
        <p:nvSpPr>
          <p:cNvPr id="9525"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a:extLst>
            <a:ext uri="{FF2B5EF4-FFF2-40B4-BE49-F238E27FC236}">
              <a16:creationId xmlns:a16="http://schemas.microsoft.com/office/drawing/2014/main" id="{B2C0D769-6352-FF9B-CFFF-0693F366F2AA}"/>
            </a:ext>
          </a:extLst>
        </p:cNvPr>
        <p:cNvGrpSpPr/>
        <p:nvPr/>
      </p:nvGrpSpPr>
      <p:grpSpPr>
        <a:xfrm>
          <a:off x="0" y="0"/>
          <a:ext cx="0" cy="0"/>
          <a:chOff x="0" y="0"/>
          <a:chExt cx="0" cy="0"/>
        </a:xfrm>
      </p:grpSpPr>
      <p:pic>
        <p:nvPicPr>
          <p:cNvPr id="7" name="Readyset logo" descr="Readyset logo">
            <a:extLst>
              <a:ext uri="{FF2B5EF4-FFF2-40B4-BE49-F238E27FC236}">
                <a16:creationId xmlns:a16="http://schemas.microsoft.com/office/drawing/2014/main" id="{986EBD96-6B6D-B641-FFF8-02AE9155C11A}"/>
              </a:ext>
            </a:extLst>
          </p:cNvPr>
          <p:cNvPicPr>
            <a:picLocks noChangeAspect="1"/>
          </p:cNvPicPr>
          <p:nvPr/>
        </p:nvPicPr>
        <p:blipFill>
          <a:blip r:embed="rId3"/>
          <a:stretch/>
        </p:blipFill>
        <p:spPr>
          <a:xfrm>
            <a:off x="457200" y="238132"/>
            <a:ext cx="952500" cy="216776"/>
          </a:xfrm>
          <a:prstGeom prst="rect">
            <a:avLst/>
          </a:prstGeom>
        </p:spPr>
      </p:pic>
      <p:sp>
        <p:nvSpPr>
          <p:cNvPr id="4" name="Slide title">
            <a:extLst>
              <a:ext uri="{FF2B5EF4-FFF2-40B4-BE49-F238E27FC236}">
                <a16:creationId xmlns:a16="http://schemas.microsoft.com/office/drawing/2014/main" id="{6EF17A86-4960-C187-7375-8B544E53ED30}"/>
              </a:ext>
            </a:extLst>
          </p:cNvPr>
          <p:cNvSpPr>
            <a:spLocks noGrp="1"/>
          </p:cNvSpPr>
          <p:nvPr/>
        </p:nvSpPr>
        <p:spPr>
          <a:xfrm>
            <a:off x="457200" y="2038350"/>
            <a:ext cx="5905500" cy="1476375"/>
          </a:xfrm>
          <a:prstGeom prst="rect">
            <a:avLst/>
          </a:prstGeom>
          <a:noFill/>
          <a:ln w="0">
            <a:noFill/>
          </a:ln>
        </p:spPr>
        <p:txBody>
          <a:bodyPr wrap="none" lIns="0" tIns="0" rIns="0" bIns="0">
            <a:noAutofit/>
          </a:bodyPr>
          <a:lstStyle/>
          <a:p>
            <a:pPr>
              <a:lnSpc>
                <a:spcPct val="110000"/>
              </a:lnSpc>
              <a:buNone/>
              <a:defRPr sz="4275" b="1">
                <a:solidFill>
                  <a:srgbClr val="EDEDEC"/>
                </a:solidFill>
                <a:latin typeface="Arial"/>
                <a:ea typeface="Arial"/>
                <a:cs typeface="Arial"/>
              </a:defRPr>
            </a:pPr>
            <a:r>
              <a:rPr lang="pt-BR" sz="4275" b="1" dirty="0" err="1">
                <a:solidFill>
                  <a:srgbClr val="EDEDEC"/>
                </a:solidFill>
                <a:latin typeface="Arial"/>
                <a:ea typeface="Arial"/>
                <a:cs typeface="Arial"/>
              </a:rPr>
              <a:t>Deep</a:t>
            </a:r>
            <a:r>
              <a:rPr lang="pt-BR" sz="4275" b="1" dirty="0">
                <a:solidFill>
                  <a:srgbClr val="EDEDEC"/>
                </a:solidFill>
                <a:latin typeface="Arial"/>
                <a:ea typeface="Arial"/>
                <a:cs typeface="Arial"/>
              </a:rPr>
              <a:t> </a:t>
            </a:r>
            <a:r>
              <a:rPr lang="pt-BR" sz="4275" b="1" dirty="0" err="1">
                <a:solidFill>
                  <a:srgbClr val="EDEDEC"/>
                </a:solidFill>
                <a:latin typeface="Arial"/>
                <a:ea typeface="Arial"/>
                <a:cs typeface="Arial"/>
              </a:rPr>
              <a:t>Caching</a:t>
            </a:r>
            <a:endParaRPr lang="en-BR" sz="4275" b="1" dirty="0">
              <a:solidFill>
                <a:srgbClr val="EDEDEC"/>
              </a:solidFill>
              <a:latin typeface="Arial"/>
              <a:ea typeface="Arial"/>
              <a:cs typeface="Arial"/>
            </a:endParaRPr>
          </a:p>
        </p:txBody>
      </p:sp>
      <p:pic>
        <p:nvPicPr>
          <p:cNvPr id="12" name="Section glyph" descr="Section glyph">
            <a:extLst>
              <a:ext uri="{FF2B5EF4-FFF2-40B4-BE49-F238E27FC236}">
                <a16:creationId xmlns:a16="http://schemas.microsoft.com/office/drawing/2014/main" id="{55433AE3-4E5F-2622-60B3-BF032108A454}"/>
              </a:ext>
            </a:extLst>
          </p:cNvPr>
          <p:cNvPicPr>
            <a:picLocks noChangeAspect="1"/>
          </p:cNvPicPr>
          <p:nvPr/>
        </p:nvPicPr>
        <p:blipFill>
          <a:blip r:embed="rId4"/>
          <a:stretch/>
        </p:blipFill>
        <p:spPr>
          <a:xfrm>
            <a:off x="6905625" y="1823085"/>
            <a:ext cx="1619250" cy="1554480"/>
          </a:xfrm>
          <a:prstGeom prst="rect">
            <a:avLst/>
          </a:prstGeom>
        </p:spPr>
      </p:pic>
      <p:sp>
        <p:nvSpPr>
          <p:cNvPr id="9526"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27</a:t>
            </a:r>
          </a:p>
        </p:txBody>
      </p:sp>
    </p:spTree>
    <p:extLst>
      <p:ext uri="{BB962C8B-B14F-4D97-AF65-F5344CB8AC3E}">
        <p14:creationId xmlns:p14="http://schemas.microsoft.com/office/powerpoint/2010/main" val="118552970"/>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67"/>
        <p:cNvGrpSpPr/>
        <p:nvPr/>
      </p:nvGrpSpPr>
      <p:grpSpPr>
        <a:xfrm>
          <a:off x="0" y="0"/>
          <a:ext cx="0" cy="0"/>
          <a:chOff x="0" y="0"/>
          <a:chExt cx="0" cy="0"/>
        </a:xfrm>
      </p:grpSpPr>
      <p:sp>
        <p:nvSpPr>
          <p:cNvPr id="668" name="Google Shape;668;p31"/>
          <p:cNvSpPr/>
          <p:nvPr/>
        </p:nvSpPr>
        <p:spPr>
          <a:xfrm>
            <a:off x="380848" y="1666951"/>
            <a:ext cx="5153101" cy="2914650"/>
          </a:xfrm>
          <a:prstGeom prst="roundRect">
            <a:avLst>
              <a:gd name="adj" fmla="val 1961"/>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69" name="Google Shape;669;p31"/>
          <p:cNvSpPr/>
          <p:nvPr/>
        </p:nvSpPr>
        <p:spPr>
          <a:xfrm>
            <a:off x="5600700" y="2143354"/>
            <a:ext cx="2881275" cy="533553"/>
          </a:xfrm>
          <a:prstGeom prst="roundRect">
            <a:avLst>
              <a:gd name="adj" fmla="val 5398"/>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70" name="Google Shape;670;p31"/>
          <p:cNvSpPr/>
          <p:nvPr/>
        </p:nvSpPr>
        <p:spPr>
          <a:xfrm>
            <a:off x="5600700" y="2143354"/>
            <a:ext cx="19203" cy="533553"/>
          </a:xfrm>
          <a:prstGeom prst="roundRect">
            <a:avLst>
              <a:gd name="adj" fmla="val 149999"/>
            </a:avLst>
          </a:prstGeom>
          <a:solidFill>
            <a:srgbClr val="555555"/>
          </a:solidFill>
          <a:ln w="12700" cap="flat" cmpd="sng">
            <a:solidFill>
              <a:srgbClr val="555555">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71" name="Google Shape;671;p31"/>
          <p:cNvSpPr/>
          <p:nvPr/>
        </p:nvSpPr>
        <p:spPr>
          <a:xfrm>
            <a:off x="5600700" y="2738628"/>
            <a:ext cx="2881275" cy="533553"/>
          </a:xfrm>
          <a:prstGeom prst="roundRect">
            <a:avLst>
              <a:gd name="adj" fmla="val 5398"/>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72" name="Google Shape;672;p31"/>
          <p:cNvSpPr/>
          <p:nvPr/>
        </p:nvSpPr>
        <p:spPr>
          <a:xfrm>
            <a:off x="5600700" y="2738628"/>
            <a:ext cx="19203" cy="533553"/>
          </a:xfrm>
          <a:prstGeom prst="roundRect">
            <a:avLst>
              <a:gd name="adj" fmla="val 149999"/>
            </a:avLst>
          </a:prstGeom>
          <a:solidFill>
            <a:srgbClr val="555555"/>
          </a:solidFill>
          <a:ln w="12700" cap="flat" cmpd="sng">
            <a:solidFill>
              <a:srgbClr val="555555">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73" name="Google Shape;673;p31"/>
          <p:cNvSpPr/>
          <p:nvPr/>
        </p:nvSpPr>
        <p:spPr>
          <a:xfrm>
            <a:off x="5600700" y="3333903"/>
            <a:ext cx="2881275" cy="533553"/>
          </a:xfrm>
          <a:prstGeom prst="roundRect">
            <a:avLst>
              <a:gd name="adj" fmla="val 5398"/>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74" name="Google Shape;674;p31"/>
          <p:cNvSpPr/>
          <p:nvPr/>
        </p:nvSpPr>
        <p:spPr>
          <a:xfrm>
            <a:off x="5600700" y="3333903"/>
            <a:ext cx="19203" cy="533553"/>
          </a:xfrm>
          <a:prstGeom prst="roundRect">
            <a:avLst>
              <a:gd name="adj" fmla="val 149999"/>
            </a:avLst>
          </a:prstGeom>
          <a:solidFill>
            <a:srgbClr val="555555"/>
          </a:solidFill>
          <a:ln w="12700" cap="flat" cmpd="sng">
            <a:solidFill>
              <a:srgbClr val="555555">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75" name="Google Shape;675;p31"/>
          <p:cNvSpPr/>
          <p:nvPr/>
        </p:nvSpPr>
        <p:spPr>
          <a:xfrm>
            <a:off x="5600700" y="3929177"/>
            <a:ext cx="2857500" cy="642823"/>
          </a:xfrm>
          <a:prstGeom prst="roundRect">
            <a:avLst>
              <a:gd name="adj" fmla="val 4481"/>
            </a:avLst>
          </a:prstGeom>
          <a:solidFill>
            <a:srgbClr val="16161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77" name="Google Shape;677;p31"/>
          <p:cNvSpPr txBox="1"/>
          <p:nvPr/>
        </p:nvSpPr>
        <p:spPr>
          <a:xfrm>
            <a:off x="2000250" y="276225"/>
            <a:ext cx="6686550" cy="209550"/>
          </a:xfrm>
          <a:prstGeom prst="rect">
            <a:avLst/>
          </a:prstGeom>
          <a:noFill/>
          <a:ln>
            <a:noFill/>
          </a:ln>
        </p:spPr>
        <p:txBody>
          <a:bodyPr spcFirstLastPara="1" wrap="square" lIns="0" tIns="0" rIns="0" bIns="0" anchor="t" anchorCtr="0">
            <a:noAutofit/>
          </a:bodyPr>
          <a:lstStyle/>
          <a:p>
            <a:pPr algn="l">
              <a:buClr>
                <a:srgbClr val="555555"/>
              </a:buClr>
              <a:buSzPts val="1500"/>
            </a:pPr>
            <a:r>
              <a:rPr lang="en-US" sz="900" b="0">
                <a:solidFill>
                  <a:srgbClr val="666666"/>
                </a:solidFill>
                <a:latin typeface="Arial"/>
                <a:ea typeface="Arial"/>
                <a:cs typeface="Arial"/>
                <a:sym typeface="IBM Plex Mono"/>
              </a:rPr>
              <a:t>deep caching · architecture</a:t>
            </a:r>
            <a:endParaRPr sz="900" b="0">
              <a:solidFill>
                <a:srgbClr val="666666"/>
              </a:solidFill>
              <a:latin typeface="Arial"/>
              <a:ea typeface="Arial"/>
              <a:cs typeface="Arial"/>
              <a:sym typeface="Arial"/>
            </a:endParaRPr>
          </a:p>
        </p:txBody>
      </p:sp>
      <p:sp>
        <p:nvSpPr>
          <p:cNvPr id="678" name="Google Shape;678;p31"/>
          <p:cNvSpPr txBox="1"/>
          <p:nvPr/>
        </p:nvSpPr>
        <p:spPr>
          <a:xfrm>
            <a:off x="457200" y="790575"/>
            <a:ext cx="8229600" cy="457200"/>
          </a:xfrm>
          <a:prstGeom prst="rect">
            <a:avLst/>
          </a:prstGeom>
          <a:noFill/>
          <a:ln>
            <a:noFill/>
          </a:ln>
        </p:spPr>
        <p:txBody>
          <a:bodyPr spcFirstLastPara="1" wrap="square" lIns="0" tIns="0" rIns="0" bIns="0" anchor="t" anchorCtr="0">
            <a:noAutofit/>
          </a:bodyPr>
          <a:lstStyle/>
          <a:p>
            <a:pPr algn="l">
              <a:buClr>
                <a:srgbClr val="161615"/>
              </a:buClr>
              <a:buSzPts val="4650"/>
            </a:pPr>
            <a:r>
              <a:rPr lang="en-US" sz="2700" b="1">
                <a:solidFill>
                  <a:srgbClr val="171717"/>
                </a:solidFill>
                <a:latin typeface="Arial"/>
                <a:ea typeface="Arial"/>
                <a:cs typeface="Arial"/>
                <a:sym typeface="Arial"/>
              </a:rPr>
              <a:t>The database notifies. Readyset keeps up.</a:t>
            </a:r>
            <a:endParaRPr sz="2700" b="1">
              <a:solidFill>
                <a:srgbClr val="171717"/>
              </a:solidFill>
              <a:latin typeface="Arial"/>
              <a:ea typeface="Arial"/>
              <a:cs typeface="Arial"/>
              <a:sym typeface="Arial"/>
            </a:endParaRPr>
          </a:p>
        </p:txBody>
      </p:sp>
      <p:sp>
        <p:nvSpPr>
          <p:cNvPr id="679" name="Google Shape;679;p31"/>
          <p:cNvSpPr txBox="1"/>
          <p:nvPr/>
        </p:nvSpPr>
        <p:spPr>
          <a:xfrm>
            <a:off x="457200" y="1381201"/>
            <a:ext cx="8001000" cy="128931"/>
          </a:xfrm>
          <a:prstGeom prst="rect">
            <a:avLst/>
          </a:prstGeom>
          <a:noFill/>
          <a:ln>
            <a:noFill/>
          </a:ln>
        </p:spPr>
        <p:txBody>
          <a:bodyPr spcFirstLastPara="1" wrap="square" lIns="0" tIns="0" rIns="0" bIns="0" anchor="ctr">
            <a:noAutofit/>
          </a:bodyPr>
          <a:lstStyle/>
          <a:p>
            <a:pPr>
              <a:buClr>
                <a:srgbClr val="706E6C"/>
              </a:buClr>
              <a:buSzPts val="1500"/>
              <a:buNone/>
            </a:pPr>
            <a:r>
              <a:rPr sz="750">
                <a:solidFill>
                  <a:srgbClr val="706E6C"/>
                </a:solidFill>
                <a:latin typeface="Arial"/>
                <a:ea typeface="Arial"/>
                <a:cs typeface="Arial"/>
              </a:rPr>
              <a:t>Initial snapshot, logical replication, and incremental maintenance</a:t>
            </a:r>
            <a:endParaRPr sz="750">
              <a:solidFill>
                <a:schemeClr val="dk1"/>
              </a:solidFill>
              <a:latin typeface="Arial"/>
              <a:ea typeface="Arial"/>
              <a:cs typeface="Arial"/>
            </a:endParaRPr>
          </a:p>
        </p:txBody>
      </p:sp>
      <p:pic>
        <p:nvPicPr>
          <p:cNvPr id="680" name="Google Shape;680;p31" descr="gen-dedup-3fab9fb5eb40e6ce312d5dc0c31248a7.png"/>
          <p:cNvPicPr preferRelativeResize="0"/>
          <p:nvPr/>
        </p:nvPicPr>
        <p:blipFill rotWithShape="1">
          <a:blip r:embed="rId3">
            <a:alphaModFix/>
          </a:blip>
          <a:srcRect t="-181" b="-181"/>
          <a:stretch/>
        </p:blipFill>
        <p:spPr>
          <a:xfrm>
            <a:off x="476403" y="1809598"/>
            <a:ext cx="4952848" cy="2524201"/>
          </a:xfrm>
          <a:prstGeom prst="rect">
            <a:avLst/>
          </a:prstGeom>
          <a:noFill/>
          <a:ln>
            <a:noFill/>
          </a:ln>
        </p:spPr>
      </p:pic>
      <p:sp>
        <p:nvSpPr>
          <p:cNvPr id="681" name="Google Shape;681;p31"/>
          <p:cNvSpPr txBox="1"/>
          <p:nvPr/>
        </p:nvSpPr>
        <p:spPr>
          <a:xfrm>
            <a:off x="476403" y="4357573"/>
            <a:ext cx="4953305" cy="85954"/>
          </a:xfrm>
          <a:prstGeom prst="rect">
            <a:avLst/>
          </a:prstGeom>
          <a:noFill/>
          <a:ln>
            <a:noFill/>
          </a:ln>
        </p:spPr>
        <p:txBody>
          <a:bodyPr spcFirstLastPara="1" wrap="square" lIns="0" tIns="0" rIns="0" bIns="0" anchor="ctr" anchorCtr="0">
            <a:noAutofit/>
          </a:bodyPr>
          <a:lstStyle/>
          <a:p>
            <a:pPr algn="ctr">
              <a:buClr>
                <a:srgbClr val="706E6C"/>
              </a:buClr>
              <a:buSzPts val="1050"/>
            </a:pPr>
            <a:r>
              <a:rPr lang="en-US" sz="525">
                <a:solidFill>
                  <a:srgbClr val="706E6C"/>
                </a:solidFill>
                <a:latin typeface="Arial"/>
                <a:ea typeface="Arial"/>
                <a:cs typeface="Arial"/>
                <a:sym typeface="IBM Plex Mono"/>
              </a:rPr>
              <a:t>reads → served by the </a:t>
            </a:r>
            <a:r>
              <a:rPr lang="en-US" sz="525">
                <a:solidFill>
                  <a:srgbClr val="555555"/>
                </a:solidFill>
                <a:latin typeface="Arial"/>
                <a:ea typeface="Arial"/>
                <a:cs typeface="Arial"/>
                <a:sym typeface="IBM Plex Mono"/>
              </a:rPr>
              <a:t>Reader</a:t>
            </a:r>
            <a:r>
              <a:rPr lang="en-US" sz="525">
                <a:solidFill>
                  <a:srgbClr val="706E6C"/>
                </a:solidFill>
                <a:latin typeface="Arial"/>
                <a:ea typeface="Arial"/>
                <a:cs typeface="Arial"/>
                <a:sym typeface="IBM Plex Mono"/>
              </a:rPr>
              <a:t> · writes → flow straight to the </a:t>
            </a:r>
            <a:r>
              <a:rPr lang="en-US" sz="525">
                <a:solidFill>
                  <a:srgbClr val="161615"/>
                </a:solidFill>
                <a:latin typeface="Arial"/>
                <a:ea typeface="Arial"/>
                <a:cs typeface="Arial"/>
                <a:sym typeface="IBM Plex Mono"/>
              </a:rPr>
              <a:t>Database</a:t>
            </a:r>
            <a:r>
              <a:rPr lang="en-US" sz="525">
                <a:solidFill>
                  <a:srgbClr val="706E6C"/>
                </a:solidFill>
                <a:latin typeface="Arial"/>
                <a:ea typeface="Arial"/>
                <a:cs typeface="Arial"/>
                <a:sym typeface="IBM Plex Mono"/>
              </a:rPr>
              <a:t> · </a:t>
            </a:r>
            <a:r>
              <a:rPr lang="en-US" sz="525">
                <a:solidFill>
                  <a:srgbClr val="161615"/>
                </a:solidFill>
                <a:latin typeface="Arial"/>
                <a:ea typeface="Arial"/>
                <a:cs typeface="Arial"/>
                <a:sym typeface="IBM Plex Mono"/>
              </a:rPr>
              <a:t>Replicator</a:t>
            </a:r>
            <a:r>
              <a:rPr lang="en-US" sz="525">
                <a:solidFill>
                  <a:srgbClr val="706E6C"/>
                </a:solidFill>
                <a:latin typeface="Arial"/>
                <a:ea typeface="Arial"/>
                <a:cs typeface="Arial"/>
                <a:sym typeface="IBM Plex Mono"/>
              </a:rPr>
              <a:t> feeds the Dataflow</a:t>
            </a:r>
            <a:endParaRPr sz="525">
              <a:solidFill>
                <a:schemeClr val="dk1"/>
              </a:solidFill>
              <a:latin typeface="Arial"/>
              <a:ea typeface="Arial"/>
              <a:cs typeface="Arial"/>
              <a:sym typeface="Arial"/>
            </a:endParaRPr>
          </a:p>
        </p:txBody>
      </p:sp>
      <p:sp>
        <p:nvSpPr>
          <p:cNvPr id="682" name="Google Shape;682;p31"/>
          <p:cNvSpPr txBox="1"/>
          <p:nvPr/>
        </p:nvSpPr>
        <p:spPr>
          <a:xfrm>
            <a:off x="5600700" y="1714500"/>
            <a:ext cx="2857500" cy="81382"/>
          </a:xfrm>
          <a:prstGeom prst="rect">
            <a:avLst/>
          </a:prstGeom>
          <a:noFill/>
          <a:ln>
            <a:noFill/>
          </a:ln>
        </p:spPr>
        <p:txBody>
          <a:bodyPr spcFirstLastPara="1" wrap="square" lIns="0" tIns="0" rIns="0" bIns="0" anchor="ctr" anchorCtr="0">
            <a:noAutofit/>
          </a:bodyPr>
          <a:lstStyle/>
          <a:p>
            <a:pPr>
              <a:buClr>
                <a:srgbClr val="706E6C"/>
              </a:buClr>
              <a:buSzPts val="975"/>
            </a:pPr>
            <a:r>
              <a:rPr lang="en-US" sz="488">
                <a:solidFill>
                  <a:srgbClr val="706E6C"/>
                </a:solidFill>
                <a:latin typeface="Arial"/>
                <a:ea typeface="Arial"/>
                <a:cs typeface="Arial"/>
                <a:sym typeface="IBM Plex Mono"/>
              </a:rPr>
              <a:t>components</a:t>
            </a:r>
            <a:endParaRPr sz="488">
              <a:solidFill>
                <a:schemeClr val="dk1"/>
              </a:solidFill>
              <a:latin typeface="Arial"/>
              <a:ea typeface="Arial"/>
              <a:cs typeface="Arial"/>
              <a:sym typeface="Arial"/>
            </a:endParaRPr>
          </a:p>
        </p:txBody>
      </p:sp>
      <p:sp>
        <p:nvSpPr>
          <p:cNvPr id="683" name="Google Shape;683;p31"/>
          <p:cNvSpPr txBox="1"/>
          <p:nvPr/>
        </p:nvSpPr>
        <p:spPr>
          <a:xfrm>
            <a:off x="5600700" y="1824228"/>
            <a:ext cx="2857500" cy="147676"/>
          </a:xfrm>
          <a:prstGeom prst="rect">
            <a:avLst/>
          </a:prstGeom>
          <a:noFill/>
          <a:ln>
            <a:noFill/>
          </a:ln>
        </p:spPr>
        <p:txBody>
          <a:bodyPr spcFirstLastPara="1" wrap="square" lIns="0" tIns="0" rIns="0" bIns="0" anchor="ctr" anchorCtr="0">
            <a:noAutofit/>
          </a:bodyPr>
          <a:lstStyle/>
          <a:p>
            <a:pPr>
              <a:buClr>
                <a:srgbClr val="161615"/>
              </a:buClr>
              <a:buSzPts val="1950"/>
            </a:pPr>
            <a:r>
              <a:rPr lang="en-US" sz="975" b="1">
                <a:solidFill>
                  <a:srgbClr val="161615"/>
                </a:solidFill>
                <a:latin typeface="Arial"/>
                <a:ea typeface="Arial"/>
                <a:cs typeface="Arial"/>
                <a:sym typeface="Arial"/>
              </a:rPr>
              <a:t>What makes up Deep</a:t>
            </a:r>
            <a:endParaRPr sz="975">
              <a:solidFill>
                <a:schemeClr val="dk1"/>
              </a:solidFill>
              <a:latin typeface="Arial"/>
              <a:ea typeface="Arial"/>
              <a:cs typeface="Arial"/>
              <a:sym typeface="Arial"/>
            </a:endParaRPr>
          </a:p>
        </p:txBody>
      </p:sp>
      <p:sp>
        <p:nvSpPr>
          <p:cNvPr id="684" name="Google Shape;684;p31"/>
          <p:cNvSpPr txBox="1"/>
          <p:nvPr/>
        </p:nvSpPr>
        <p:spPr>
          <a:xfrm>
            <a:off x="5743804" y="2248053"/>
            <a:ext cx="285750" cy="90526"/>
          </a:xfrm>
          <a:prstGeom prst="rect">
            <a:avLst/>
          </a:prstGeom>
          <a:noFill/>
          <a:ln>
            <a:noFill/>
          </a:ln>
        </p:spPr>
        <p:txBody>
          <a:bodyPr spcFirstLastPara="1" wrap="square" lIns="0" tIns="0" rIns="0" bIns="0" anchor="ctr" anchorCtr="0">
            <a:noAutofit/>
          </a:bodyPr>
          <a:lstStyle/>
          <a:p>
            <a:pPr>
              <a:buClr>
                <a:srgbClr val="555555"/>
              </a:buClr>
              <a:buSzPts val="1125"/>
            </a:pPr>
            <a:r>
              <a:rPr lang="en-US" sz="563">
                <a:solidFill>
                  <a:srgbClr val="555555"/>
                </a:solidFill>
                <a:latin typeface="Arial"/>
                <a:ea typeface="Arial"/>
                <a:cs typeface="Arial"/>
                <a:sym typeface="IBM Plex Mono"/>
              </a:rPr>
              <a:t>01.</a:t>
            </a:r>
            <a:endParaRPr sz="563">
              <a:solidFill>
                <a:schemeClr val="dk1"/>
              </a:solidFill>
              <a:latin typeface="Arial"/>
              <a:ea typeface="Arial"/>
              <a:cs typeface="Arial"/>
              <a:sym typeface="Arial"/>
            </a:endParaRPr>
          </a:p>
        </p:txBody>
      </p:sp>
      <p:sp>
        <p:nvSpPr>
          <p:cNvPr id="685" name="Google Shape;685;p31"/>
          <p:cNvSpPr txBox="1"/>
          <p:nvPr/>
        </p:nvSpPr>
        <p:spPr>
          <a:xfrm>
            <a:off x="6105449" y="2219249"/>
            <a:ext cx="2257654" cy="123901"/>
          </a:xfrm>
          <a:prstGeom prst="rect">
            <a:avLst/>
          </a:prstGeom>
          <a:noFill/>
          <a:ln>
            <a:noFill/>
          </a:ln>
        </p:spPr>
        <p:txBody>
          <a:bodyPr spcFirstLastPara="1" wrap="square" lIns="0" tIns="0" rIns="0" bIns="0" anchor="ctr" anchorCtr="0">
            <a:noAutofit/>
          </a:bodyPr>
          <a:lstStyle/>
          <a:p>
            <a:pPr>
              <a:buClr>
                <a:srgbClr val="161615"/>
              </a:buClr>
              <a:buSzPts val="1650"/>
            </a:pPr>
            <a:r>
              <a:rPr lang="en-US" sz="825" b="1">
                <a:solidFill>
                  <a:srgbClr val="161615"/>
                </a:solidFill>
                <a:latin typeface="Arial"/>
                <a:ea typeface="Arial"/>
                <a:cs typeface="Arial"/>
                <a:sym typeface="Arial"/>
              </a:rPr>
              <a:t>Snapshot</a:t>
            </a:r>
            <a:endParaRPr sz="825">
              <a:solidFill>
                <a:schemeClr val="dk1"/>
              </a:solidFill>
              <a:latin typeface="Arial"/>
              <a:ea typeface="Arial"/>
              <a:cs typeface="Arial"/>
              <a:sym typeface="Arial"/>
            </a:endParaRPr>
          </a:p>
        </p:txBody>
      </p:sp>
      <p:sp>
        <p:nvSpPr>
          <p:cNvPr id="686" name="Google Shape;686;p31"/>
          <p:cNvSpPr txBox="1"/>
          <p:nvPr/>
        </p:nvSpPr>
        <p:spPr>
          <a:xfrm>
            <a:off x="6105449" y="2362353"/>
            <a:ext cx="2257654" cy="219456"/>
          </a:xfrm>
          <a:prstGeom prst="rect">
            <a:avLst/>
          </a:prstGeom>
          <a:noFill/>
          <a:ln>
            <a:noFill/>
          </a:ln>
        </p:spPr>
        <p:txBody>
          <a:bodyPr spcFirstLastPara="1" wrap="square" lIns="0" tIns="0" rIns="0" bIns="0" anchor="ctr" anchorCtr="0">
            <a:noAutofit/>
          </a:bodyPr>
          <a:lstStyle/>
          <a:p>
            <a:pPr>
              <a:lnSpc>
                <a:spcPct val="135000"/>
              </a:lnSpc>
              <a:buClr>
                <a:srgbClr val="706E6C"/>
              </a:buClr>
              <a:buSzPts val="1275"/>
            </a:pPr>
            <a:r>
              <a:rPr lang="en-US" sz="638">
                <a:solidFill>
                  <a:srgbClr val="706E6C"/>
                </a:solidFill>
                <a:latin typeface="Arial"/>
                <a:ea typeface="Arial"/>
                <a:cs typeface="Arial"/>
                <a:sym typeface="Arial"/>
              </a:rPr>
              <a:t>An initial copy of the tables that will be cached — hydrates the Base Tables of the dataflow.</a:t>
            </a:r>
            <a:endParaRPr sz="638">
              <a:solidFill>
                <a:schemeClr val="dk1"/>
              </a:solidFill>
              <a:latin typeface="Arial"/>
              <a:ea typeface="Arial"/>
              <a:cs typeface="Arial"/>
              <a:sym typeface="Arial"/>
            </a:endParaRPr>
          </a:p>
        </p:txBody>
      </p:sp>
      <p:sp>
        <p:nvSpPr>
          <p:cNvPr id="687" name="Google Shape;687;p31"/>
          <p:cNvSpPr txBox="1"/>
          <p:nvPr/>
        </p:nvSpPr>
        <p:spPr>
          <a:xfrm>
            <a:off x="5743804" y="2843327"/>
            <a:ext cx="285750" cy="90526"/>
          </a:xfrm>
          <a:prstGeom prst="rect">
            <a:avLst/>
          </a:prstGeom>
          <a:noFill/>
          <a:ln>
            <a:noFill/>
          </a:ln>
        </p:spPr>
        <p:txBody>
          <a:bodyPr spcFirstLastPara="1" wrap="square" lIns="0" tIns="0" rIns="0" bIns="0" anchor="ctr" anchorCtr="0">
            <a:noAutofit/>
          </a:bodyPr>
          <a:lstStyle/>
          <a:p>
            <a:pPr>
              <a:buClr>
                <a:srgbClr val="555555"/>
              </a:buClr>
              <a:buSzPts val="1125"/>
            </a:pPr>
            <a:r>
              <a:rPr lang="en-US" sz="563">
                <a:solidFill>
                  <a:srgbClr val="555555"/>
                </a:solidFill>
                <a:latin typeface="Arial"/>
                <a:ea typeface="Arial"/>
                <a:cs typeface="Arial"/>
                <a:sym typeface="IBM Plex Mono"/>
              </a:rPr>
              <a:t>02.</a:t>
            </a:r>
            <a:endParaRPr sz="563">
              <a:solidFill>
                <a:schemeClr val="dk1"/>
              </a:solidFill>
              <a:latin typeface="Arial"/>
              <a:ea typeface="Arial"/>
              <a:cs typeface="Arial"/>
              <a:sym typeface="Arial"/>
            </a:endParaRPr>
          </a:p>
        </p:txBody>
      </p:sp>
      <p:sp>
        <p:nvSpPr>
          <p:cNvPr id="688" name="Google Shape;688;p31"/>
          <p:cNvSpPr txBox="1"/>
          <p:nvPr/>
        </p:nvSpPr>
        <p:spPr>
          <a:xfrm>
            <a:off x="6105449" y="2814523"/>
            <a:ext cx="2257654" cy="123901"/>
          </a:xfrm>
          <a:prstGeom prst="rect">
            <a:avLst/>
          </a:prstGeom>
          <a:noFill/>
          <a:ln>
            <a:noFill/>
          </a:ln>
        </p:spPr>
        <p:txBody>
          <a:bodyPr spcFirstLastPara="1" wrap="square" lIns="0" tIns="0" rIns="0" bIns="0" anchor="ctr" anchorCtr="0">
            <a:noAutofit/>
          </a:bodyPr>
          <a:lstStyle/>
          <a:p>
            <a:pPr>
              <a:buClr>
                <a:srgbClr val="161615"/>
              </a:buClr>
              <a:buSzPts val="1650"/>
            </a:pPr>
            <a:r>
              <a:rPr lang="en-US" sz="825" b="1">
                <a:solidFill>
                  <a:srgbClr val="161615"/>
                </a:solidFill>
                <a:latin typeface="Arial"/>
                <a:ea typeface="Arial"/>
                <a:cs typeface="Arial"/>
                <a:sym typeface="Arial"/>
              </a:rPr>
              <a:t>Replication / CDC</a:t>
            </a:r>
            <a:endParaRPr sz="825">
              <a:solidFill>
                <a:schemeClr val="dk1"/>
              </a:solidFill>
              <a:latin typeface="Arial"/>
              <a:ea typeface="Arial"/>
              <a:cs typeface="Arial"/>
              <a:sym typeface="Arial"/>
            </a:endParaRPr>
          </a:p>
        </p:txBody>
      </p:sp>
      <p:sp>
        <p:nvSpPr>
          <p:cNvPr id="689" name="Google Shape;689;p31"/>
          <p:cNvSpPr txBox="1"/>
          <p:nvPr/>
        </p:nvSpPr>
        <p:spPr>
          <a:xfrm>
            <a:off x="6105449" y="2957627"/>
            <a:ext cx="2257654" cy="219456"/>
          </a:xfrm>
          <a:prstGeom prst="rect">
            <a:avLst/>
          </a:prstGeom>
          <a:noFill/>
          <a:ln>
            <a:noFill/>
          </a:ln>
        </p:spPr>
        <p:txBody>
          <a:bodyPr spcFirstLastPara="1" wrap="square" lIns="0" tIns="0" rIns="0" bIns="0" anchor="ctr">
            <a:noAutofit/>
          </a:bodyPr>
          <a:lstStyle/>
          <a:p>
            <a:pPr>
              <a:lnSpc>
                <a:spcPct val="135000"/>
              </a:lnSpc>
              <a:buClr>
                <a:srgbClr val="706E6C"/>
              </a:buClr>
              <a:buSzPts val="1275"/>
              <a:buNone/>
            </a:pPr>
            <a:r>
              <a:rPr sz="638">
                <a:solidFill>
                  <a:srgbClr val="706E6C"/>
                </a:solidFill>
                <a:latin typeface="Arial"/>
                <a:ea typeface="Arial"/>
                <a:cs typeface="Arial"/>
              </a:rPr>
              <a:t>Streams PostgreSQL changes through a logical replication slot.</a:t>
            </a:r>
            <a:endParaRPr sz="638">
              <a:solidFill>
                <a:schemeClr val="dk1"/>
              </a:solidFill>
              <a:latin typeface="Arial"/>
              <a:ea typeface="Arial"/>
              <a:cs typeface="Arial"/>
            </a:endParaRPr>
          </a:p>
        </p:txBody>
      </p:sp>
      <p:sp>
        <p:nvSpPr>
          <p:cNvPr id="690" name="Google Shape;690;p31"/>
          <p:cNvSpPr txBox="1"/>
          <p:nvPr/>
        </p:nvSpPr>
        <p:spPr>
          <a:xfrm>
            <a:off x="5743804" y="3438601"/>
            <a:ext cx="285750" cy="90526"/>
          </a:xfrm>
          <a:prstGeom prst="rect">
            <a:avLst/>
          </a:prstGeom>
          <a:noFill/>
          <a:ln>
            <a:noFill/>
          </a:ln>
        </p:spPr>
        <p:txBody>
          <a:bodyPr spcFirstLastPara="1" wrap="square" lIns="0" tIns="0" rIns="0" bIns="0" anchor="ctr" anchorCtr="0">
            <a:noAutofit/>
          </a:bodyPr>
          <a:lstStyle/>
          <a:p>
            <a:pPr>
              <a:buClr>
                <a:srgbClr val="555555"/>
              </a:buClr>
              <a:buSzPts val="1125"/>
            </a:pPr>
            <a:r>
              <a:rPr lang="en-US" sz="563">
                <a:solidFill>
                  <a:srgbClr val="555555"/>
                </a:solidFill>
                <a:latin typeface="Arial"/>
                <a:ea typeface="Arial"/>
                <a:cs typeface="Arial"/>
                <a:sym typeface="IBM Plex Mono"/>
              </a:rPr>
              <a:t>03.</a:t>
            </a:r>
            <a:endParaRPr sz="563">
              <a:solidFill>
                <a:schemeClr val="dk1"/>
              </a:solidFill>
              <a:latin typeface="Arial"/>
              <a:ea typeface="Arial"/>
              <a:cs typeface="Arial"/>
              <a:sym typeface="Arial"/>
            </a:endParaRPr>
          </a:p>
        </p:txBody>
      </p:sp>
      <p:sp>
        <p:nvSpPr>
          <p:cNvPr id="691" name="Google Shape;691;p31"/>
          <p:cNvSpPr txBox="1"/>
          <p:nvPr/>
        </p:nvSpPr>
        <p:spPr>
          <a:xfrm>
            <a:off x="6105449" y="3409798"/>
            <a:ext cx="2257654" cy="123901"/>
          </a:xfrm>
          <a:prstGeom prst="rect">
            <a:avLst/>
          </a:prstGeom>
          <a:noFill/>
          <a:ln>
            <a:noFill/>
          </a:ln>
        </p:spPr>
        <p:txBody>
          <a:bodyPr spcFirstLastPara="1" wrap="square" lIns="0" tIns="0" rIns="0" bIns="0" anchor="ctr" anchorCtr="0">
            <a:noAutofit/>
          </a:bodyPr>
          <a:lstStyle/>
          <a:p>
            <a:pPr>
              <a:buClr>
                <a:srgbClr val="161615"/>
              </a:buClr>
              <a:buSzPts val="1650"/>
            </a:pPr>
            <a:r>
              <a:rPr lang="en-US" sz="825" b="1">
                <a:solidFill>
                  <a:srgbClr val="161615"/>
                </a:solidFill>
                <a:latin typeface="Arial"/>
                <a:ea typeface="Arial"/>
                <a:cs typeface="Arial"/>
                <a:sym typeface="Arial"/>
              </a:rPr>
              <a:t>Proxy</a:t>
            </a:r>
            <a:endParaRPr sz="825">
              <a:solidFill>
                <a:schemeClr val="dk1"/>
              </a:solidFill>
              <a:latin typeface="Arial"/>
              <a:ea typeface="Arial"/>
              <a:cs typeface="Arial"/>
              <a:sym typeface="Arial"/>
            </a:endParaRPr>
          </a:p>
        </p:txBody>
      </p:sp>
      <p:sp>
        <p:nvSpPr>
          <p:cNvPr id="692" name="Google Shape;692;p31"/>
          <p:cNvSpPr txBox="1"/>
          <p:nvPr/>
        </p:nvSpPr>
        <p:spPr>
          <a:xfrm>
            <a:off x="6105449" y="3552901"/>
            <a:ext cx="2257654" cy="219456"/>
          </a:xfrm>
          <a:prstGeom prst="rect">
            <a:avLst/>
          </a:prstGeom>
          <a:noFill/>
          <a:ln>
            <a:noFill/>
          </a:ln>
        </p:spPr>
        <p:txBody>
          <a:bodyPr spcFirstLastPara="1" wrap="square" lIns="0" tIns="0" rIns="0" bIns="0" anchor="ctr">
            <a:noAutofit/>
          </a:bodyPr>
          <a:lstStyle/>
          <a:p>
            <a:pPr>
              <a:lnSpc>
                <a:spcPct val="135000"/>
              </a:lnSpc>
              <a:buClr>
                <a:srgbClr val="706E6C"/>
              </a:buClr>
              <a:buSzPts val="1275"/>
              <a:buNone/>
            </a:pPr>
            <a:r>
              <a:rPr sz="638">
                <a:solidFill>
                  <a:srgbClr val="706E6C"/>
                </a:solidFill>
                <a:latin typeface="Arial"/>
                <a:ea typeface="Arial"/>
                <a:cs typeface="Arial"/>
              </a:rPr>
              <a:t>Speaks the PostgreSQL wire protocol. Routes cached reads or proxies upstream.</a:t>
            </a:r>
            <a:endParaRPr sz="638">
              <a:solidFill>
                <a:schemeClr val="dk1"/>
              </a:solidFill>
              <a:latin typeface="Arial"/>
              <a:ea typeface="Arial"/>
              <a:cs typeface="Arial"/>
            </a:endParaRPr>
          </a:p>
        </p:txBody>
      </p:sp>
      <p:sp>
        <p:nvSpPr>
          <p:cNvPr id="693" name="Google Shape;693;p31"/>
          <p:cNvSpPr txBox="1"/>
          <p:nvPr/>
        </p:nvSpPr>
        <p:spPr>
          <a:xfrm>
            <a:off x="5743804" y="4043477"/>
            <a:ext cx="285750" cy="90526"/>
          </a:xfrm>
          <a:prstGeom prst="rect">
            <a:avLst/>
          </a:prstGeom>
          <a:noFill/>
          <a:ln>
            <a:noFill/>
          </a:ln>
        </p:spPr>
        <p:txBody>
          <a:bodyPr spcFirstLastPara="1" wrap="square" lIns="0" tIns="0" rIns="0" bIns="0" anchor="ctr" anchorCtr="0">
            <a:noAutofit/>
          </a:bodyPr>
          <a:lstStyle/>
          <a:p>
            <a:pPr>
              <a:buClr>
                <a:srgbClr val="555555"/>
              </a:buClr>
              <a:buSzPts val="1125"/>
            </a:pPr>
            <a:r>
              <a:rPr lang="en-US" sz="563">
                <a:solidFill>
                  <a:srgbClr val="EEEEEE"/>
                </a:solidFill>
                <a:latin typeface="Arial"/>
                <a:ea typeface="Arial"/>
                <a:cs typeface="Arial"/>
                <a:sym typeface="IBM Plex Mono"/>
              </a:rPr>
              <a:t>04.</a:t>
            </a:r>
            <a:endParaRPr sz="563">
              <a:solidFill>
                <a:schemeClr val="dk1"/>
              </a:solidFill>
              <a:latin typeface="Arial"/>
              <a:ea typeface="Arial"/>
              <a:cs typeface="Arial"/>
              <a:sym typeface="Arial"/>
            </a:endParaRPr>
          </a:p>
        </p:txBody>
      </p:sp>
      <p:sp>
        <p:nvSpPr>
          <p:cNvPr id="694" name="Google Shape;694;p31"/>
          <p:cNvSpPr txBox="1"/>
          <p:nvPr/>
        </p:nvSpPr>
        <p:spPr>
          <a:xfrm>
            <a:off x="6105449" y="4014673"/>
            <a:ext cx="2257654" cy="123901"/>
          </a:xfrm>
          <a:prstGeom prst="rect">
            <a:avLst/>
          </a:prstGeom>
          <a:noFill/>
          <a:ln>
            <a:noFill/>
          </a:ln>
        </p:spPr>
        <p:txBody>
          <a:bodyPr spcFirstLastPara="1" wrap="square" lIns="0" tIns="0" rIns="0" bIns="0" anchor="ctr" anchorCtr="0">
            <a:noAutofit/>
          </a:bodyPr>
          <a:lstStyle/>
          <a:p>
            <a:pPr>
              <a:buClr>
                <a:srgbClr val="EDEDEC"/>
              </a:buClr>
              <a:buSzPts val="1650"/>
            </a:pPr>
            <a:r>
              <a:rPr lang="en-US" sz="825" b="1">
                <a:solidFill>
                  <a:srgbClr val="EDEDEC"/>
                </a:solidFill>
                <a:latin typeface="Arial"/>
                <a:ea typeface="Arial"/>
                <a:cs typeface="Arial"/>
                <a:sym typeface="Arial"/>
              </a:rPr>
              <a:t>Dataflow </a:t>
            </a:r>
            <a:r>
              <a:rPr lang="en-US" sz="525" b="1">
                <a:solidFill>
                  <a:srgbClr val="EEEEEE"/>
                </a:solidFill>
                <a:latin typeface="Arial"/>
                <a:ea typeface="Arial"/>
                <a:cs typeface="Arial"/>
                <a:sym typeface="IBM Plex Mono"/>
              </a:rPr>
              <a:t>// heart of the system</a:t>
            </a:r>
            <a:endParaRPr sz="825">
              <a:solidFill>
                <a:schemeClr val="dk1"/>
              </a:solidFill>
              <a:latin typeface="Arial"/>
              <a:ea typeface="Arial"/>
              <a:cs typeface="Arial"/>
              <a:sym typeface="Arial"/>
            </a:endParaRPr>
          </a:p>
        </p:txBody>
      </p:sp>
      <p:sp>
        <p:nvSpPr>
          <p:cNvPr id="695" name="Google Shape;695;p31"/>
          <p:cNvSpPr txBox="1"/>
          <p:nvPr/>
        </p:nvSpPr>
        <p:spPr>
          <a:xfrm>
            <a:off x="6105449" y="4157777"/>
            <a:ext cx="2257654" cy="219456"/>
          </a:xfrm>
          <a:prstGeom prst="rect">
            <a:avLst/>
          </a:prstGeom>
          <a:noFill/>
          <a:ln>
            <a:noFill/>
          </a:ln>
        </p:spPr>
        <p:txBody>
          <a:bodyPr spcFirstLastPara="1" wrap="square" lIns="0" tIns="0" rIns="0" bIns="0" anchor="ctr" anchorCtr="0">
            <a:noAutofit/>
          </a:bodyPr>
          <a:lstStyle/>
          <a:p>
            <a:pPr>
              <a:lnSpc>
                <a:spcPct val="135000"/>
              </a:lnSpc>
              <a:buClr>
                <a:srgbClr val="A1A09A"/>
              </a:buClr>
              <a:buSzPts val="1275"/>
            </a:pPr>
            <a:r>
              <a:rPr lang="en-US" sz="638">
                <a:solidFill>
                  <a:srgbClr val="EEEEEE"/>
                </a:solidFill>
                <a:latin typeface="Arial"/>
                <a:ea typeface="Arial"/>
                <a:cs typeface="Arial"/>
                <a:sym typeface="Arial"/>
              </a:rPr>
              <a:t>Incremental graph: Base Table → DFG → Reader. It recomputes </a:t>
            </a:r>
            <a:r>
              <a:rPr lang="en-US" sz="638">
                <a:solidFill>
                  <a:srgbClr val="EDEDEC"/>
                </a:solidFill>
                <a:latin typeface="Arial"/>
                <a:ea typeface="Arial"/>
                <a:cs typeface="Arial"/>
                <a:sym typeface="Arial"/>
              </a:rPr>
              <a:t>only what changed</a:t>
            </a:r>
            <a:r>
              <a:rPr lang="en-US" sz="638">
                <a:solidFill>
                  <a:srgbClr val="EEEEEE"/>
                </a:solidFill>
                <a:latin typeface="Arial"/>
                <a:ea typeface="Arial"/>
                <a:cs typeface="Arial"/>
                <a:sym typeface="Arial"/>
              </a:rPr>
              <a:t>. Details in the next slides.</a:t>
            </a:r>
            <a:endParaRPr sz="638">
              <a:solidFill>
                <a:schemeClr val="dk1"/>
              </a:solidFill>
              <a:latin typeface="Arial"/>
              <a:ea typeface="Arial"/>
              <a:cs typeface="Arial"/>
              <a:sym typeface="Arial"/>
            </a:endParaRPr>
          </a:p>
        </p:txBody>
      </p:sp>
      <p:pic>
        <p:nvPicPr>
          <p:cNvPr id="9027" name="Readyset standard logo 27"/>
          <p:cNvPicPr>
            <a:picLocks noChangeAspect="1"/>
          </p:cNvPicPr>
          <p:nvPr/>
        </p:nvPicPr>
        <p:blipFill>
          <a:blip r:embed="rId4"/>
          <a:stretch/>
        </p:blipFill>
        <p:spPr>
          <a:xfrm>
            <a:off x="457200" y="239275"/>
            <a:ext cx="952500" cy="216776"/>
          </a:xfrm>
          <a:prstGeom prst="rect">
            <a:avLst/>
          </a:prstGeom>
        </p:spPr>
      </p:pic>
      <p:sp>
        <p:nvSpPr>
          <p:cNvPr id="9527"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p:blipFill>
        <p:spPr>
          <a:xfrm>
            <a:off x="457200" y="238125"/>
            <a:ext cx="952500" cy="219075"/>
          </a:xfrm>
          <a:prstGeom prst="rect">
            <a:avLst/>
          </a:prstGeom>
        </p:spPr>
      </p:pic>
      <p:sp>
        <p:nvSpPr>
          <p:cNvPr id="2" name="Rectangle 1">
            <a:extLst>
              <a:ext uri="{FF2B5EF4-FFF2-40B4-BE49-F238E27FC236}">
                <a16:creationId xmlns:a16="http://schemas.microsoft.com/office/drawing/2014/main" id="{68F68446-9188-4ADA-9383-3EB1ABFC9A66}"/>
              </a:ext>
            </a:extLst>
          </p:cNvPr>
          <p:cNvSpPr>
            <a:spLocks noGrp="1"/>
          </p:cNvSpPr>
          <p:nvPr/>
        </p:nvSpPr>
        <p:spPr>
          <a:xfrm>
            <a:off x="457200" y="781050"/>
            <a:ext cx="8229600" cy="476250"/>
          </a:xfrm>
          <a:prstGeom prst="rect">
            <a:avLst/>
          </a:prstGeom>
          <a:noFill/>
          <a:ln w="0">
            <a:noFill/>
          </a:ln>
        </p:spPr>
        <p:txBody>
          <a:bodyPr wrap="square" lIns="0" tIns="0" rIns="0" bIns="0"/>
          <a:lstStyle>
            <a:defPPr>
              <a:defRPr sz="2400"/>
            </a:defPPr>
          </a:lstStyle>
          <a:p>
            <a:pPr>
              <a:buNone/>
              <a:defRPr sz="2400" b="1">
                <a:solidFill>
                  <a:srgbClr val="25232C"/>
                </a:solidFill>
                <a:latin typeface="Arial"/>
                <a:ea typeface="Arial"/>
                <a:cs typeface="Arial"/>
              </a:defRPr>
            </a:pPr>
            <a:r>
              <a:rPr sz="2400" b="1">
                <a:solidFill>
                  <a:srgbClr val="25232C"/>
                </a:solidFill>
                <a:latin typeface="Arial"/>
                <a:ea typeface="Arial"/>
                <a:cs typeface="Arial"/>
              </a:rPr>
              <a:t>Deep cache: propagate a write</a:t>
            </a:r>
          </a:p>
        </p:txBody>
      </p:sp>
      <p:pic>
        <p:nvPicPr>
          <p:cNvPr id="7" name="Deep cache animated simulation" descr="Continuous animation of deep cache internals. Starts automatically. Hover to pause or replay.">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381000" y="1428750"/>
            <a:ext cx="8382000" cy="3143250"/>
          </a:xfrm>
          <a:prstGeom prst="rect">
            <a:avLst/>
          </a:prstGeom>
        </p:spPr>
      </p:pic>
      <p:sp>
        <p:nvSpPr>
          <p:cNvPr id="4" name="Rectangle 3">
            <a:extLst>
              <a:ext uri="{FF2B5EF4-FFF2-40B4-BE49-F238E27FC236}">
                <a16:creationId xmlns:a16="http://schemas.microsoft.com/office/drawing/2014/main" id="{CCD86F88-8B42-4EA5-8921-EF4136B817FD}"/>
              </a:ext>
            </a:extLst>
          </p:cNvPr>
          <p:cNvSpPr>
            <a:spLocks noGrp="1"/>
          </p:cNvSpPr>
          <p:nvPr/>
        </p:nvSpPr>
        <p:spPr>
          <a:xfrm>
            <a:off x="457200" y="4810125"/>
            <a:ext cx="7810500" cy="200000"/>
          </a:xfrm>
          <a:prstGeom prst="rect">
            <a:avLst/>
          </a:prstGeom>
          <a:noFill/>
          <a:ln w="0">
            <a:noFill/>
          </a:ln>
        </p:spPr>
        <p:txBody>
          <a:bodyPr wrap="square" lIns="0" tIns="0" rIns="0" bIns="0"/>
          <a:lstStyle/>
          <a:p>
            <a:pPr>
              <a:buNone/>
              <a:defRPr sz="900" b="1">
                <a:solidFill>
                  <a:srgbClr val="706E6C"/>
                </a:solidFill>
                <a:latin typeface="Arial"/>
                <a:ea typeface="Arial"/>
                <a:cs typeface="Arial"/>
              </a:defRPr>
            </a:pPr>
            <a:r>
              <a:rPr sz="900" b="1">
                <a:solidFill>
                  <a:srgbClr val="706E6C"/>
                </a:solidFill>
                <a:latin typeface="Arial"/>
                <a:ea typeface="Arial"/>
                <a:cs typeface="Arial"/>
              </a:rPr>
              <a:t>Warm key: story 2. Conceptual simulation. Timing is illustrative.</a:t>
            </a:r>
          </a:p>
        </p:txBody>
      </p:sp>
      <p:sp>
        <p:nvSpPr>
          <p:cNvPr id="9519"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29</a:t>
            </a:r>
          </a:p>
        </p:txBody>
      </p:sp>
    </p:spTree>
    <p:extLst>
      <p:ext uri="{BB962C8B-B14F-4D97-AF65-F5344CB8AC3E}">
        <p14:creationId xmlns:p14="http://schemas.microsoft.com/office/powerpoint/2010/main" val="820906282"/>
      </p:ext>
    </p:extLst>
  </p:cSld>
  <p:clrMapOvr>
    <a:masterClrMapping/>
  </p:clrMapOvr>
  <p:timing>
    <p:tnLst>
      <p:par>
        <p:cTn id="1" dur="indefinite" restart="never" nodeType="tmRoot">
          <p:childTnLst>
            <p:video>
              <p:cMediaNode vol="80000">
                <p:cTn id="2" fill="hold" display="0">
                  <p:stCondLst>
                    <p:cond delay="0"/>
                  </p:stCondLst>
                </p:cTn>
                <p:tgtEl>
                  <p:spTgt spid="7"/>
                </p:tgtEl>
              </p:cMediaNode>
            </p:vide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02"/>
        <p:cNvGrpSpPr/>
        <p:nvPr/>
      </p:nvGrpSpPr>
      <p:grpSpPr>
        <a:xfrm>
          <a:off x="0" y="0"/>
          <a:ext cx="0" cy="0"/>
          <a:chOff x="0" y="0"/>
          <a:chExt cx="0" cy="0"/>
        </a:xfrm>
      </p:grpSpPr>
      <p:sp>
        <p:nvSpPr>
          <p:cNvPr id="703" name="Google Shape;703;p32"/>
          <p:cNvSpPr/>
          <p:nvPr/>
        </p:nvSpPr>
        <p:spPr>
          <a:xfrm>
            <a:off x="933603" y="1381201"/>
            <a:ext cx="7048653" cy="619049"/>
          </a:xfrm>
          <a:prstGeom prst="roundRect">
            <a:avLst>
              <a:gd name="adj" fmla="val 6130"/>
            </a:avLst>
          </a:prstGeom>
          <a:solidFill>
            <a:srgbClr val="0F0F0F"/>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05" name="Google Shape;705;p32"/>
          <p:cNvSpPr txBox="1"/>
          <p:nvPr/>
        </p:nvSpPr>
        <p:spPr>
          <a:xfrm>
            <a:off x="2000250" y="276225"/>
            <a:ext cx="6686550" cy="209550"/>
          </a:xfrm>
          <a:prstGeom prst="rect">
            <a:avLst/>
          </a:prstGeom>
          <a:noFill/>
          <a:ln>
            <a:noFill/>
          </a:ln>
        </p:spPr>
        <p:txBody>
          <a:bodyPr spcFirstLastPara="1" wrap="square" lIns="0" tIns="0" rIns="0" bIns="0" anchor="t" anchorCtr="0">
            <a:noAutofit/>
          </a:bodyPr>
          <a:lstStyle/>
          <a:p>
            <a:pPr algn="l">
              <a:buClr>
                <a:srgbClr val="555555"/>
              </a:buClr>
              <a:buSzPts val="1500"/>
            </a:pPr>
            <a:r>
              <a:rPr lang="en-US" sz="900" b="0">
                <a:solidFill>
                  <a:srgbClr val="666666"/>
                </a:solidFill>
                <a:latin typeface="Arial"/>
                <a:ea typeface="Arial"/>
                <a:cs typeface="Arial"/>
                <a:sym typeface="IBM Plex Mono"/>
              </a:rPr>
              <a:t>dataflow · overview</a:t>
            </a:r>
            <a:endParaRPr sz="900" b="0">
              <a:solidFill>
                <a:srgbClr val="666666"/>
              </a:solidFill>
              <a:latin typeface="Arial"/>
              <a:ea typeface="Arial"/>
              <a:cs typeface="Arial"/>
              <a:sym typeface="Arial"/>
            </a:endParaRPr>
          </a:p>
        </p:txBody>
      </p:sp>
      <p:sp>
        <p:nvSpPr>
          <p:cNvPr id="706" name="Google Shape;706;p32"/>
          <p:cNvSpPr txBox="1"/>
          <p:nvPr/>
        </p:nvSpPr>
        <p:spPr>
          <a:xfrm>
            <a:off x="457200" y="790575"/>
            <a:ext cx="8229600" cy="457200"/>
          </a:xfrm>
          <a:prstGeom prst="rect">
            <a:avLst/>
          </a:prstGeom>
          <a:noFill/>
          <a:ln>
            <a:noFill/>
          </a:ln>
        </p:spPr>
        <p:txBody>
          <a:bodyPr spcFirstLastPara="1" wrap="square" lIns="0" tIns="0" rIns="0" bIns="0" anchor="t">
            <a:noAutofit/>
          </a:bodyPr>
          <a:lstStyle/>
          <a:p>
            <a:pPr algn="l">
              <a:buClr>
                <a:srgbClr val="161615"/>
              </a:buClr>
              <a:buSzPts val="4650"/>
              <a:buNone/>
            </a:pPr>
            <a:r>
              <a:rPr sz="2700" b="1">
                <a:solidFill>
                  <a:srgbClr val="171717"/>
                </a:solidFill>
                <a:latin typeface="Arial"/>
                <a:ea typeface="Arial"/>
                <a:cs typeface="Arial"/>
              </a:rPr>
              <a:t>Supported SQL operators become dataflow nodes</a:t>
            </a:r>
          </a:p>
        </p:txBody>
      </p:sp>
      <p:sp>
        <p:nvSpPr>
          <p:cNvPr id="707" name="Google Shape;707;p32"/>
          <p:cNvSpPr txBox="1"/>
          <p:nvPr/>
        </p:nvSpPr>
        <p:spPr>
          <a:xfrm>
            <a:off x="1123798" y="1466698"/>
            <a:ext cx="6667805" cy="81382"/>
          </a:xfrm>
          <a:prstGeom prst="rect">
            <a:avLst/>
          </a:prstGeom>
          <a:noFill/>
          <a:ln>
            <a:noFill/>
          </a:ln>
        </p:spPr>
        <p:txBody>
          <a:bodyPr spcFirstLastPara="1" wrap="square" lIns="0" tIns="0" rIns="0" bIns="0" anchor="ctr" anchorCtr="0">
            <a:noAutofit/>
          </a:bodyPr>
          <a:lstStyle/>
          <a:p>
            <a:pPr>
              <a:buClr>
                <a:srgbClr val="555555"/>
              </a:buClr>
              <a:buSzPts val="975"/>
            </a:pPr>
            <a:r>
              <a:rPr lang="en-US" sz="488">
                <a:solidFill>
                  <a:srgbClr val="EEEEEE"/>
                </a:solidFill>
                <a:latin typeface="Arial"/>
                <a:ea typeface="Arial"/>
                <a:cs typeface="Arial"/>
                <a:sym typeface="IBM Plex Mono"/>
              </a:rPr>
              <a:t>example query</a:t>
            </a:r>
            <a:endParaRPr sz="488">
              <a:solidFill>
                <a:schemeClr val="dk1"/>
              </a:solidFill>
              <a:latin typeface="Arial"/>
              <a:ea typeface="Arial"/>
              <a:cs typeface="Arial"/>
              <a:sym typeface="Arial"/>
            </a:endParaRPr>
          </a:p>
        </p:txBody>
      </p:sp>
      <p:sp>
        <p:nvSpPr>
          <p:cNvPr id="708" name="Google Shape;708;p32"/>
          <p:cNvSpPr txBox="1"/>
          <p:nvPr/>
        </p:nvSpPr>
        <p:spPr>
          <a:xfrm>
            <a:off x="1123798" y="1595628"/>
            <a:ext cx="6667805" cy="133503"/>
          </a:xfrm>
          <a:prstGeom prst="rect">
            <a:avLst/>
          </a:prstGeom>
          <a:noFill/>
          <a:ln>
            <a:noFill/>
          </a:ln>
        </p:spPr>
        <p:txBody>
          <a:bodyPr spcFirstLastPara="1" wrap="square" lIns="0" tIns="0" rIns="0" bIns="0" anchor="ctr">
            <a:noAutofit/>
          </a:bodyPr>
          <a:lstStyle/>
          <a:p>
            <a:pPr>
              <a:buClr>
                <a:srgbClr val="555555"/>
              </a:buClr>
              <a:buSzPts val="1500"/>
              <a:buNone/>
            </a:pPr>
            <a:r>
              <a:rPr sz="750">
                <a:solidFill>
                  <a:srgbClr val="EEEEEE"/>
                </a:solidFill>
                <a:latin typeface="Arial"/>
                <a:ea typeface="Arial"/>
                <a:cs typeface="Arial"/>
              </a:rPr>
              <a:t>SELECT s.id, s.author, s.title, COUNT(*) AS vcount</a:t>
            </a:r>
            <a:endParaRPr sz="750">
              <a:solidFill>
                <a:schemeClr val="dk1"/>
              </a:solidFill>
              <a:latin typeface="Arial"/>
              <a:ea typeface="Arial"/>
              <a:cs typeface="Arial"/>
            </a:endParaRPr>
          </a:p>
        </p:txBody>
      </p:sp>
      <p:sp>
        <p:nvSpPr>
          <p:cNvPr id="709" name="Google Shape;709;p32"/>
          <p:cNvSpPr txBox="1"/>
          <p:nvPr/>
        </p:nvSpPr>
        <p:spPr>
          <a:xfrm>
            <a:off x="1123798" y="1728673"/>
            <a:ext cx="6667805" cy="133503"/>
          </a:xfrm>
          <a:prstGeom prst="rect">
            <a:avLst/>
          </a:prstGeom>
          <a:noFill/>
          <a:ln>
            <a:noFill/>
          </a:ln>
        </p:spPr>
        <p:txBody>
          <a:bodyPr spcFirstLastPara="1" wrap="square" lIns="0" tIns="0" rIns="0" bIns="0" anchor="ctr">
            <a:noAutofit/>
          </a:bodyPr>
          <a:lstStyle/>
          <a:p>
            <a:pPr>
              <a:buClr>
                <a:srgbClr val="555555"/>
              </a:buClr>
              <a:buSzPts val="1500"/>
              <a:buNone/>
            </a:pPr>
            <a:r>
              <a:rPr sz="750">
                <a:solidFill>
                  <a:srgbClr val="EEEEEE"/>
                </a:solidFill>
                <a:latin typeface="Arial"/>
                <a:ea typeface="Arial"/>
                <a:cs typeface="Arial"/>
              </a:rPr>
              <a:t>FROM stories s JOIN votes v ON v.story_id = s.id WHERE s.id = $1 GROUP BY s.id, s.author, s.title;</a:t>
            </a:r>
            <a:endParaRPr sz="750">
              <a:solidFill>
                <a:schemeClr val="dk1"/>
              </a:solidFill>
              <a:latin typeface="Arial"/>
              <a:ea typeface="Arial"/>
              <a:cs typeface="Arial"/>
            </a:endParaRPr>
          </a:p>
        </p:txBody>
      </p:sp>
      <p:pic>
        <p:nvPicPr>
          <p:cNvPr id="710" name="Google Shape;710;p32" descr="gen-dedup-23e2dbd5d8512cbde4cf7636293ba37f.jpg"/>
          <p:cNvPicPr preferRelativeResize="0"/>
          <p:nvPr/>
        </p:nvPicPr>
        <p:blipFill rotWithShape="1">
          <a:blip r:embed="rId3">
            <a:alphaModFix/>
          </a:blip>
          <a:srcRect l="-19992" r="-19992"/>
          <a:stretch/>
        </p:blipFill>
        <p:spPr>
          <a:xfrm>
            <a:off x="933603" y="2143354"/>
            <a:ext cx="7048653" cy="2571750"/>
          </a:xfrm>
          <a:prstGeom prst="rect">
            <a:avLst/>
          </a:prstGeom>
          <a:noFill/>
          <a:ln>
            <a:noFill/>
          </a:ln>
        </p:spPr>
      </p:pic>
      <p:pic>
        <p:nvPicPr>
          <p:cNvPr id="9028" name="Readyset standard logo 28"/>
          <p:cNvPicPr>
            <a:picLocks noChangeAspect="1"/>
          </p:cNvPicPr>
          <p:nvPr/>
        </p:nvPicPr>
        <p:blipFill>
          <a:blip r:embed="rId4"/>
          <a:stretch/>
        </p:blipFill>
        <p:spPr>
          <a:xfrm>
            <a:off x="457200" y="239275"/>
            <a:ext cx="952500" cy="216776"/>
          </a:xfrm>
          <a:prstGeom prst="rect">
            <a:avLst/>
          </a:prstGeom>
        </p:spPr>
      </p:pic>
      <p:sp>
        <p:nvSpPr>
          <p:cNvPr id="9528"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17"/>
        <p:cNvGrpSpPr/>
        <p:nvPr/>
      </p:nvGrpSpPr>
      <p:grpSpPr>
        <a:xfrm>
          <a:off x="0" y="0"/>
          <a:ext cx="0" cy="0"/>
          <a:chOff x="0" y="0"/>
          <a:chExt cx="0" cy="0"/>
        </a:xfrm>
      </p:grpSpPr>
      <p:sp>
        <p:nvSpPr>
          <p:cNvPr id="718" name="Google Shape;718;p33"/>
          <p:cNvSpPr/>
          <p:nvPr/>
        </p:nvSpPr>
        <p:spPr>
          <a:xfrm>
            <a:off x="4362603" y="1523848"/>
            <a:ext cx="4105199" cy="3057754"/>
          </a:xfrm>
          <a:prstGeom prst="roundRect">
            <a:avLst>
              <a:gd name="adj" fmla="val 1869"/>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20" name="Google Shape;720;p33"/>
          <p:cNvSpPr txBox="1"/>
          <p:nvPr/>
        </p:nvSpPr>
        <p:spPr>
          <a:xfrm>
            <a:off x="2000250" y="276225"/>
            <a:ext cx="6686550" cy="209550"/>
          </a:xfrm>
          <a:prstGeom prst="rect">
            <a:avLst/>
          </a:prstGeom>
          <a:noFill/>
          <a:ln>
            <a:noFill/>
          </a:ln>
        </p:spPr>
        <p:txBody>
          <a:bodyPr spcFirstLastPara="1" wrap="square" lIns="0" tIns="0" rIns="0" bIns="0" anchor="t" anchorCtr="0">
            <a:noAutofit/>
          </a:bodyPr>
          <a:lstStyle/>
          <a:p>
            <a:pPr algn="l">
              <a:buClr>
                <a:srgbClr val="555555"/>
              </a:buClr>
              <a:buSzPts val="1500"/>
            </a:pPr>
            <a:r>
              <a:rPr lang="en-US" sz="900" b="0">
                <a:solidFill>
                  <a:srgbClr val="666666"/>
                </a:solidFill>
                <a:latin typeface="Arial"/>
                <a:ea typeface="Arial"/>
                <a:cs typeface="Arial"/>
                <a:sym typeface="IBM Plex Mono"/>
              </a:rPr>
              <a:t>dataflow · step 1/3</a:t>
            </a:r>
            <a:endParaRPr sz="900" b="0">
              <a:solidFill>
                <a:srgbClr val="666666"/>
              </a:solidFill>
              <a:latin typeface="Arial"/>
              <a:ea typeface="Arial"/>
              <a:cs typeface="Arial"/>
              <a:sym typeface="Arial"/>
            </a:endParaRPr>
          </a:p>
        </p:txBody>
      </p:sp>
      <p:sp>
        <p:nvSpPr>
          <p:cNvPr id="721" name="Google Shape;721;p33"/>
          <p:cNvSpPr txBox="1"/>
          <p:nvPr/>
        </p:nvSpPr>
        <p:spPr>
          <a:xfrm>
            <a:off x="457200" y="790575"/>
            <a:ext cx="8229600" cy="457200"/>
          </a:xfrm>
          <a:prstGeom prst="rect">
            <a:avLst/>
          </a:prstGeom>
          <a:noFill/>
          <a:ln>
            <a:noFill/>
          </a:ln>
        </p:spPr>
        <p:txBody>
          <a:bodyPr spcFirstLastPara="1" wrap="square" lIns="0" tIns="0" rIns="0" bIns="0" anchor="t" anchorCtr="0">
            <a:noAutofit/>
          </a:bodyPr>
          <a:lstStyle/>
          <a:p>
            <a:pPr algn="l">
              <a:buClr>
                <a:srgbClr val="161615"/>
              </a:buClr>
              <a:buSzPts val="4650"/>
            </a:pPr>
            <a:r>
              <a:rPr lang="en-US" sz="2700" b="1">
                <a:solidFill>
                  <a:srgbClr val="171717"/>
                </a:solidFill>
                <a:latin typeface="Arial"/>
                <a:ea typeface="Arial"/>
                <a:cs typeface="Arial"/>
                <a:sym typeface="Arial"/>
              </a:rPr>
              <a:t>Partial materialization</a:t>
            </a:r>
            <a:endParaRPr sz="2700" b="1">
              <a:solidFill>
                <a:srgbClr val="171717"/>
              </a:solidFill>
              <a:latin typeface="Arial"/>
              <a:ea typeface="Arial"/>
              <a:cs typeface="Arial"/>
              <a:sym typeface="Arial"/>
            </a:endParaRPr>
          </a:p>
        </p:txBody>
      </p:sp>
      <p:sp>
        <p:nvSpPr>
          <p:cNvPr id="722" name="Google Shape;722;p33"/>
          <p:cNvSpPr txBox="1"/>
          <p:nvPr/>
        </p:nvSpPr>
        <p:spPr>
          <a:xfrm>
            <a:off x="457200" y="1523848"/>
            <a:ext cx="3714750" cy="85954"/>
          </a:xfrm>
          <a:prstGeom prst="rect">
            <a:avLst/>
          </a:prstGeom>
          <a:noFill/>
          <a:ln>
            <a:noFill/>
          </a:ln>
        </p:spPr>
        <p:txBody>
          <a:bodyPr spcFirstLastPara="1" wrap="square" lIns="0" tIns="0" rIns="0" bIns="0" anchor="ctr" anchorCtr="0">
            <a:noAutofit/>
          </a:bodyPr>
          <a:lstStyle/>
          <a:p>
            <a:pPr>
              <a:buClr>
                <a:srgbClr val="706E6C"/>
              </a:buClr>
              <a:buSzPts val="1050"/>
            </a:pPr>
            <a:r>
              <a:rPr lang="en-US" sz="525">
                <a:solidFill>
                  <a:srgbClr val="706E6C"/>
                </a:solidFill>
                <a:latin typeface="Arial"/>
                <a:ea typeface="Arial"/>
                <a:cs typeface="Arial"/>
                <a:sym typeface="IBM Plex Mono"/>
              </a:rPr>
              <a:t>building the graph</a:t>
            </a:r>
            <a:endParaRPr sz="525">
              <a:solidFill>
                <a:schemeClr val="dk1"/>
              </a:solidFill>
              <a:latin typeface="Arial"/>
              <a:ea typeface="Arial"/>
              <a:cs typeface="Arial"/>
              <a:sym typeface="Arial"/>
            </a:endParaRPr>
          </a:p>
        </p:txBody>
      </p:sp>
      <p:sp>
        <p:nvSpPr>
          <p:cNvPr id="723" name="Google Shape;723;p33"/>
          <p:cNvSpPr txBox="1"/>
          <p:nvPr/>
        </p:nvSpPr>
        <p:spPr>
          <a:xfrm>
            <a:off x="457200" y="1657350"/>
            <a:ext cx="3714750" cy="367132"/>
          </a:xfrm>
          <a:prstGeom prst="rect">
            <a:avLst/>
          </a:prstGeom>
          <a:noFill/>
          <a:ln>
            <a:noFill/>
          </a:ln>
        </p:spPr>
        <p:txBody>
          <a:bodyPr spcFirstLastPara="1" wrap="square" lIns="0" tIns="0" rIns="0" bIns="0" anchor="ctr">
            <a:noAutofit/>
          </a:bodyPr>
          <a:lstStyle/>
          <a:p>
            <a:pPr>
              <a:lnSpc>
                <a:spcPct val="120000"/>
              </a:lnSpc>
              <a:buClr>
                <a:srgbClr val="161615"/>
              </a:buClr>
              <a:buSzPts val="2400"/>
              <a:buNone/>
            </a:pPr>
            <a:r>
              <a:rPr sz="1200" b="1">
                <a:solidFill>
                  <a:srgbClr val="161615"/>
                </a:solidFill>
                <a:latin typeface="Arial"/>
                <a:ea typeface="Arial"/>
                <a:cs typeface="Arial"/>
              </a:rPr>
              <a:t>The graph maintains results as data changes.</a:t>
            </a:r>
            <a:endParaRPr sz="1200">
              <a:solidFill>
                <a:schemeClr val="dk1"/>
              </a:solidFill>
              <a:latin typeface="Arial"/>
              <a:ea typeface="Arial"/>
              <a:cs typeface="Arial"/>
            </a:endParaRPr>
          </a:p>
        </p:txBody>
      </p:sp>
      <p:sp>
        <p:nvSpPr>
          <p:cNvPr id="724" name="Google Shape;724;p33"/>
          <p:cNvSpPr/>
          <p:nvPr/>
        </p:nvSpPr>
        <p:spPr>
          <a:xfrm>
            <a:off x="457200" y="2219249"/>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25" name="Google Shape;725;p33"/>
          <p:cNvSpPr txBox="1"/>
          <p:nvPr/>
        </p:nvSpPr>
        <p:spPr>
          <a:xfrm>
            <a:off x="657454" y="2143354"/>
            <a:ext cx="3514954" cy="295351"/>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Base Tables. </a:t>
            </a:r>
            <a:r>
              <a:rPr lang="en-US" sz="825">
                <a:solidFill>
                  <a:srgbClr val="2A2A29"/>
                </a:solidFill>
                <a:latin typeface="Arial"/>
                <a:ea typeface="Arial"/>
                <a:cs typeface="Arial"/>
                <a:sym typeface="Arial"/>
              </a:rPr>
              <a:t>In-memory copies of PostgreSQL tables — hydrated by the initial Snapshot and updated by the Replicator.</a:t>
            </a:r>
            <a:endParaRPr sz="825">
              <a:solidFill>
                <a:schemeClr val="dk1"/>
              </a:solidFill>
              <a:latin typeface="Arial"/>
              <a:ea typeface="Arial"/>
              <a:cs typeface="Arial"/>
              <a:sym typeface="Arial"/>
            </a:endParaRPr>
          </a:p>
        </p:txBody>
      </p:sp>
      <p:sp>
        <p:nvSpPr>
          <p:cNvPr id="726" name="Google Shape;726;p33"/>
          <p:cNvSpPr/>
          <p:nvPr/>
        </p:nvSpPr>
        <p:spPr>
          <a:xfrm>
            <a:off x="457200" y="2645817"/>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27" name="Google Shape;727;p33"/>
          <p:cNvSpPr txBox="1"/>
          <p:nvPr/>
        </p:nvSpPr>
        <p:spPr>
          <a:xfrm>
            <a:off x="657454" y="2569921"/>
            <a:ext cx="3514954" cy="295351"/>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Intermediate operators. </a:t>
            </a:r>
            <a:r>
              <a:rPr lang="en-US" sz="825">
                <a:solidFill>
                  <a:srgbClr val="2A2A29"/>
                </a:solidFill>
                <a:latin typeface="Arial"/>
                <a:ea typeface="Arial"/>
                <a:cs typeface="Arial"/>
                <a:sym typeface="Arial"/>
              </a:rPr>
              <a:t>The query parser becomes a graph: </a:t>
            </a:r>
            <a:r>
              <a:rPr lang="en-US" sz="825">
                <a:solidFill>
                  <a:srgbClr val="161615"/>
                </a:solidFill>
                <a:latin typeface="Arial"/>
                <a:ea typeface="Arial"/>
                <a:cs typeface="Arial"/>
                <a:sym typeface="IBM Plex Mono"/>
              </a:rPr>
              <a:t>GROUP BY</a:t>
            </a:r>
            <a:r>
              <a:rPr lang="en-US" sz="825">
                <a:solidFill>
                  <a:srgbClr val="2A2A29"/>
                </a:solidFill>
                <a:latin typeface="Arial"/>
                <a:ea typeface="Arial"/>
                <a:cs typeface="Arial"/>
                <a:sym typeface="Arial"/>
              </a:rPr>
              <a:t>, </a:t>
            </a:r>
            <a:r>
              <a:rPr lang="en-US" sz="825">
                <a:solidFill>
                  <a:srgbClr val="161615"/>
                </a:solidFill>
                <a:latin typeface="Arial"/>
                <a:ea typeface="Arial"/>
                <a:cs typeface="Arial"/>
                <a:sym typeface="IBM Plex Mono"/>
              </a:rPr>
              <a:t>JOIN</a:t>
            </a:r>
            <a:r>
              <a:rPr lang="en-US" sz="825">
                <a:solidFill>
                  <a:srgbClr val="2A2A29"/>
                </a:solidFill>
                <a:latin typeface="Arial"/>
                <a:ea typeface="Arial"/>
                <a:cs typeface="Arial"/>
                <a:sym typeface="Arial"/>
              </a:rPr>
              <a:t>, </a:t>
            </a:r>
            <a:r>
              <a:rPr lang="en-US" sz="825">
                <a:solidFill>
                  <a:srgbClr val="161615"/>
                </a:solidFill>
                <a:latin typeface="Arial"/>
                <a:ea typeface="Arial"/>
                <a:cs typeface="Arial"/>
                <a:sym typeface="IBM Plex Mono"/>
              </a:rPr>
              <a:t>FILTER</a:t>
            </a:r>
            <a:r>
              <a:rPr lang="en-US" sz="825">
                <a:solidFill>
                  <a:srgbClr val="2A2A29"/>
                </a:solidFill>
                <a:latin typeface="Arial"/>
                <a:ea typeface="Arial"/>
                <a:cs typeface="Arial"/>
                <a:sym typeface="Arial"/>
              </a:rPr>
              <a:t>, </a:t>
            </a:r>
            <a:r>
              <a:rPr lang="en-US" sz="825">
                <a:solidFill>
                  <a:srgbClr val="161615"/>
                </a:solidFill>
                <a:latin typeface="Arial"/>
                <a:ea typeface="Arial"/>
                <a:cs typeface="Arial"/>
                <a:sym typeface="IBM Plex Mono"/>
              </a:rPr>
              <a:t>COUNT</a:t>
            </a:r>
            <a:r>
              <a:rPr lang="en-US" sz="825">
                <a:solidFill>
                  <a:srgbClr val="2A2A29"/>
                </a:solidFill>
                <a:latin typeface="Arial"/>
                <a:ea typeface="Arial"/>
                <a:cs typeface="Arial"/>
                <a:sym typeface="Arial"/>
              </a:rPr>
              <a:t> — each one a node.</a:t>
            </a:r>
            <a:endParaRPr sz="825">
              <a:solidFill>
                <a:schemeClr val="dk1"/>
              </a:solidFill>
              <a:latin typeface="Arial"/>
              <a:ea typeface="Arial"/>
              <a:cs typeface="Arial"/>
              <a:sym typeface="Arial"/>
            </a:endParaRPr>
          </a:p>
        </p:txBody>
      </p:sp>
      <p:sp>
        <p:nvSpPr>
          <p:cNvPr id="728" name="Google Shape;728;p33"/>
          <p:cNvSpPr/>
          <p:nvPr/>
        </p:nvSpPr>
        <p:spPr>
          <a:xfrm>
            <a:off x="457200" y="3072841"/>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29" name="Google Shape;729;p33"/>
          <p:cNvSpPr txBox="1"/>
          <p:nvPr/>
        </p:nvSpPr>
        <p:spPr>
          <a:xfrm>
            <a:off x="657454" y="2996489"/>
            <a:ext cx="3514954" cy="295351"/>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Reader. </a:t>
            </a:r>
            <a:r>
              <a:rPr lang="en-US" sz="825">
                <a:solidFill>
                  <a:srgbClr val="2A2A29"/>
                </a:solidFill>
                <a:latin typeface="Arial"/>
                <a:ea typeface="Arial"/>
                <a:cs typeface="Arial"/>
                <a:sym typeface="Arial"/>
              </a:rPr>
              <a:t>The terminal node — stores the final result set handed to the client, keyed for lookup.</a:t>
            </a:r>
            <a:endParaRPr sz="825">
              <a:solidFill>
                <a:schemeClr val="dk1"/>
              </a:solidFill>
              <a:latin typeface="Arial"/>
              <a:ea typeface="Arial"/>
              <a:cs typeface="Arial"/>
              <a:sym typeface="Arial"/>
            </a:endParaRPr>
          </a:p>
        </p:txBody>
      </p:sp>
      <p:sp>
        <p:nvSpPr>
          <p:cNvPr id="730" name="Google Shape;730;p33"/>
          <p:cNvSpPr/>
          <p:nvPr/>
        </p:nvSpPr>
        <p:spPr>
          <a:xfrm>
            <a:off x="457200" y="3499409"/>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31" name="Google Shape;731;p33"/>
          <p:cNvSpPr txBox="1"/>
          <p:nvPr/>
        </p:nvSpPr>
        <p:spPr>
          <a:xfrm>
            <a:off x="657454" y="3423057"/>
            <a:ext cx="3514954" cy="295351"/>
          </a:xfrm>
          <a:prstGeom prst="rect">
            <a:avLst/>
          </a:prstGeom>
          <a:noFill/>
          <a:ln>
            <a:noFill/>
          </a:ln>
        </p:spPr>
        <p:txBody>
          <a:bodyPr spcFirstLastPara="1" wrap="square" lIns="0" tIns="0" rIns="0" bIns="0" anchor="ctr">
            <a:noAutofit/>
          </a:bodyPr>
          <a:lstStyle/>
          <a:p>
            <a:pPr>
              <a:lnSpc>
                <a:spcPct val="140000"/>
              </a:lnSpc>
              <a:buClr>
                <a:srgbClr val="1A1A1A"/>
              </a:buClr>
              <a:buSzPts val="1650"/>
              <a:buNone/>
            </a:pPr>
            <a:r>
              <a:rPr sz="825" b="1">
                <a:solidFill>
                  <a:srgbClr val="1A1A1A"/>
                </a:solidFill>
                <a:latin typeface="Arial"/>
                <a:ea typeface="Arial"/>
                <a:cs typeface="Arial"/>
              </a:rPr>
              <a:t>Partial materialization. Intermediate results can be demand-driven. Base tables still retain replicated state.</a:t>
            </a:r>
            <a:endParaRPr sz="825">
              <a:solidFill>
                <a:schemeClr val="dk1"/>
              </a:solidFill>
              <a:latin typeface="Arial"/>
              <a:ea typeface="Arial"/>
              <a:cs typeface="Arial"/>
            </a:endParaRPr>
          </a:p>
        </p:txBody>
      </p:sp>
      <p:pic>
        <p:nvPicPr>
          <p:cNvPr id="732" name="Google Shape;732;p33" descr="gen-dedup-23e2dbd5d8512cbde4cf7636293ba37f.jpg"/>
          <p:cNvPicPr preferRelativeResize="0"/>
          <p:nvPr/>
        </p:nvPicPr>
        <p:blipFill rotWithShape="1">
          <a:blip r:embed="rId3">
            <a:alphaModFix/>
          </a:blip>
          <a:srcRect t="-19245" b="-19245"/>
          <a:stretch/>
        </p:blipFill>
        <p:spPr>
          <a:xfrm>
            <a:off x="4457700" y="1657350"/>
            <a:ext cx="3905403" cy="2762403"/>
          </a:xfrm>
          <a:prstGeom prst="rect">
            <a:avLst/>
          </a:prstGeom>
          <a:noFill/>
          <a:ln>
            <a:noFill/>
          </a:ln>
        </p:spPr>
      </p:pic>
      <p:pic>
        <p:nvPicPr>
          <p:cNvPr id="9029" name="Readyset standard logo 29"/>
          <p:cNvPicPr>
            <a:picLocks noChangeAspect="1"/>
          </p:cNvPicPr>
          <p:nvPr/>
        </p:nvPicPr>
        <p:blipFill>
          <a:blip r:embed="rId4"/>
          <a:stretch/>
        </p:blipFill>
        <p:spPr>
          <a:xfrm>
            <a:off x="457200" y="239275"/>
            <a:ext cx="952500" cy="216776"/>
          </a:xfrm>
          <a:prstGeom prst="rect">
            <a:avLst/>
          </a:prstGeom>
        </p:spPr>
      </p:pic>
      <p:sp>
        <p:nvSpPr>
          <p:cNvPr id="9529"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39"/>
        <p:cNvGrpSpPr/>
        <p:nvPr/>
      </p:nvGrpSpPr>
      <p:grpSpPr>
        <a:xfrm>
          <a:off x="0" y="0"/>
          <a:ext cx="0" cy="0"/>
          <a:chOff x="0" y="0"/>
          <a:chExt cx="0" cy="0"/>
        </a:xfrm>
      </p:grpSpPr>
      <p:sp>
        <p:nvSpPr>
          <p:cNvPr id="740" name="Google Shape;740;p34"/>
          <p:cNvSpPr/>
          <p:nvPr/>
        </p:nvSpPr>
        <p:spPr>
          <a:xfrm>
            <a:off x="4362603" y="1523848"/>
            <a:ext cx="4105199" cy="3057754"/>
          </a:xfrm>
          <a:prstGeom prst="roundRect">
            <a:avLst>
              <a:gd name="adj" fmla="val 1869"/>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42" name="Google Shape;742;p34"/>
          <p:cNvSpPr txBox="1"/>
          <p:nvPr/>
        </p:nvSpPr>
        <p:spPr>
          <a:xfrm>
            <a:off x="2000250" y="276225"/>
            <a:ext cx="6686550" cy="209550"/>
          </a:xfrm>
          <a:prstGeom prst="rect">
            <a:avLst/>
          </a:prstGeom>
          <a:noFill/>
          <a:ln>
            <a:noFill/>
          </a:ln>
        </p:spPr>
        <p:txBody>
          <a:bodyPr spcFirstLastPara="1" wrap="square" lIns="0" tIns="0" rIns="0" bIns="0" anchor="t" anchorCtr="0">
            <a:noAutofit/>
          </a:bodyPr>
          <a:lstStyle/>
          <a:p>
            <a:pPr algn="l">
              <a:buClr>
                <a:srgbClr val="555555"/>
              </a:buClr>
              <a:buSzPts val="1500"/>
            </a:pPr>
            <a:r>
              <a:rPr lang="en-US" sz="900" b="0">
                <a:solidFill>
                  <a:srgbClr val="666666"/>
                </a:solidFill>
                <a:latin typeface="Arial"/>
                <a:ea typeface="Arial"/>
                <a:cs typeface="Arial"/>
                <a:sym typeface="IBM Plex Mono"/>
              </a:rPr>
              <a:t>dataflow · step 2/3</a:t>
            </a:r>
            <a:endParaRPr sz="900" b="0">
              <a:solidFill>
                <a:srgbClr val="666666"/>
              </a:solidFill>
              <a:latin typeface="Arial"/>
              <a:ea typeface="Arial"/>
              <a:cs typeface="Arial"/>
              <a:sym typeface="Arial"/>
            </a:endParaRPr>
          </a:p>
        </p:txBody>
      </p:sp>
      <p:sp>
        <p:nvSpPr>
          <p:cNvPr id="743" name="Google Shape;743;p34"/>
          <p:cNvSpPr txBox="1"/>
          <p:nvPr/>
        </p:nvSpPr>
        <p:spPr>
          <a:xfrm>
            <a:off x="457200" y="790575"/>
            <a:ext cx="8229600" cy="457200"/>
          </a:xfrm>
          <a:prstGeom prst="rect">
            <a:avLst/>
          </a:prstGeom>
          <a:noFill/>
          <a:ln>
            <a:noFill/>
          </a:ln>
        </p:spPr>
        <p:txBody>
          <a:bodyPr spcFirstLastPara="1" wrap="square" lIns="0" tIns="0" rIns="0" bIns="0" anchor="t" anchorCtr="0">
            <a:noAutofit/>
          </a:bodyPr>
          <a:lstStyle/>
          <a:p>
            <a:pPr algn="l">
              <a:buClr>
                <a:srgbClr val="161615"/>
              </a:buClr>
              <a:buSzPts val="4650"/>
            </a:pPr>
            <a:r>
              <a:rPr lang="en-US" sz="2700" b="1">
                <a:solidFill>
                  <a:srgbClr val="171717"/>
                </a:solidFill>
                <a:latin typeface="Arial"/>
                <a:ea typeface="Arial"/>
                <a:cs typeface="Arial"/>
                <a:sym typeface="Arial"/>
              </a:rPr>
              <a:t>Cache miss — compute on demand</a:t>
            </a:r>
            <a:endParaRPr sz="2700" b="1">
              <a:solidFill>
                <a:srgbClr val="171717"/>
              </a:solidFill>
              <a:latin typeface="Arial"/>
              <a:ea typeface="Arial"/>
              <a:cs typeface="Arial"/>
              <a:sym typeface="Arial"/>
            </a:endParaRPr>
          </a:p>
        </p:txBody>
      </p:sp>
      <p:sp>
        <p:nvSpPr>
          <p:cNvPr id="744" name="Google Shape;744;p34"/>
          <p:cNvSpPr txBox="1"/>
          <p:nvPr/>
        </p:nvSpPr>
        <p:spPr>
          <a:xfrm>
            <a:off x="457200" y="1523848"/>
            <a:ext cx="3714750" cy="85954"/>
          </a:xfrm>
          <a:prstGeom prst="rect">
            <a:avLst/>
          </a:prstGeom>
          <a:noFill/>
          <a:ln>
            <a:noFill/>
          </a:ln>
        </p:spPr>
        <p:txBody>
          <a:bodyPr spcFirstLastPara="1" wrap="square" lIns="0" tIns="0" rIns="0" bIns="0" anchor="ctr" anchorCtr="0">
            <a:noAutofit/>
          </a:bodyPr>
          <a:lstStyle/>
          <a:p>
            <a:pPr>
              <a:buClr>
                <a:srgbClr val="706E6C"/>
              </a:buClr>
              <a:buSzPts val="1050"/>
            </a:pPr>
            <a:r>
              <a:rPr lang="en-US" sz="525">
                <a:solidFill>
                  <a:srgbClr val="706E6C"/>
                </a:solidFill>
                <a:latin typeface="Arial"/>
                <a:ea typeface="Arial"/>
                <a:cs typeface="Arial"/>
                <a:sym typeface="IBM Plex Mono"/>
              </a:rPr>
              <a:t>a new key arrives</a:t>
            </a:r>
            <a:endParaRPr sz="525">
              <a:solidFill>
                <a:schemeClr val="dk1"/>
              </a:solidFill>
              <a:latin typeface="Arial"/>
              <a:ea typeface="Arial"/>
              <a:cs typeface="Arial"/>
              <a:sym typeface="Arial"/>
            </a:endParaRPr>
          </a:p>
        </p:txBody>
      </p:sp>
      <p:sp>
        <p:nvSpPr>
          <p:cNvPr id="745" name="Google Shape;745;p34"/>
          <p:cNvSpPr txBox="1"/>
          <p:nvPr/>
        </p:nvSpPr>
        <p:spPr>
          <a:xfrm>
            <a:off x="457200" y="1657350"/>
            <a:ext cx="3714750" cy="371704"/>
          </a:xfrm>
          <a:prstGeom prst="rect">
            <a:avLst/>
          </a:prstGeom>
          <a:noFill/>
          <a:ln>
            <a:noFill/>
          </a:ln>
        </p:spPr>
        <p:txBody>
          <a:bodyPr spcFirstLastPara="1" wrap="square" lIns="0" tIns="0" rIns="0" bIns="0" anchor="ctr" anchorCtr="0">
            <a:noAutofit/>
          </a:bodyPr>
          <a:lstStyle/>
          <a:p>
            <a:pPr>
              <a:lnSpc>
                <a:spcPct val="120000"/>
              </a:lnSpc>
              <a:buClr>
                <a:srgbClr val="161615"/>
              </a:buClr>
              <a:buSzPts val="2400"/>
            </a:pPr>
            <a:r>
              <a:rPr lang="en-US" sz="1200" b="1">
                <a:solidFill>
                  <a:srgbClr val="161615"/>
                </a:solidFill>
                <a:latin typeface="Arial"/>
                <a:ea typeface="Arial"/>
                <a:cs typeface="Arial"/>
                <a:sym typeface="Arial"/>
              </a:rPr>
              <a:t>A user requests </a:t>
            </a:r>
            <a:r>
              <a:rPr lang="en-US" sz="1200" b="1">
                <a:solidFill>
                  <a:srgbClr val="555555"/>
                </a:solidFill>
                <a:latin typeface="Arial"/>
                <a:ea typeface="Arial"/>
                <a:cs typeface="Arial"/>
                <a:sym typeface="IBM Plex Mono"/>
              </a:rPr>
              <a:t>id = 3</a:t>
            </a:r>
            <a:r>
              <a:rPr lang="en-US" sz="1200" b="1">
                <a:solidFill>
                  <a:srgbClr val="161615"/>
                </a:solidFill>
                <a:latin typeface="Arial"/>
                <a:ea typeface="Arial"/>
                <a:cs typeface="Arial"/>
                <a:sym typeface="Arial"/>
              </a:rPr>
              <a:t> — but it isn't materialized yet.</a:t>
            </a:r>
            <a:endParaRPr sz="1200">
              <a:solidFill>
                <a:schemeClr val="dk1"/>
              </a:solidFill>
              <a:latin typeface="Arial"/>
              <a:ea typeface="Arial"/>
              <a:cs typeface="Arial"/>
              <a:sym typeface="Arial"/>
            </a:endParaRPr>
          </a:p>
        </p:txBody>
      </p:sp>
      <p:sp>
        <p:nvSpPr>
          <p:cNvPr id="746" name="Google Shape;746;p34"/>
          <p:cNvSpPr/>
          <p:nvPr/>
        </p:nvSpPr>
        <p:spPr>
          <a:xfrm>
            <a:off x="457200" y="2219249"/>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47" name="Google Shape;747;p34"/>
          <p:cNvSpPr txBox="1"/>
          <p:nvPr/>
        </p:nvSpPr>
        <p:spPr>
          <a:xfrm>
            <a:off x="657454" y="2143354"/>
            <a:ext cx="3514954" cy="295351"/>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Miss at the Reader. </a:t>
            </a:r>
            <a:r>
              <a:rPr lang="en-US" sz="825">
                <a:solidFill>
                  <a:srgbClr val="2A2A29"/>
                </a:solidFill>
                <a:latin typeface="Arial"/>
                <a:ea typeface="Arial"/>
                <a:cs typeface="Arial"/>
                <a:sym typeface="Arial"/>
              </a:rPr>
              <a:t>The key </a:t>
            </a:r>
            <a:r>
              <a:rPr lang="en-US" sz="825">
                <a:solidFill>
                  <a:srgbClr val="161615"/>
                </a:solidFill>
                <a:latin typeface="Arial"/>
                <a:ea typeface="Arial"/>
                <a:cs typeface="Arial"/>
                <a:sym typeface="IBM Plex Mono"/>
              </a:rPr>
              <a:t>id=3</a:t>
            </a:r>
            <a:r>
              <a:rPr lang="en-US" sz="825">
                <a:solidFill>
                  <a:srgbClr val="2A2A29"/>
                </a:solidFill>
                <a:latin typeface="Arial"/>
                <a:ea typeface="Arial"/>
                <a:cs typeface="Arial"/>
                <a:sym typeface="Arial"/>
              </a:rPr>
              <a:t> isn't available in the materialized result.</a:t>
            </a:r>
            <a:endParaRPr sz="825">
              <a:solidFill>
                <a:schemeClr val="dk1"/>
              </a:solidFill>
              <a:latin typeface="Arial"/>
              <a:ea typeface="Arial"/>
              <a:cs typeface="Arial"/>
              <a:sym typeface="Arial"/>
            </a:endParaRPr>
          </a:p>
        </p:txBody>
      </p:sp>
      <p:sp>
        <p:nvSpPr>
          <p:cNvPr id="748" name="Google Shape;748;p34"/>
          <p:cNvSpPr/>
          <p:nvPr/>
        </p:nvSpPr>
        <p:spPr>
          <a:xfrm>
            <a:off x="457200" y="2645817"/>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49" name="Google Shape;749;p34"/>
          <p:cNvSpPr txBox="1"/>
          <p:nvPr/>
        </p:nvSpPr>
        <p:spPr>
          <a:xfrm>
            <a:off x="657454" y="2569921"/>
            <a:ext cx="3514954" cy="295351"/>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Upquery. </a:t>
            </a:r>
            <a:r>
              <a:rPr lang="en-US" sz="825">
                <a:solidFill>
                  <a:srgbClr val="2A2A29"/>
                </a:solidFill>
                <a:latin typeface="Arial"/>
                <a:ea typeface="Arial"/>
                <a:cs typeface="Arial"/>
                <a:sym typeface="Arial"/>
              </a:rPr>
              <a:t>The Reader fires a reverse query — walks up the graph asking only for the rows relevant to </a:t>
            </a:r>
            <a:r>
              <a:rPr lang="en-US" sz="825">
                <a:solidFill>
                  <a:srgbClr val="161615"/>
                </a:solidFill>
                <a:latin typeface="Arial"/>
                <a:ea typeface="Arial"/>
                <a:cs typeface="Arial"/>
                <a:sym typeface="IBM Plex Mono"/>
              </a:rPr>
              <a:t>story_id=3</a:t>
            </a:r>
            <a:r>
              <a:rPr lang="en-US" sz="825">
                <a:solidFill>
                  <a:srgbClr val="2A2A29"/>
                </a:solidFill>
                <a:latin typeface="Arial"/>
                <a:ea typeface="Arial"/>
                <a:cs typeface="Arial"/>
                <a:sym typeface="Arial"/>
              </a:rPr>
              <a:t>.</a:t>
            </a:r>
            <a:endParaRPr sz="825">
              <a:solidFill>
                <a:schemeClr val="dk1"/>
              </a:solidFill>
              <a:latin typeface="Arial"/>
              <a:ea typeface="Arial"/>
              <a:cs typeface="Arial"/>
              <a:sym typeface="Arial"/>
            </a:endParaRPr>
          </a:p>
        </p:txBody>
      </p:sp>
      <p:sp>
        <p:nvSpPr>
          <p:cNvPr id="750" name="Google Shape;750;p34"/>
          <p:cNvSpPr/>
          <p:nvPr/>
        </p:nvSpPr>
        <p:spPr>
          <a:xfrm>
            <a:off x="457200" y="3072841"/>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51" name="Google Shape;751;p34"/>
          <p:cNvSpPr txBox="1"/>
          <p:nvPr/>
        </p:nvSpPr>
        <p:spPr>
          <a:xfrm>
            <a:off x="657454" y="2996489"/>
            <a:ext cx="3514954" cy="443027"/>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On-demand computation. </a:t>
            </a:r>
            <a:r>
              <a:rPr lang="en-US" sz="825">
                <a:solidFill>
                  <a:srgbClr val="2A2A29"/>
                </a:solidFill>
                <a:latin typeface="Arial"/>
                <a:ea typeface="Arial"/>
                <a:cs typeface="Arial"/>
                <a:sym typeface="Arial"/>
              </a:rPr>
              <a:t>Base Tables filter and return only what's needed → the aggregator recomputes </a:t>
            </a:r>
            <a:r>
              <a:rPr lang="en-US" sz="825">
                <a:solidFill>
                  <a:srgbClr val="161615"/>
                </a:solidFill>
                <a:latin typeface="Arial"/>
                <a:ea typeface="Arial"/>
                <a:cs typeface="Arial"/>
                <a:sym typeface="IBM Plex Mono"/>
              </a:rPr>
              <a:t>vcount=26</a:t>
            </a:r>
            <a:r>
              <a:rPr lang="en-US" sz="825">
                <a:solidFill>
                  <a:srgbClr val="2A2A29"/>
                </a:solidFill>
                <a:latin typeface="Arial"/>
                <a:ea typeface="Arial"/>
                <a:cs typeface="Arial"/>
                <a:sym typeface="Arial"/>
              </a:rPr>
              <a:t> → the JOIN completes with the </a:t>
            </a:r>
            <a:r>
              <a:rPr lang="en-US" sz="825">
                <a:solidFill>
                  <a:srgbClr val="161615"/>
                </a:solidFill>
                <a:latin typeface="Arial"/>
                <a:ea typeface="Arial"/>
                <a:cs typeface="Arial"/>
                <a:sym typeface="IBM Plex Mono"/>
              </a:rPr>
              <a:t>stories</a:t>
            </a:r>
            <a:r>
              <a:rPr lang="en-US" sz="825">
                <a:solidFill>
                  <a:srgbClr val="2A2A29"/>
                </a:solidFill>
                <a:latin typeface="Arial"/>
                <a:ea typeface="Arial"/>
                <a:cs typeface="Arial"/>
                <a:sym typeface="Arial"/>
              </a:rPr>
              <a:t> row.</a:t>
            </a:r>
            <a:endParaRPr sz="825">
              <a:solidFill>
                <a:schemeClr val="dk1"/>
              </a:solidFill>
              <a:latin typeface="Arial"/>
              <a:ea typeface="Arial"/>
              <a:cs typeface="Arial"/>
              <a:sym typeface="Arial"/>
            </a:endParaRPr>
          </a:p>
        </p:txBody>
      </p:sp>
      <p:sp>
        <p:nvSpPr>
          <p:cNvPr id="752" name="Google Shape;752;p34"/>
          <p:cNvSpPr/>
          <p:nvPr/>
        </p:nvSpPr>
        <p:spPr>
          <a:xfrm>
            <a:off x="457200" y="3646170"/>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53" name="Google Shape;753;p34"/>
          <p:cNvSpPr txBox="1"/>
          <p:nvPr/>
        </p:nvSpPr>
        <p:spPr>
          <a:xfrm>
            <a:off x="657454" y="3569818"/>
            <a:ext cx="3514954" cy="295351"/>
          </a:xfrm>
          <a:prstGeom prst="rect">
            <a:avLst/>
          </a:prstGeom>
          <a:noFill/>
          <a:ln>
            <a:noFill/>
          </a:ln>
        </p:spPr>
        <p:txBody>
          <a:bodyPr spcFirstLastPara="1" wrap="square" lIns="0" tIns="0" rIns="0" bIns="0" anchor="ctr">
            <a:noAutofit/>
          </a:bodyPr>
          <a:lstStyle/>
          <a:p>
            <a:pPr>
              <a:lnSpc>
                <a:spcPct val="140000"/>
              </a:lnSpc>
              <a:buClr>
                <a:srgbClr val="1A1A1A"/>
              </a:buClr>
              <a:buSzPts val="1650"/>
              <a:buNone/>
            </a:pPr>
            <a:r>
              <a:rPr sz="825" b="1">
                <a:solidFill>
                  <a:srgbClr val="1A1A1A"/>
                </a:solidFill>
                <a:latin typeface="Arial"/>
                <a:ea typeface="Arial"/>
                <a:cs typeface="Arial"/>
              </a:rPr>
              <a:t>A new result is materialized. The Reader now holds id=2 and id=3 for subsequent lookups.</a:t>
            </a:r>
            <a:endParaRPr sz="825">
              <a:solidFill>
                <a:schemeClr val="dk1"/>
              </a:solidFill>
              <a:latin typeface="Arial"/>
              <a:ea typeface="Arial"/>
              <a:cs typeface="Arial"/>
            </a:endParaRPr>
          </a:p>
        </p:txBody>
      </p:sp>
      <p:sp>
        <p:nvSpPr>
          <p:cNvPr id="754" name="Google Shape;754;p34"/>
          <p:cNvSpPr/>
          <p:nvPr/>
        </p:nvSpPr>
        <p:spPr>
          <a:xfrm>
            <a:off x="457200" y="4072738"/>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55" name="Google Shape;755;p34"/>
          <p:cNvSpPr txBox="1"/>
          <p:nvPr/>
        </p:nvSpPr>
        <p:spPr>
          <a:xfrm>
            <a:off x="657454" y="3996385"/>
            <a:ext cx="3514954" cy="295351"/>
          </a:xfrm>
          <a:prstGeom prst="rect">
            <a:avLst/>
          </a:prstGeom>
          <a:noFill/>
          <a:ln>
            <a:noFill/>
          </a:ln>
        </p:spPr>
        <p:txBody>
          <a:bodyPr spcFirstLastPara="1" wrap="square" lIns="0" tIns="0" rIns="0" bIns="0" anchor="ctr">
            <a:noAutofit/>
          </a:bodyPr>
          <a:lstStyle/>
          <a:p>
            <a:pPr>
              <a:lnSpc>
                <a:spcPct val="140000"/>
              </a:lnSpc>
              <a:buClr>
                <a:srgbClr val="1A1A1A"/>
              </a:buClr>
              <a:buSzPts val="1650"/>
              <a:buNone/>
            </a:pPr>
            <a:r>
              <a:rPr sz="825" b="1">
                <a:solidFill>
                  <a:srgbClr val="1A1A1A"/>
                </a:solidFill>
                <a:latin typeface="Arial"/>
                <a:ea typeface="Arial"/>
                <a:cs typeface="Arial"/>
              </a:rPr>
              <a:t>Concurrent misses. Upqueries can share work. Cold lookups still pay computation and scheduling costs.</a:t>
            </a:r>
            <a:endParaRPr sz="825">
              <a:solidFill>
                <a:schemeClr val="dk1"/>
              </a:solidFill>
              <a:latin typeface="Arial"/>
              <a:ea typeface="Arial"/>
              <a:cs typeface="Arial"/>
            </a:endParaRPr>
          </a:p>
        </p:txBody>
      </p:sp>
      <p:pic>
        <p:nvPicPr>
          <p:cNvPr id="756" name="Google Shape;756;p34" descr="gen-dedup-994fa2dd3a9e6979c828d530f0fd6fda.jpg"/>
          <p:cNvPicPr preferRelativeResize="0"/>
          <p:nvPr/>
        </p:nvPicPr>
        <p:blipFill rotWithShape="1">
          <a:blip r:embed="rId3">
            <a:alphaModFix/>
          </a:blip>
          <a:srcRect t="-19245" b="-19245"/>
          <a:stretch/>
        </p:blipFill>
        <p:spPr>
          <a:xfrm>
            <a:off x="4457700" y="1657350"/>
            <a:ext cx="3905403" cy="2762403"/>
          </a:xfrm>
          <a:prstGeom prst="rect">
            <a:avLst/>
          </a:prstGeom>
          <a:noFill/>
          <a:ln>
            <a:noFill/>
          </a:ln>
        </p:spPr>
      </p:pic>
      <p:pic>
        <p:nvPicPr>
          <p:cNvPr id="9030" name="Readyset standard logo 30"/>
          <p:cNvPicPr>
            <a:picLocks noChangeAspect="1"/>
          </p:cNvPicPr>
          <p:nvPr/>
        </p:nvPicPr>
        <p:blipFill>
          <a:blip r:embed="rId4"/>
          <a:stretch/>
        </p:blipFill>
        <p:spPr>
          <a:xfrm>
            <a:off x="457200" y="239275"/>
            <a:ext cx="952500" cy="216776"/>
          </a:xfrm>
          <a:prstGeom prst="rect">
            <a:avLst/>
          </a:prstGeom>
        </p:spPr>
      </p:pic>
      <p:sp>
        <p:nvSpPr>
          <p:cNvPr id="9530"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62"/>
        <p:cNvGrpSpPr/>
        <p:nvPr/>
      </p:nvGrpSpPr>
      <p:grpSpPr>
        <a:xfrm>
          <a:off x="0" y="0"/>
          <a:ext cx="0" cy="0"/>
          <a:chOff x="0" y="0"/>
          <a:chExt cx="0" cy="0"/>
        </a:xfrm>
      </p:grpSpPr>
      <p:sp>
        <p:nvSpPr>
          <p:cNvPr id="763" name="Google Shape;763;p35"/>
          <p:cNvSpPr/>
          <p:nvPr/>
        </p:nvSpPr>
        <p:spPr>
          <a:xfrm>
            <a:off x="457200" y="4286250"/>
            <a:ext cx="3714750" cy="285750"/>
          </a:xfrm>
          <a:prstGeom prst="roundRect">
            <a:avLst>
              <a:gd name="adj" fmla="val 10080"/>
            </a:avLst>
          </a:prstGeom>
          <a:solidFill>
            <a:srgbClr val="16161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64" name="Google Shape;764;p35"/>
          <p:cNvSpPr/>
          <p:nvPr/>
        </p:nvSpPr>
        <p:spPr>
          <a:xfrm>
            <a:off x="4362603" y="1523848"/>
            <a:ext cx="4105199" cy="3057754"/>
          </a:xfrm>
          <a:prstGeom prst="roundRect">
            <a:avLst>
              <a:gd name="adj" fmla="val 1869"/>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66" name="Google Shape;766;p35"/>
          <p:cNvSpPr txBox="1"/>
          <p:nvPr/>
        </p:nvSpPr>
        <p:spPr>
          <a:xfrm>
            <a:off x="2000250" y="276225"/>
            <a:ext cx="6686550" cy="209550"/>
          </a:xfrm>
          <a:prstGeom prst="rect">
            <a:avLst/>
          </a:prstGeom>
          <a:noFill/>
          <a:ln>
            <a:noFill/>
          </a:ln>
        </p:spPr>
        <p:txBody>
          <a:bodyPr spcFirstLastPara="1" wrap="square" lIns="0" tIns="0" rIns="0" bIns="0" anchor="t" anchorCtr="0">
            <a:noAutofit/>
          </a:bodyPr>
          <a:lstStyle/>
          <a:p>
            <a:pPr algn="l">
              <a:buClr>
                <a:srgbClr val="555555"/>
              </a:buClr>
              <a:buSzPts val="1500"/>
            </a:pPr>
            <a:r>
              <a:rPr lang="en-US" sz="900" b="0">
                <a:solidFill>
                  <a:srgbClr val="666666"/>
                </a:solidFill>
                <a:latin typeface="Arial"/>
                <a:ea typeface="Arial"/>
                <a:cs typeface="Arial"/>
                <a:sym typeface="IBM Plex Mono"/>
              </a:rPr>
              <a:t>dataflow · step 3/3</a:t>
            </a:r>
            <a:endParaRPr sz="900" b="0">
              <a:solidFill>
                <a:srgbClr val="666666"/>
              </a:solidFill>
              <a:latin typeface="Arial"/>
              <a:ea typeface="Arial"/>
              <a:cs typeface="Arial"/>
              <a:sym typeface="Arial"/>
            </a:endParaRPr>
          </a:p>
        </p:txBody>
      </p:sp>
      <p:sp>
        <p:nvSpPr>
          <p:cNvPr id="767" name="Google Shape;767;p35"/>
          <p:cNvSpPr txBox="1"/>
          <p:nvPr/>
        </p:nvSpPr>
        <p:spPr>
          <a:xfrm>
            <a:off x="457200" y="790575"/>
            <a:ext cx="8229600" cy="457200"/>
          </a:xfrm>
          <a:prstGeom prst="rect">
            <a:avLst/>
          </a:prstGeom>
          <a:noFill/>
          <a:ln>
            <a:noFill/>
          </a:ln>
        </p:spPr>
        <p:txBody>
          <a:bodyPr spcFirstLastPara="1" wrap="square" lIns="0" tIns="0" rIns="0" bIns="0" anchor="t" anchorCtr="0">
            <a:noAutofit/>
          </a:bodyPr>
          <a:lstStyle/>
          <a:p>
            <a:pPr algn="l">
              <a:buClr>
                <a:srgbClr val="161615"/>
              </a:buClr>
              <a:buSzPts val="4650"/>
            </a:pPr>
            <a:r>
              <a:rPr lang="en-US" sz="2700" b="1">
                <a:solidFill>
                  <a:srgbClr val="171717"/>
                </a:solidFill>
                <a:latin typeface="Arial"/>
                <a:ea typeface="Arial"/>
                <a:cs typeface="Arial"/>
                <a:sym typeface="Arial"/>
              </a:rPr>
              <a:t>Incremental view maintenance</a:t>
            </a:r>
            <a:endParaRPr sz="2700" b="1">
              <a:solidFill>
                <a:srgbClr val="171717"/>
              </a:solidFill>
              <a:latin typeface="Arial"/>
              <a:ea typeface="Arial"/>
              <a:cs typeface="Arial"/>
              <a:sym typeface="Arial"/>
            </a:endParaRPr>
          </a:p>
        </p:txBody>
      </p:sp>
      <p:sp>
        <p:nvSpPr>
          <p:cNvPr id="768" name="Google Shape;768;p35"/>
          <p:cNvSpPr txBox="1"/>
          <p:nvPr/>
        </p:nvSpPr>
        <p:spPr>
          <a:xfrm>
            <a:off x="457200" y="1523848"/>
            <a:ext cx="3714750" cy="85954"/>
          </a:xfrm>
          <a:prstGeom prst="rect">
            <a:avLst/>
          </a:prstGeom>
          <a:noFill/>
          <a:ln>
            <a:noFill/>
          </a:ln>
        </p:spPr>
        <p:txBody>
          <a:bodyPr spcFirstLastPara="1" wrap="square" lIns="0" tIns="0" rIns="0" bIns="0" anchor="ctr" anchorCtr="0">
            <a:noAutofit/>
          </a:bodyPr>
          <a:lstStyle/>
          <a:p>
            <a:pPr>
              <a:buClr>
                <a:srgbClr val="706E6C"/>
              </a:buClr>
              <a:buSzPts val="1050"/>
            </a:pPr>
            <a:r>
              <a:rPr lang="en-US" sz="525">
                <a:solidFill>
                  <a:srgbClr val="706E6C"/>
                </a:solidFill>
                <a:latin typeface="Arial"/>
                <a:ea typeface="Arial"/>
                <a:cs typeface="Arial"/>
                <a:sym typeface="IBM Plex Mono"/>
              </a:rPr>
              <a:t>a write arrives — what now?</a:t>
            </a:r>
            <a:endParaRPr sz="525">
              <a:solidFill>
                <a:schemeClr val="dk1"/>
              </a:solidFill>
              <a:latin typeface="Arial"/>
              <a:ea typeface="Arial"/>
              <a:cs typeface="Arial"/>
              <a:sym typeface="Arial"/>
            </a:endParaRPr>
          </a:p>
        </p:txBody>
      </p:sp>
      <p:sp>
        <p:nvSpPr>
          <p:cNvPr id="769" name="Google Shape;769;p35"/>
          <p:cNvSpPr txBox="1"/>
          <p:nvPr/>
        </p:nvSpPr>
        <p:spPr>
          <a:xfrm>
            <a:off x="457200" y="1657350"/>
            <a:ext cx="3714750" cy="371704"/>
          </a:xfrm>
          <a:prstGeom prst="rect">
            <a:avLst/>
          </a:prstGeom>
          <a:noFill/>
          <a:ln>
            <a:noFill/>
          </a:ln>
        </p:spPr>
        <p:txBody>
          <a:bodyPr spcFirstLastPara="1" wrap="square" lIns="0" tIns="0" rIns="0" bIns="0" anchor="ctr" anchorCtr="0">
            <a:noAutofit/>
          </a:bodyPr>
          <a:lstStyle/>
          <a:p>
            <a:pPr>
              <a:lnSpc>
                <a:spcPct val="120000"/>
              </a:lnSpc>
              <a:buClr>
                <a:srgbClr val="161615"/>
              </a:buClr>
              <a:buSzPts val="2400"/>
            </a:pPr>
            <a:r>
              <a:rPr lang="en-US" sz="1200" b="1">
                <a:solidFill>
                  <a:srgbClr val="161615"/>
                </a:solidFill>
                <a:latin typeface="Arial"/>
                <a:ea typeface="Arial"/>
                <a:cs typeface="Arial"/>
                <a:sym typeface="Arial"/>
              </a:rPr>
              <a:t>A new vote from </a:t>
            </a:r>
            <a:r>
              <a:rPr lang="en-US" sz="1200" b="1">
                <a:solidFill>
                  <a:srgbClr val="555555"/>
                </a:solidFill>
                <a:latin typeface="Arial"/>
                <a:ea typeface="Arial"/>
                <a:cs typeface="Arial"/>
                <a:sym typeface="IBM Plex Mono"/>
              </a:rPr>
              <a:t>Marcelo</a:t>
            </a:r>
            <a:r>
              <a:rPr lang="en-US" sz="1200" b="1">
                <a:solidFill>
                  <a:srgbClr val="161615"/>
                </a:solidFill>
                <a:latin typeface="Arial"/>
                <a:ea typeface="Arial"/>
                <a:cs typeface="Arial"/>
                <a:sym typeface="Arial"/>
              </a:rPr>
              <a:t> on </a:t>
            </a:r>
            <a:r>
              <a:rPr lang="en-US" sz="1200" b="1">
                <a:solidFill>
                  <a:srgbClr val="555555"/>
                </a:solidFill>
                <a:latin typeface="Arial"/>
                <a:ea typeface="Arial"/>
                <a:cs typeface="Arial"/>
                <a:sym typeface="IBM Plex Mono"/>
              </a:rPr>
              <a:t>story 2</a:t>
            </a:r>
            <a:r>
              <a:rPr lang="en-US" sz="1200" b="1">
                <a:solidFill>
                  <a:srgbClr val="161615"/>
                </a:solidFill>
                <a:latin typeface="Arial"/>
                <a:ea typeface="Arial"/>
                <a:cs typeface="Arial"/>
                <a:sym typeface="Arial"/>
              </a:rPr>
              <a:t>. The delta propagates.</a:t>
            </a:r>
            <a:endParaRPr sz="1200">
              <a:solidFill>
                <a:schemeClr val="dk1"/>
              </a:solidFill>
              <a:latin typeface="Arial"/>
              <a:ea typeface="Arial"/>
              <a:cs typeface="Arial"/>
              <a:sym typeface="Arial"/>
            </a:endParaRPr>
          </a:p>
        </p:txBody>
      </p:sp>
      <p:sp>
        <p:nvSpPr>
          <p:cNvPr id="770" name="Google Shape;770;p35"/>
          <p:cNvSpPr/>
          <p:nvPr/>
        </p:nvSpPr>
        <p:spPr>
          <a:xfrm>
            <a:off x="457200" y="2219249"/>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71" name="Google Shape;771;p35"/>
          <p:cNvSpPr txBox="1"/>
          <p:nvPr/>
        </p:nvSpPr>
        <p:spPr>
          <a:xfrm>
            <a:off x="657454" y="2143354"/>
            <a:ext cx="3514954" cy="295351"/>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CDC delivers the delta. </a:t>
            </a:r>
            <a:r>
              <a:rPr lang="en-US" sz="825">
                <a:solidFill>
                  <a:srgbClr val="2A2A29"/>
                </a:solidFill>
                <a:latin typeface="Arial"/>
                <a:ea typeface="Arial"/>
                <a:cs typeface="Arial"/>
                <a:sym typeface="Arial"/>
              </a:rPr>
              <a:t>The Replicator captures the </a:t>
            </a:r>
            <a:r>
              <a:rPr lang="en-US" sz="825">
                <a:solidFill>
                  <a:srgbClr val="161615"/>
                </a:solidFill>
                <a:latin typeface="Arial"/>
                <a:ea typeface="Arial"/>
                <a:cs typeface="Arial"/>
                <a:sym typeface="IBM Plex Mono"/>
              </a:rPr>
              <a:t>INSERT</a:t>
            </a:r>
            <a:r>
              <a:rPr lang="en-US" sz="825">
                <a:solidFill>
                  <a:srgbClr val="2A2A29"/>
                </a:solidFill>
                <a:latin typeface="Arial"/>
                <a:ea typeface="Arial"/>
                <a:cs typeface="Arial"/>
                <a:sym typeface="Arial"/>
              </a:rPr>
              <a:t> on </a:t>
            </a:r>
            <a:r>
              <a:rPr lang="en-US" sz="825">
                <a:solidFill>
                  <a:srgbClr val="161615"/>
                </a:solidFill>
                <a:latin typeface="Arial"/>
                <a:ea typeface="Arial"/>
                <a:cs typeface="Arial"/>
                <a:sym typeface="IBM Plex Mono"/>
              </a:rPr>
              <a:t>votes</a:t>
            </a:r>
            <a:r>
              <a:rPr lang="en-US" sz="825">
                <a:solidFill>
                  <a:srgbClr val="2A2A29"/>
                </a:solidFill>
                <a:latin typeface="Arial"/>
                <a:ea typeface="Arial"/>
                <a:cs typeface="Arial"/>
                <a:sym typeface="Arial"/>
              </a:rPr>
              <a:t> and feeds the Base Table.</a:t>
            </a:r>
            <a:endParaRPr sz="825">
              <a:solidFill>
                <a:schemeClr val="dk1"/>
              </a:solidFill>
              <a:latin typeface="Arial"/>
              <a:ea typeface="Arial"/>
              <a:cs typeface="Arial"/>
              <a:sym typeface="Arial"/>
            </a:endParaRPr>
          </a:p>
        </p:txBody>
      </p:sp>
      <p:sp>
        <p:nvSpPr>
          <p:cNvPr id="772" name="Google Shape;772;p35"/>
          <p:cNvSpPr/>
          <p:nvPr/>
        </p:nvSpPr>
        <p:spPr>
          <a:xfrm>
            <a:off x="457200" y="2645817"/>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73" name="Google Shape;773;p35"/>
          <p:cNvSpPr txBox="1"/>
          <p:nvPr/>
        </p:nvSpPr>
        <p:spPr>
          <a:xfrm>
            <a:off x="657454" y="2569921"/>
            <a:ext cx="3514954" cy="443027"/>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Incremental propagation. </a:t>
            </a:r>
            <a:r>
              <a:rPr lang="en-US" sz="825">
                <a:solidFill>
                  <a:srgbClr val="2A2A29"/>
                </a:solidFill>
                <a:latin typeface="Arial"/>
                <a:ea typeface="Arial"/>
                <a:cs typeface="Arial"/>
                <a:sym typeface="Arial"/>
              </a:rPr>
              <a:t>The aggregator receives the delta and increments: </a:t>
            </a:r>
            <a:r>
              <a:rPr lang="en-US" sz="825">
                <a:solidFill>
                  <a:srgbClr val="161615"/>
                </a:solidFill>
                <a:latin typeface="Arial"/>
                <a:ea typeface="Arial"/>
                <a:cs typeface="Arial"/>
                <a:sym typeface="IBM Plex Mono"/>
              </a:rPr>
              <a:t>vcount 20 → 21</a:t>
            </a:r>
            <a:r>
              <a:rPr lang="en-US" sz="825">
                <a:solidFill>
                  <a:srgbClr val="2A2A29"/>
                </a:solidFill>
                <a:latin typeface="Arial"/>
                <a:ea typeface="Arial"/>
                <a:cs typeface="Arial"/>
                <a:sym typeface="Arial"/>
              </a:rPr>
              <a:t>. It does not recompute the COUNT over every vote — only the cached value is adjusted.</a:t>
            </a:r>
            <a:endParaRPr sz="825">
              <a:solidFill>
                <a:schemeClr val="dk1"/>
              </a:solidFill>
              <a:latin typeface="Arial"/>
              <a:ea typeface="Arial"/>
              <a:cs typeface="Arial"/>
              <a:sym typeface="Arial"/>
            </a:endParaRPr>
          </a:p>
        </p:txBody>
      </p:sp>
      <p:sp>
        <p:nvSpPr>
          <p:cNvPr id="774" name="Google Shape;774;p35"/>
          <p:cNvSpPr/>
          <p:nvPr/>
        </p:nvSpPr>
        <p:spPr>
          <a:xfrm>
            <a:off x="457200" y="3219603"/>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75" name="Google Shape;775;p35"/>
          <p:cNvSpPr txBox="1"/>
          <p:nvPr/>
        </p:nvSpPr>
        <p:spPr>
          <a:xfrm>
            <a:off x="657454" y="3143250"/>
            <a:ext cx="3514954" cy="295351"/>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JOIN refreshed. </a:t>
            </a:r>
            <a:r>
              <a:rPr lang="en-US" sz="825">
                <a:solidFill>
                  <a:srgbClr val="2A2A29"/>
                </a:solidFill>
                <a:latin typeface="Arial"/>
                <a:ea typeface="Arial"/>
                <a:cs typeface="Arial"/>
                <a:sym typeface="Arial"/>
              </a:rPr>
              <a:t>The new </a:t>
            </a:r>
            <a:r>
              <a:rPr lang="en-US" sz="825">
                <a:solidFill>
                  <a:srgbClr val="161615"/>
                </a:solidFill>
                <a:latin typeface="Arial"/>
                <a:ea typeface="Arial"/>
                <a:cs typeface="Arial"/>
                <a:sym typeface="IBM Plex Mono"/>
              </a:rPr>
              <a:t>vcount=21</a:t>
            </a:r>
            <a:r>
              <a:rPr lang="en-US" sz="825">
                <a:solidFill>
                  <a:srgbClr val="2A2A29"/>
                </a:solidFill>
                <a:latin typeface="Arial"/>
                <a:ea typeface="Arial"/>
                <a:cs typeface="Arial"/>
                <a:sym typeface="Arial"/>
              </a:rPr>
              <a:t> reaches the JOIN node, which replaces the row for </a:t>
            </a:r>
            <a:r>
              <a:rPr lang="en-US" sz="825">
                <a:solidFill>
                  <a:srgbClr val="161615"/>
                </a:solidFill>
                <a:latin typeface="Arial"/>
                <a:ea typeface="Arial"/>
                <a:cs typeface="Arial"/>
                <a:sym typeface="IBM Plex Mono"/>
              </a:rPr>
              <a:t>id=2</a:t>
            </a:r>
            <a:r>
              <a:rPr lang="en-US" sz="825">
                <a:solidFill>
                  <a:srgbClr val="2A2A29"/>
                </a:solidFill>
                <a:latin typeface="Arial"/>
                <a:ea typeface="Arial"/>
                <a:cs typeface="Arial"/>
                <a:sym typeface="Arial"/>
              </a:rPr>
              <a:t>.</a:t>
            </a:r>
            <a:endParaRPr sz="825">
              <a:solidFill>
                <a:schemeClr val="dk1"/>
              </a:solidFill>
              <a:latin typeface="Arial"/>
              <a:ea typeface="Arial"/>
              <a:cs typeface="Arial"/>
              <a:sym typeface="Arial"/>
            </a:endParaRPr>
          </a:p>
        </p:txBody>
      </p:sp>
      <p:sp>
        <p:nvSpPr>
          <p:cNvPr id="776" name="Google Shape;776;p35"/>
          <p:cNvSpPr/>
          <p:nvPr/>
        </p:nvSpPr>
        <p:spPr>
          <a:xfrm>
            <a:off x="457200" y="3646170"/>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77" name="Google Shape;777;p35"/>
          <p:cNvSpPr txBox="1"/>
          <p:nvPr/>
        </p:nvSpPr>
        <p:spPr>
          <a:xfrm>
            <a:off x="657454" y="3569818"/>
            <a:ext cx="3514954" cy="295351"/>
          </a:xfrm>
          <a:prstGeom prst="rect">
            <a:avLst/>
          </a:prstGeom>
          <a:noFill/>
          <a:ln>
            <a:noFill/>
          </a:ln>
        </p:spPr>
        <p:txBody>
          <a:bodyPr spcFirstLastPara="1" wrap="square" lIns="0" tIns="0" rIns="0" bIns="0" anchor="ctr">
            <a:noAutofit/>
          </a:bodyPr>
          <a:lstStyle/>
          <a:p>
            <a:pPr>
              <a:lnSpc>
                <a:spcPct val="140000"/>
              </a:lnSpc>
              <a:buClr>
                <a:srgbClr val="1A1A1A"/>
              </a:buClr>
              <a:buSzPts val="1650"/>
              <a:buNone/>
            </a:pPr>
            <a:r>
              <a:rPr sz="825" b="1">
                <a:solidFill>
                  <a:srgbClr val="1A1A1A"/>
                </a:solidFill>
                <a:latin typeface="Arial"/>
                <a:ea typeface="Arial"/>
                <a:cs typeface="Arial"/>
              </a:rPr>
              <a:t>Reader converges. After the delta reaches the Reader, a lookup for id=2 sees vcount=21.</a:t>
            </a:r>
            <a:endParaRPr sz="825">
              <a:solidFill>
                <a:schemeClr val="dk1"/>
              </a:solidFill>
              <a:latin typeface="Arial"/>
              <a:ea typeface="Arial"/>
              <a:cs typeface="Arial"/>
            </a:endParaRPr>
          </a:p>
        </p:txBody>
      </p:sp>
      <p:sp>
        <p:nvSpPr>
          <p:cNvPr id="778" name="Google Shape;778;p35"/>
          <p:cNvSpPr/>
          <p:nvPr/>
        </p:nvSpPr>
        <p:spPr>
          <a:xfrm>
            <a:off x="457200" y="4072738"/>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79" name="Google Shape;779;p35"/>
          <p:cNvSpPr txBox="1"/>
          <p:nvPr/>
        </p:nvSpPr>
        <p:spPr>
          <a:xfrm>
            <a:off x="657454" y="3996385"/>
            <a:ext cx="3857854" cy="147676"/>
          </a:xfrm>
          <a:prstGeom prst="rect">
            <a:avLst/>
          </a:prstGeom>
          <a:noFill/>
          <a:ln>
            <a:noFill/>
          </a:ln>
        </p:spPr>
        <p:txBody>
          <a:bodyPr spcFirstLastPara="1" wrap="square" lIns="0" tIns="0" rIns="0" bIns="0" anchor="ctr">
            <a:noAutofit/>
          </a:bodyPr>
          <a:lstStyle/>
          <a:p>
            <a:pPr>
              <a:buClr>
                <a:srgbClr val="1A1A1A"/>
              </a:buClr>
              <a:buSzPts val="1650"/>
              <a:buNone/>
            </a:pPr>
            <a:r>
              <a:rPr sz="825" b="1">
                <a:solidFill>
                  <a:srgbClr val="1A1A1A"/>
                </a:solidFill>
                <a:latin typeface="Arial"/>
                <a:ea typeface="Arial"/>
                <a:cs typeface="Arial"/>
              </a:rPr>
              <a:t>Update cost depends on affected state, operator work, and join fan-out.</a:t>
            </a:r>
            <a:endParaRPr sz="825">
              <a:solidFill>
                <a:schemeClr val="dk1"/>
              </a:solidFill>
              <a:latin typeface="Arial"/>
              <a:ea typeface="Arial"/>
              <a:cs typeface="Arial"/>
            </a:endParaRPr>
          </a:p>
        </p:txBody>
      </p:sp>
      <p:sp>
        <p:nvSpPr>
          <p:cNvPr id="780" name="Google Shape;780;p35"/>
          <p:cNvSpPr txBox="1"/>
          <p:nvPr/>
        </p:nvSpPr>
        <p:spPr>
          <a:xfrm>
            <a:off x="600304" y="4343400"/>
            <a:ext cx="3429000" cy="119329"/>
          </a:xfrm>
          <a:prstGeom prst="rect">
            <a:avLst/>
          </a:prstGeom>
          <a:noFill/>
          <a:ln>
            <a:noFill/>
          </a:ln>
        </p:spPr>
        <p:txBody>
          <a:bodyPr spcFirstLastPara="1" wrap="square" lIns="0" tIns="0" rIns="0" bIns="0" anchor="ctr">
            <a:noAutofit/>
          </a:bodyPr>
          <a:lstStyle/>
          <a:p>
            <a:pPr>
              <a:buClr>
                <a:srgbClr val="555555"/>
              </a:buClr>
              <a:buSzPts val="1350"/>
              <a:buNone/>
            </a:pPr>
            <a:r>
              <a:rPr sz="675" b="1">
                <a:solidFill>
                  <a:srgbClr val="EEEEEE"/>
                </a:solidFill>
                <a:latin typeface="Arial"/>
                <a:ea typeface="Arial"/>
                <a:cs typeface="Arial"/>
              </a:rPr>
              <a:t>No TTL for deep caches. Freshness still depends on CDC and dataflow lag.</a:t>
            </a:r>
            <a:endParaRPr sz="675">
              <a:solidFill>
                <a:schemeClr val="dk1"/>
              </a:solidFill>
              <a:latin typeface="Arial"/>
              <a:ea typeface="Arial"/>
              <a:cs typeface="Arial"/>
            </a:endParaRPr>
          </a:p>
        </p:txBody>
      </p:sp>
      <p:pic>
        <p:nvPicPr>
          <p:cNvPr id="781" name="Google Shape;781;p35" descr="gen-dedup-087e8034ee60b80fafaecdee5216d8a5.jpg"/>
          <p:cNvPicPr preferRelativeResize="0"/>
          <p:nvPr/>
        </p:nvPicPr>
        <p:blipFill rotWithShape="1">
          <a:blip r:embed="rId3">
            <a:alphaModFix/>
          </a:blip>
          <a:srcRect t="-19245" b="-19245"/>
          <a:stretch/>
        </p:blipFill>
        <p:spPr>
          <a:xfrm>
            <a:off x="4457700" y="1657350"/>
            <a:ext cx="3905403" cy="2762403"/>
          </a:xfrm>
          <a:prstGeom prst="rect">
            <a:avLst/>
          </a:prstGeom>
          <a:noFill/>
          <a:ln>
            <a:noFill/>
          </a:ln>
        </p:spPr>
      </p:pic>
      <p:pic>
        <p:nvPicPr>
          <p:cNvPr id="9031" name="Readyset standard logo 31"/>
          <p:cNvPicPr>
            <a:picLocks noChangeAspect="1"/>
          </p:cNvPicPr>
          <p:nvPr/>
        </p:nvPicPr>
        <p:blipFill>
          <a:blip r:embed="rId4"/>
          <a:stretch/>
        </p:blipFill>
        <p:spPr>
          <a:xfrm>
            <a:off x="457200" y="239275"/>
            <a:ext cx="952500" cy="216776"/>
          </a:xfrm>
          <a:prstGeom prst="rect">
            <a:avLst/>
          </a:prstGeom>
        </p:spPr>
      </p:pic>
      <p:sp>
        <p:nvSpPr>
          <p:cNvPr id="9531"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p:blipFill>
        <p:spPr>
          <a:xfrm>
            <a:off x="457200" y="239275"/>
            <a:ext cx="952500" cy="216776"/>
          </a:xfrm>
          <a:prstGeom prst="rect">
            <a:avLst/>
          </a:prstGeom>
        </p:spPr>
      </p:pic>
      <p:sp>
        <p:nvSpPr>
          <p:cNvPr id="2" name="Rectangle 1">
            <a:extLst>
              <a:ext uri="{FF2B5EF4-FFF2-40B4-BE49-F238E27FC236}">
                <a16:creationId xmlns:a16="http://schemas.microsoft.com/office/drawing/2014/main" id="{3313616B-B559-4C4E-A660-F284AEEDAC26}"/>
              </a:ext>
            </a:extLst>
          </p:cNvPr>
          <p:cNvSpPr>
            <a:spLocks noGrp="1"/>
          </p:cNvSpPr>
          <p:nvPr/>
        </p:nvSpPr>
        <p:spPr>
          <a:xfrm>
            <a:off x="457200" y="1524000"/>
            <a:ext cx="8191500" cy="326898"/>
          </a:xfrm>
          <a:prstGeom prst="rect">
            <a:avLst/>
          </a:prstGeom>
          <a:noFill/>
          <a:ln w="0">
            <a:noFill/>
          </a:ln>
        </p:spPr>
        <p:txBody>
          <a:bodyPr wrap="none" lIns="0" tIns="0" rIns="0" bIns="0">
            <a:noAutofit/>
          </a:bodyPr>
          <a:lstStyle/>
          <a:p>
            <a:pPr>
              <a:defRPr sz="1800" b="0">
                <a:solidFill>
                  <a:srgbClr val="FFFFFF"/>
                </a:solidFill>
                <a:latin typeface="Arial"/>
                <a:ea typeface="Arial"/>
                <a:cs typeface="Arial"/>
              </a:defRPr>
            </a:pPr>
            <a:r>
              <a:rPr sz="1800" b="0">
                <a:solidFill>
                  <a:srgbClr val="FFFFFF"/>
                </a:solidFill>
                <a:latin typeface="Arial"/>
                <a:ea typeface="Arial"/>
                <a:cs typeface="Arial"/>
              </a:rPr>
              <a:t>THE FRESHNESS LAB</a:t>
            </a:r>
          </a:p>
        </p:txBody>
      </p:sp>
      <p:sp>
        <p:nvSpPr>
          <p:cNvPr id="3" name="Rectangle 2">
            <a:extLst>
              <a:ext uri="{FF2B5EF4-FFF2-40B4-BE49-F238E27FC236}">
                <a16:creationId xmlns:a16="http://schemas.microsoft.com/office/drawing/2014/main" id="{42070745-AC08-48D5-84B5-1542B6136651}"/>
              </a:ext>
            </a:extLst>
          </p:cNvPr>
          <p:cNvSpPr>
            <a:spLocks noGrp="1"/>
          </p:cNvSpPr>
          <p:nvPr/>
        </p:nvSpPr>
        <p:spPr>
          <a:xfrm>
            <a:off x="457200" y="2171700"/>
            <a:ext cx="8191500" cy="630365"/>
          </a:xfrm>
          <a:prstGeom prst="rect">
            <a:avLst/>
          </a:prstGeom>
          <a:noFill/>
          <a:ln w="0">
            <a:noFill/>
          </a:ln>
        </p:spPr>
        <p:txBody>
          <a:bodyPr wrap="none" lIns="0" tIns="0" rIns="0" bIns="0">
            <a:noAutofit/>
          </a:bodyPr>
          <a:lstStyle/>
          <a:p>
            <a:pPr>
              <a:defRPr sz="3825" b="1">
                <a:solidFill>
                  <a:srgbClr val="FFFFFF"/>
                </a:solidFill>
                <a:latin typeface="Arial"/>
                <a:ea typeface="Arial"/>
                <a:cs typeface="Arial"/>
              </a:defRPr>
            </a:pPr>
            <a:r>
              <a:rPr sz="3825" b="1">
                <a:solidFill>
                  <a:srgbClr val="FFFFFF"/>
                </a:solidFill>
                <a:latin typeface="Arial"/>
                <a:ea typeface="Arial"/>
                <a:cs typeface="Arial"/>
              </a:rPr>
              <a:t>“Read from the source.</a:t>
            </a:r>
          </a:p>
        </p:txBody>
      </p:sp>
      <p:sp>
        <p:nvSpPr>
          <p:cNvPr id="4" name="Rectangle 3">
            <a:extLst>
              <a:ext uri="{FF2B5EF4-FFF2-40B4-BE49-F238E27FC236}">
                <a16:creationId xmlns:a16="http://schemas.microsoft.com/office/drawing/2014/main" id="{2B9AE430-83BA-4191-BF6A-3F4B5C29EBCD}"/>
              </a:ext>
            </a:extLst>
          </p:cNvPr>
          <p:cNvSpPr>
            <a:spLocks noGrp="1"/>
          </p:cNvSpPr>
          <p:nvPr/>
        </p:nvSpPr>
        <p:spPr>
          <a:xfrm>
            <a:off x="457200" y="2857500"/>
            <a:ext cx="8191500" cy="630365"/>
          </a:xfrm>
          <a:prstGeom prst="rect">
            <a:avLst/>
          </a:prstGeom>
          <a:noFill/>
          <a:ln w="0">
            <a:noFill/>
          </a:ln>
        </p:spPr>
        <p:txBody>
          <a:bodyPr wrap="none" lIns="0" tIns="0" rIns="0" bIns="0">
            <a:noAutofit/>
          </a:bodyPr>
          <a:lstStyle/>
          <a:p>
            <a:pPr>
              <a:defRPr sz="3825" b="1">
                <a:solidFill>
                  <a:srgbClr val="FFFFFF"/>
                </a:solidFill>
                <a:latin typeface="Arial"/>
                <a:ea typeface="Arial"/>
                <a:cs typeface="Arial"/>
              </a:defRPr>
            </a:pPr>
            <a:r>
              <a:rPr sz="3825" b="1" dirty="0">
                <a:solidFill>
                  <a:srgbClr val="FFFFFF"/>
                </a:solidFill>
                <a:latin typeface="Arial"/>
                <a:ea typeface="Arial"/>
                <a:cs typeface="Arial"/>
              </a:rPr>
              <a:t>It is always fresh.”</a:t>
            </a:r>
          </a:p>
        </p:txBody>
      </p:sp>
      <p:sp>
        <p:nvSpPr>
          <p:cNvPr id="5" name="Rectangle 4">
            <a:extLst>
              <a:ext uri="{FF2B5EF4-FFF2-40B4-BE49-F238E27FC236}">
                <a16:creationId xmlns:a16="http://schemas.microsoft.com/office/drawing/2014/main" id="{6405A5C3-1488-43AC-B2D2-D4EBA9EEE865}"/>
              </a:ext>
            </a:extLst>
          </p:cNvPr>
          <p:cNvSpPr>
            <a:spLocks noGrp="1"/>
          </p:cNvSpPr>
          <p:nvPr/>
        </p:nvSpPr>
        <p:spPr>
          <a:xfrm>
            <a:off x="457200" y="4010025"/>
            <a:ext cx="8191500" cy="371856"/>
          </a:xfrm>
          <a:prstGeom prst="rect">
            <a:avLst/>
          </a:prstGeom>
          <a:noFill/>
          <a:ln w="0">
            <a:noFill/>
          </a:ln>
        </p:spPr>
        <p:txBody>
          <a:bodyPr wrap="none" lIns="0" tIns="0" rIns="0" bIns="0">
            <a:noAutofit/>
          </a:bodyPr>
          <a:lstStyle/>
          <a:p>
            <a:pPr>
              <a:defRPr sz="2100" b="0">
                <a:solidFill>
                  <a:srgbClr val="FFFFFF"/>
                </a:solidFill>
                <a:latin typeface="Arial"/>
                <a:ea typeface="Arial"/>
                <a:cs typeface="Arial"/>
              </a:defRPr>
            </a:pPr>
            <a:r>
              <a:rPr sz="2100" b="0">
                <a:solidFill>
                  <a:srgbClr val="FFFFFF"/>
                </a:solidFill>
                <a:latin typeface="Arial"/>
                <a:ea typeface="Arial"/>
                <a:cs typeface="Arial"/>
              </a:rPr>
              <a:t>Is it still fresh when the answer arrives?</a:t>
            </a:r>
          </a:p>
        </p:txBody>
      </p:sp>
      <p:sp>
        <p:nvSpPr>
          <p:cNvPr id="9532"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34</a:t>
            </a:r>
          </a:p>
        </p:txBody>
      </p:sp>
    </p:spTree>
    <p:extLst>
      <p:ext uri="{BB962C8B-B14F-4D97-AF65-F5344CB8AC3E}">
        <p14:creationId xmlns:p14="http://schemas.microsoft.com/office/powerpoint/2010/main" val="7580328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a:blip r:embed="rId3"/>
          <a:stretch/>
        </p:blipFill>
        <p:spPr>
          <a:xfrm>
            <a:off x="457200" y="239275"/>
            <a:ext cx="952500" cy="216776"/>
          </a:xfrm>
          <a:prstGeom prst="rect">
            <a:avLst/>
          </a:prstGeom>
        </p:spPr>
      </p:pic>
      <p:sp>
        <p:nvSpPr>
          <p:cNvPr id="2" name="Rectangle 1">
            <a:extLst>
              <a:ext uri="{FF2B5EF4-FFF2-40B4-BE49-F238E27FC236}">
                <a16:creationId xmlns:a16="http://schemas.microsoft.com/office/drawing/2014/main" id="{FADBB731-F727-4CA9-A191-0BA7FDE213E7}"/>
              </a:ext>
            </a:extLst>
          </p:cNvPr>
          <p:cNvSpPr>
            <a:spLocks noGrp="1"/>
          </p:cNvSpPr>
          <p:nvPr/>
        </p:nvSpPr>
        <p:spPr>
          <a:xfrm>
            <a:off x="457200" y="809625"/>
            <a:ext cx="8286750" cy="461772"/>
          </a:xfrm>
          <a:prstGeom prst="rect">
            <a:avLst/>
          </a:prstGeom>
          <a:noFill/>
          <a:ln w="0">
            <a:noFill/>
          </a:ln>
        </p:spPr>
        <p:txBody>
          <a:bodyPr wrap="square" lIns="0" tIns="0" rIns="0" bIns="0">
            <a:noAutofit/>
          </a:bodyPr>
          <a:lstStyle/>
          <a:p>
            <a:pPr>
              <a:buNone/>
              <a:defRPr sz="2700" b="1">
                <a:solidFill>
                  <a:srgbClr val="1A1A1A"/>
                </a:solidFill>
                <a:latin typeface="Arial"/>
                <a:ea typeface="Arial"/>
                <a:cs typeface="Arial"/>
              </a:defRPr>
            </a:pPr>
            <a:r>
              <a:rPr sz="2700" b="1">
                <a:solidFill>
                  <a:srgbClr val="1A1A1A"/>
                </a:solidFill>
                <a:latin typeface="Arial"/>
                <a:ea typeface="Arial"/>
                <a:cs typeface="Arial"/>
              </a:rPr>
              <a:t>A running SELECT keeps an earlier snapshot</a:t>
            </a:r>
          </a:p>
        </p:txBody>
      </p:sp>
      <p:pic>
        <p:nvPicPr>
          <p:cNvPr id="12" name="Picture 11"/>
          <p:cNvPicPr>
            <a:picLocks noChangeAspect="1"/>
          </p:cNvPicPr>
          <p:nvPr/>
        </p:nvPicPr>
        <p:blipFill>
          <a:blip r:embed="rId4"/>
          <a:stretch/>
        </p:blipFill>
        <p:spPr>
          <a:xfrm>
            <a:off x="809625" y="1866900"/>
            <a:ext cx="1666875" cy="1719351"/>
          </a:xfrm>
          <a:prstGeom prst="rect">
            <a:avLst/>
          </a:prstGeom>
        </p:spPr>
      </p:pic>
      <p:sp>
        <p:nvSpPr>
          <p:cNvPr id="4" name="Rectangle 3">
            <a:extLst>
              <a:ext uri="{FF2B5EF4-FFF2-40B4-BE49-F238E27FC236}">
                <a16:creationId xmlns:a16="http://schemas.microsoft.com/office/drawing/2014/main" id="{7E11652E-5CA3-4CBF-85DE-B29A883AB269}"/>
              </a:ext>
            </a:extLst>
          </p:cNvPr>
          <p:cNvSpPr>
            <a:spLocks noGrp="1"/>
          </p:cNvSpPr>
          <p:nvPr/>
        </p:nvSpPr>
        <p:spPr>
          <a:xfrm>
            <a:off x="476250" y="4019550"/>
            <a:ext cx="3381375" cy="360617"/>
          </a:xfrm>
          <a:prstGeom prst="rect">
            <a:avLst/>
          </a:prstGeom>
          <a:noFill/>
          <a:ln w="0">
            <a:noFill/>
          </a:ln>
        </p:spPr>
        <p:txBody>
          <a:bodyPr wrap="none" lIns="0" tIns="0" rIns="0" bIns="0">
            <a:noAutofit/>
          </a:bodyPr>
          <a:lstStyle/>
          <a:p>
            <a:pPr>
              <a:defRPr sz="2025" b="1">
                <a:solidFill>
                  <a:srgbClr val="228147"/>
                </a:solidFill>
                <a:latin typeface="Arial"/>
                <a:ea typeface="Arial"/>
                <a:cs typeface="Arial"/>
              </a:defRPr>
            </a:pPr>
            <a:r>
              <a:rPr sz="2025" b="1">
                <a:solidFill>
                  <a:srgbClr val="228147"/>
                </a:solidFill>
                <a:latin typeface="Arial"/>
                <a:ea typeface="Arial"/>
                <a:cs typeface="Arial"/>
              </a:rPr>
              <a:t>Source keeps changing</a:t>
            </a:r>
          </a:p>
        </p:txBody>
      </p:sp>
      <p:sp>
        <p:nvSpPr>
          <p:cNvPr id="5" name="Rectangle 4">
            <a:extLst>
              <a:ext uri="{FF2B5EF4-FFF2-40B4-BE49-F238E27FC236}">
                <a16:creationId xmlns:a16="http://schemas.microsoft.com/office/drawing/2014/main" id="{F634D28E-8537-494C-900A-8B874D8AD741}"/>
              </a:ext>
            </a:extLst>
          </p:cNvPr>
          <p:cNvSpPr>
            <a:spLocks noGrp="1"/>
          </p:cNvSpPr>
          <p:nvPr/>
        </p:nvSpPr>
        <p:spPr>
          <a:xfrm>
            <a:off x="3143250" y="2581275"/>
            <a:ext cx="762000" cy="596646"/>
          </a:xfrm>
          <a:prstGeom prst="rect">
            <a:avLst/>
          </a:prstGeom>
          <a:noFill/>
          <a:ln w="0">
            <a:noFill/>
          </a:ln>
        </p:spPr>
        <p:txBody>
          <a:bodyPr wrap="none" lIns="0" tIns="0" rIns="0" bIns="0">
            <a:noAutofit/>
          </a:bodyPr>
          <a:lstStyle/>
          <a:p>
            <a:pPr>
              <a:defRPr sz="3600" b="1">
                <a:solidFill>
                  <a:srgbClr val="171717"/>
                </a:solidFill>
                <a:latin typeface="Arial"/>
                <a:ea typeface="Arial"/>
                <a:cs typeface="Arial"/>
              </a:defRPr>
            </a:pPr>
            <a:r>
              <a:rPr sz="3600" b="1">
                <a:solidFill>
                  <a:srgbClr val="171717"/>
                </a:solidFill>
                <a:latin typeface="Arial"/>
                <a:ea typeface="Arial"/>
                <a:cs typeface="Arial"/>
              </a:rPr>
              <a:t>→</a:t>
            </a:r>
          </a:p>
        </p:txBody>
      </p:sp>
      <p:sp>
        <p:nvSpPr>
          <p:cNvPr id="6" name="Rectangle 5">
            <a:extLst>
              <a:ext uri="{FF2B5EF4-FFF2-40B4-BE49-F238E27FC236}">
                <a16:creationId xmlns:a16="http://schemas.microsoft.com/office/drawing/2014/main" id="{54C608B4-8FFB-4FBD-995F-644479DBE404}"/>
              </a:ext>
            </a:extLst>
          </p:cNvPr>
          <p:cNvSpPr>
            <a:spLocks noGrp="1"/>
          </p:cNvSpPr>
          <p:nvPr/>
        </p:nvSpPr>
        <p:spPr>
          <a:xfrm>
            <a:off x="4238625" y="1981200"/>
            <a:ext cx="4191000" cy="495490"/>
          </a:xfrm>
          <a:prstGeom prst="rect">
            <a:avLst/>
          </a:prstGeom>
          <a:noFill/>
          <a:ln w="0">
            <a:noFill/>
          </a:ln>
        </p:spPr>
        <p:txBody>
          <a:bodyPr wrap="none" lIns="0" tIns="0" rIns="0" bIns="0">
            <a:noAutofit/>
          </a:bodyPr>
          <a:lstStyle/>
          <a:p>
            <a:pPr>
              <a:defRPr sz="2925" b="1">
                <a:solidFill>
                  <a:srgbClr val="171717"/>
                </a:solidFill>
                <a:latin typeface="Arial"/>
                <a:ea typeface="Arial"/>
                <a:cs typeface="Arial"/>
              </a:defRPr>
            </a:pPr>
            <a:r>
              <a:rPr sz="2925" b="1">
                <a:solidFill>
                  <a:srgbClr val="171717"/>
                </a:solidFill>
                <a:latin typeface="Arial"/>
                <a:ea typeface="Arial"/>
                <a:cs typeface="Arial"/>
              </a:rPr>
              <a:t>Snapshot at 0 s</a:t>
            </a:r>
          </a:p>
        </p:txBody>
      </p:sp>
      <p:sp>
        <p:nvSpPr>
          <p:cNvPr id="7" name="Rectangle 6">
            <a:extLst>
              <a:ext uri="{FF2B5EF4-FFF2-40B4-BE49-F238E27FC236}">
                <a16:creationId xmlns:a16="http://schemas.microsoft.com/office/drawing/2014/main" id="{DC959BFE-B1DC-4DA8-997B-F5D0932341DC}"/>
              </a:ext>
            </a:extLst>
          </p:cNvPr>
          <p:cNvSpPr>
            <a:spLocks noGrp="1"/>
          </p:cNvSpPr>
          <p:nvPr/>
        </p:nvSpPr>
        <p:spPr>
          <a:xfrm>
            <a:off x="4238625" y="2628900"/>
            <a:ext cx="4191000" cy="360617"/>
          </a:xfrm>
          <a:prstGeom prst="rect">
            <a:avLst/>
          </a:prstGeom>
          <a:noFill/>
          <a:ln w="0">
            <a:noFill/>
          </a:ln>
        </p:spPr>
        <p:txBody>
          <a:bodyPr wrap="none" lIns="0" tIns="0" rIns="0" bIns="0">
            <a:noAutofit/>
          </a:bodyPr>
          <a:lstStyle/>
          <a:p>
            <a:pPr>
              <a:defRPr sz="2025" b="0">
                <a:solidFill>
                  <a:srgbClr val="1A1A1A"/>
                </a:solidFill>
                <a:latin typeface="Arial"/>
                <a:ea typeface="Arial"/>
                <a:cs typeface="Arial"/>
              </a:defRPr>
            </a:pPr>
            <a:r>
              <a:rPr sz="2025" b="0">
                <a:solidFill>
                  <a:srgbClr val="1A1A1A"/>
                </a:solidFill>
                <a:latin typeface="Arial"/>
                <a:ea typeface="Arial"/>
                <a:cs typeface="Arial"/>
              </a:rPr>
              <a:t>The query keeps this view</a:t>
            </a:r>
          </a:p>
        </p:txBody>
      </p:sp>
      <p:sp>
        <p:nvSpPr>
          <p:cNvPr id="8" name="Rectangle 7">
            <a:extLst>
              <a:ext uri="{FF2B5EF4-FFF2-40B4-BE49-F238E27FC236}">
                <a16:creationId xmlns:a16="http://schemas.microsoft.com/office/drawing/2014/main" id="{FB637F29-D97C-4870-A2B5-3C8BB05FF202}"/>
              </a:ext>
            </a:extLst>
          </p:cNvPr>
          <p:cNvSpPr>
            <a:spLocks noGrp="1"/>
          </p:cNvSpPr>
          <p:nvPr/>
        </p:nvSpPr>
        <p:spPr>
          <a:xfrm>
            <a:off x="4238625" y="3124200"/>
            <a:ext cx="4191000" cy="360617"/>
          </a:xfrm>
          <a:prstGeom prst="rect">
            <a:avLst/>
          </a:prstGeom>
          <a:noFill/>
          <a:ln w="0">
            <a:noFill/>
          </a:ln>
        </p:spPr>
        <p:txBody>
          <a:bodyPr wrap="none" lIns="0" tIns="0" rIns="0" bIns="0">
            <a:noAutofit/>
          </a:bodyPr>
          <a:lstStyle/>
          <a:p>
            <a:pPr>
              <a:defRPr sz="2025" b="0">
                <a:solidFill>
                  <a:srgbClr val="1A1A1A"/>
                </a:solidFill>
                <a:latin typeface="Arial"/>
                <a:ea typeface="Arial"/>
                <a:cs typeface="Arial"/>
              </a:defRPr>
            </a:pPr>
            <a:r>
              <a:rPr sz="2025" b="0">
                <a:solidFill>
                  <a:srgbClr val="1A1A1A"/>
                </a:solidFill>
                <a:latin typeface="Arial"/>
                <a:ea typeface="Arial"/>
                <a:cs typeface="Arial"/>
              </a:rPr>
              <a:t>New commits stay outside it</a:t>
            </a:r>
          </a:p>
        </p:txBody>
      </p:sp>
      <p:sp>
        <p:nvSpPr>
          <p:cNvPr id="9" name="Rectangle 8">
            <a:extLst>
              <a:ext uri="{FF2B5EF4-FFF2-40B4-BE49-F238E27FC236}">
                <a16:creationId xmlns:a16="http://schemas.microsoft.com/office/drawing/2014/main" id="{A19B5618-5EFA-4BBF-85D7-0EE18FDE60E7}"/>
              </a:ext>
            </a:extLst>
          </p:cNvPr>
          <p:cNvSpPr>
            <a:spLocks noGrp="1"/>
          </p:cNvSpPr>
          <p:nvPr/>
        </p:nvSpPr>
        <p:spPr>
          <a:xfrm>
            <a:off x="457200" y="4619625"/>
            <a:ext cx="8229600" cy="248222"/>
          </a:xfrm>
          <a:prstGeom prst="rect">
            <a:avLst/>
          </a:prstGeom>
          <a:noFill/>
          <a:ln w="0">
            <a:noFill/>
          </a:ln>
        </p:spPr>
        <p:txBody>
          <a:bodyPr wrap="square" lIns="0" tIns="0" rIns="0" bIns="0">
            <a:noAutofit/>
          </a:bodyPr>
          <a:lstStyle/>
          <a:p>
            <a:pPr>
              <a:buNone/>
              <a:defRPr sz="1275" b="0">
                <a:solidFill>
                  <a:srgbClr val="706E6C"/>
                </a:solidFill>
                <a:latin typeface="Arial"/>
                <a:ea typeface="Arial"/>
                <a:cs typeface="Arial"/>
              </a:defRPr>
            </a:pPr>
            <a:r>
              <a:rPr sz="1275" b="0">
                <a:solidFill>
                  <a:srgbClr val="706E6C"/>
                </a:solidFill>
                <a:latin typeface="Arial"/>
                <a:ea typeface="Arial"/>
                <a:cs typeface="Arial"/>
              </a:rPr>
              <a:t>READ COMMITTED too: an ordinary SELECT keeps its statement snapshot while writes continue</a:t>
            </a:r>
          </a:p>
        </p:txBody>
      </p:sp>
      <p:sp>
        <p:nvSpPr>
          <p:cNvPr id="9533"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35</a:t>
            </a:r>
          </a:p>
        </p:txBody>
      </p:sp>
    </p:spTree>
    <p:extLst>
      <p:ext uri="{BB962C8B-B14F-4D97-AF65-F5344CB8AC3E}">
        <p14:creationId xmlns:p14="http://schemas.microsoft.com/office/powerpoint/2010/main" val="6738393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p:blipFill>
        <p:spPr>
          <a:xfrm>
            <a:off x="457200" y="239275"/>
            <a:ext cx="952500" cy="216776"/>
          </a:xfrm>
          <a:prstGeom prst="rect">
            <a:avLst/>
          </a:prstGeom>
        </p:spPr>
      </p:pic>
      <p:sp>
        <p:nvSpPr>
          <p:cNvPr id="2" name="Rectangle 1">
            <a:extLst>
              <a:ext uri="{FF2B5EF4-FFF2-40B4-BE49-F238E27FC236}">
                <a16:creationId xmlns:a16="http://schemas.microsoft.com/office/drawing/2014/main" id="{B7B1964E-8264-4272-A1A2-11D7B155E8BB}"/>
              </a:ext>
            </a:extLst>
          </p:cNvPr>
          <p:cNvSpPr>
            <a:spLocks noGrp="1"/>
          </p:cNvSpPr>
          <p:nvPr/>
        </p:nvSpPr>
        <p:spPr>
          <a:xfrm>
            <a:off x="457200" y="809625"/>
            <a:ext cx="8286750" cy="461772"/>
          </a:xfrm>
          <a:prstGeom prst="rect">
            <a:avLst/>
          </a:prstGeom>
          <a:noFill/>
          <a:ln w="0">
            <a:noFill/>
          </a:ln>
        </p:spPr>
        <p:txBody>
          <a:bodyPr wrap="none" lIns="0" tIns="0" rIns="0" bIns="0">
            <a:noAutofit/>
          </a:bodyPr>
          <a:lstStyle/>
          <a:p>
            <a:pPr>
              <a:defRPr sz="2700" b="1">
                <a:solidFill>
                  <a:srgbClr val="1A1A1A"/>
                </a:solidFill>
                <a:latin typeface="Arial"/>
                <a:ea typeface="Arial"/>
                <a:cs typeface="Arial"/>
              </a:defRPr>
            </a:pPr>
            <a:r>
              <a:rPr sz="2700" b="1">
                <a:solidFill>
                  <a:srgbClr val="1A1A1A"/>
                </a:solidFill>
                <a:latin typeface="Arial"/>
                <a:ea typeface="Arial"/>
                <a:cs typeface="Arial"/>
              </a:rPr>
              <a:t>10 seconds. 30 seconds. One minute.</a:t>
            </a:r>
          </a:p>
        </p:txBody>
      </p:sp>
      <p:sp>
        <p:nvSpPr>
          <p:cNvPr id="3" name="Rectangle 2">
            <a:extLst>
              <a:ext uri="{FF2B5EF4-FFF2-40B4-BE49-F238E27FC236}">
                <a16:creationId xmlns:a16="http://schemas.microsoft.com/office/drawing/2014/main" id="{3C498CA7-A5BF-4580-AFF2-B4743AA89072}"/>
              </a:ext>
            </a:extLst>
          </p:cNvPr>
          <p:cNvSpPr>
            <a:spLocks noGrp="1"/>
          </p:cNvSpPr>
          <p:nvPr/>
        </p:nvSpPr>
        <p:spPr>
          <a:xfrm>
            <a:off x="457200" y="1914525"/>
            <a:ext cx="1952625" cy="394335"/>
          </a:xfrm>
          <a:prstGeom prst="rect">
            <a:avLst/>
          </a:prstGeom>
          <a:noFill/>
          <a:ln w="0">
            <a:noFill/>
          </a:ln>
        </p:spPr>
        <p:txBody>
          <a:bodyPr wrap="none" lIns="0" tIns="0" rIns="0" bIns="0">
            <a:noAutofit/>
          </a:bodyPr>
          <a:lstStyle/>
          <a:p>
            <a:pPr>
              <a:defRPr sz="2250" b="1">
                <a:solidFill>
                  <a:srgbClr val="171717"/>
                </a:solidFill>
                <a:latin typeface="Arial"/>
                <a:ea typeface="Arial"/>
                <a:cs typeface="Arial"/>
              </a:defRPr>
            </a:pPr>
            <a:r>
              <a:rPr sz="2250" b="1">
                <a:solidFill>
                  <a:srgbClr val="171717"/>
                </a:solidFill>
                <a:latin typeface="Arial"/>
                <a:ea typeface="Arial"/>
                <a:cs typeface="Arial"/>
              </a:rPr>
              <a:t>10 seconds</a:t>
            </a:r>
          </a:p>
        </p:txBody>
      </p:sp>
      <p:sp>
        <p:nvSpPr>
          <p:cNvPr id="4" name="Rectangle 3">
            <a:extLst>
              <a:ext uri="{FF2B5EF4-FFF2-40B4-BE49-F238E27FC236}">
                <a16:creationId xmlns:a16="http://schemas.microsoft.com/office/drawing/2014/main" id="{EE38F5D1-D213-46B7-95A8-0CF431CD8756}"/>
              </a:ext>
            </a:extLst>
          </p:cNvPr>
          <p:cNvSpPr>
            <a:spLocks noGrp="1"/>
          </p:cNvSpPr>
          <p:nvPr/>
        </p:nvSpPr>
        <p:spPr>
          <a:xfrm>
            <a:off x="2714625" y="2114550"/>
            <a:ext cx="762000" cy="28575"/>
          </a:xfrm>
          <a:prstGeom prst="rect">
            <a:avLst/>
          </a:prstGeom>
          <a:solidFill>
            <a:srgbClr val="171717"/>
          </a:solidFill>
          <a:ln w="0">
            <a:noFill/>
          </a:ln>
        </p:spPr>
        <p:txBody>
          <a:bodyPr/>
          <a:lstStyle/>
          <a:p>
            <a:endParaRPr lang="pt-BR"/>
          </a:p>
        </p:txBody>
      </p:sp>
      <p:sp>
        <p:nvSpPr>
          <p:cNvPr id="5" name="Rectangle 4">
            <a:extLst>
              <a:ext uri="{FF2B5EF4-FFF2-40B4-BE49-F238E27FC236}">
                <a16:creationId xmlns:a16="http://schemas.microsoft.com/office/drawing/2014/main" id="{E81792CC-F18D-48EF-BC79-A85D377ADA25}"/>
              </a:ext>
            </a:extLst>
          </p:cNvPr>
          <p:cNvSpPr>
            <a:spLocks noGrp="1"/>
          </p:cNvSpPr>
          <p:nvPr/>
        </p:nvSpPr>
        <p:spPr>
          <a:xfrm>
            <a:off x="7524750" y="1914525"/>
            <a:ext cx="1333500" cy="394335"/>
          </a:xfrm>
          <a:prstGeom prst="rect">
            <a:avLst/>
          </a:prstGeom>
          <a:noFill/>
          <a:ln w="0">
            <a:noFill/>
          </a:ln>
        </p:spPr>
        <p:txBody>
          <a:bodyPr wrap="none" lIns="0" tIns="0" rIns="0" bIns="0">
            <a:noAutofit/>
          </a:bodyPr>
          <a:lstStyle/>
          <a:p>
            <a:pPr>
              <a:defRPr sz="2250" b="1">
                <a:solidFill>
                  <a:srgbClr val="171717"/>
                </a:solidFill>
                <a:latin typeface="Arial"/>
                <a:ea typeface="Arial"/>
                <a:cs typeface="Arial"/>
              </a:defRPr>
            </a:pPr>
            <a:r>
              <a:rPr sz="2250" b="1">
                <a:solidFill>
                  <a:srgbClr val="171717"/>
                </a:solidFill>
                <a:latin typeface="Arial"/>
                <a:ea typeface="Arial"/>
                <a:cs typeface="Arial"/>
              </a:rPr>
              <a:t>10 s old</a:t>
            </a:r>
          </a:p>
        </p:txBody>
      </p:sp>
      <p:sp>
        <p:nvSpPr>
          <p:cNvPr id="6" name="Rectangle 5">
            <a:extLst>
              <a:ext uri="{FF2B5EF4-FFF2-40B4-BE49-F238E27FC236}">
                <a16:creationId xmlns:a16="http://schemas.microsoft.com/office/drawing/2014/main" id="{51A97975-4FDD-4089-91EC-AFD105A4C3B9}"/>
              </a:ext>
            </a:extLst>
          </p:cNvPr>
          <p:cNvSpPr>
            <a:spLocks noGrp="1"/>
          </p:cNvSpPr>
          <p:nvPr/>
        </p:nvSpPr>
        <p:spPr>
          <a:xfrm>
            <a:off x="457200" y="2705100"/>
            <a:ext cx="1952625" cy="394335"/>
          </a:xfrm>
          <a:prstGeom prst="rect">
            <a:avLst/>
          </a:prstGeom>
          <a:noFill/>
          <a:ln w="0">
            <a:noFill/>
          </a:ln>
        </p:spPr>
        <p:txBody>
          <a:bodyPr wrap="none" lIns="0" tIns="0" rIns="0" bIns="0">
            <a:noAutofit/>
          </a:bodyPr>
          <a:lstStyle/>
          <a:p>
            <a:pPr>
              <a:defRPr sz="2250" b="1">
                <a:solidFill>
                  <a:srgbClr val="171717"/>
                </a:solidFill>
                <a:latin typeface="Arial"/>
                <a:ea typeface="Arial"/>
                <a:cs typeface="Arial"/>
              </a:defRPr>
            </a:pPr>
            <a:r>
              <a:rPr sz="2250" b="1">
                <a:solidFill>
                  <a:srgbClr val="171717"/>
                </a:solidFill>
                <a:latin typeface="Arial"/>
                <a:ea typeface="Arial"/>
                <a:cs typeface="Arial"/>
              </a:rPr>
              <a:t>30 seconds</a:t>
            </a:r>
          </a:p>
        </p:txBody>
      </p:sp>
      <p:sp>
        <p:nvSpPr>
          <p:cNvPr id="7" name="Rectangle 6">
            <a:extLst>
              <a:ext uri="{FF2B5EF4-FFF2-40B4-BE49-F238E27FC236}">
                <a16:creationId xmlns:a16="http://schemas.microsoft.com/office/drawing/2014/main" id="{9221FECD-BE87-45D1-9426-3E560391D9B7}"/>
              </a:ext>
            </a:extLst>
          </p:cNvPr>
          <p:cNvSpPr>
            <a:spLocks noGrp="1"/>
          </p:cNvSpPr>
          <p:nvPr/>
        </p:nvSpPr>
        <p:spPr>
          <a:xfrm>
            <a:off x="2714625" y="2905125"/>
            <a:ext cx="2286000" cy="28575"/>
          </a:xfrm>
          <a:prstGeom prst="rect">
            <a:avLst/>
          </a:prstGeom>
          <a:solidFill>
            <a:srgbClr val="171717"/>
          </a:solidFill>
          <a:ln w="0">
            <a:noFill/>
          </a:ln>
        </p:spPr>
        <p:txBody>
          <a:bodyPr/>
          <a:lstStyle/>
          <a:p>
            <a:endParaRPr lang="pt-BR"/>
          </a:p>
        </p:txBody>
      </p:sp>
      <p:sp>
        <p:nvSpPr>
          <p:cNvPr id="8" name="Rectangle 7">
            <a:extLst>
              <a:ext uri="{FF2B5EF4-FFF2-40B4-BE49-F238E27FC236}">
                <a16:creationId xmlns:a16="http://schemas.microsoft.com/office/drawing/2014/main" id="{82626305-858C-48A5-BB8D-3E2D7B4BC68D}"/>
              </a:ext>
            </a:extLst>
          </p:cNvPr>
          <p:cNvSpPr>
            <a:spLocks noGrp="1"/>
          </p:cNvSpPr>
          <p:nvPr/>
        </p:nvSpPr>
        <p:spPr>
          <a:xfrm>
            <a:off x="7524750" y="2705100"/>
            <a:ext cx="1333500" cy="394335"/>
          </a:xfrm>
          <a:prstGeom prst="rect">
            <a:avLst/>
          </a:prstGeom>
          <a:noFill/>
          <a:ln w="0">
            <a:noFill/>
          </a:ln>
        </p:spPr>
        <p:txBody>
          <a:bodyPr wrap="none" lIns="0" tIns="0" rIns="0" bIns="0">
            <a:noAutofit/>
          </a:bodyPr>
          <a:lstStyle/>
          <a:p>
            <a:pPr>
              <a:defRPr sz="2250" b="1">
                <a:solidFill>
                  <a:srgbClr val="171717"/>
                </a:solidFill>
                <a:latin typeface="Arial"/>
                <a:ea typeface="Arial"/>
                <a:cs typeface="Arial"/>
              </a:defRPr>
            </a:pPr>
            <a:r>
              <a:rPr sz="2250" b="1">
                <a:solidFill>
                  <a:srgbClr val="171717"/>
                </a:solidFill>
                <a:latin typeface="Arial"/>
                <a:ea typeface="Arial"/>
                <a:cs typeface="Arial"/>
              </a:rPr>
              <a:t>30 s old</a:t>
            </a:r>
          </a:p>
        </p:txBody>
      </p:sp>
      <p:sp>
        <p:nvSpPr>
          <p:cNvPr id="9" name="Rectangle 8">
            <a:extLst>
              <a:ext uri="{FF2B5EF4-FFF2-40B4-BE49-F238E27FC236}">
                <a16:creationId xmlns:a16="http://schemas.microsoft.com/office/drawing/2014/main" id="{0854D8DC-2332-4285-8CEE-71C4A7837E04}"/>
              </a:ext>
            </a:extLst>
          </p:cNvPr>
          <p:cNvSpPr>
            <a:spLocks noGrp="1"/>
          </p:cNvSpPr>
          <p:nvPr/>
        </p:nvSpPr>
        <p:spPr>
          <a:xfrm>
            <a:off x="457200" y="3495675"/>
            <a:ext cx="1952625" cy="394335"/>
          </a:xfrm>
          <a:prstGeom prst="rect">
            <a:avLst/>
          </a:prstGeom>
          <a:noFill/>
          <a:ln w="0">
            <a:noFill/>
          </a:ln>
        </p:spPr>
        <p:txBody>
          <a:bodyPr wrap="none" lIns="0" tIns="0" rIns="0" bIns="0">
            <a:noAutofit/>
          </a:bodyPr>
          <a:lstStyle/>
          <a:p>
            <a:pPr>
              <a:defRPr sz="2250" b="1">
                <a:solidFill>
                  <a:srgbClr val="171717"/>
                </a:solidFill>
                <a:latin typeface="Arial"/>
                <a:ea typeface="Arial"/>
                <a:cs typeface="Arial"/>
              </a:defRPr>
            </a:pPr>
            <a:r>
              <a:rPr sz="2250" b="1">
                <a:solidFill>
                  <a:srgbClr val="171717"/>
                </a:solidFill>
                <a:latin typeface="Arial"/>
                <a:ea typeface="Arial"/>
                <a:cs typeface="Arial"/>
              </a:rPr>
              <a:t>1 minute</a:t>
            </a:r>
          </a:p>
        </p:txBody>
      </p:sp>
      <p:sp>
        <p:nvSpPr>
          <p:cNvPr id="10" name="Rectangle 9">
            <a:extLst>
              <a:ext uri="{FF2B5EF4-FFF2-40B4-BE49-F238E27FC236}">
                <a16:creationId xmlns:a16="http://schemas.microsoft.com/office/drawing/2014/main" id="{34BF9EA4-7535-4A90-8108-04384697DBA3}"/>
              </a:ext>
            </a:extLst>
          </p:cNvPr>
          <p:cNvSpPr>
            <a:spLocks noGrp="1"/>
          </p:cNvSpPr>
          <p:nvPr/>
        </p:nvSpPr>
        <p:spPr>
          <a:xfrm>
            <a:off x="2714625" y="3695700"/>
            <a:ext cx="4572000" cy="28575"/>
          </a:xfrm>
          <a:prstGeom prst="rect">
            <a:avLst/>
          </a:prstGeom>
          <a:solidFill>
            <a:srgbClr val="171717"/>
          </a:solidFill>
          <a:ln w="0">
            <a:noFill/>
          </a:ln>
        </p:spPr>
        <p:txBody>
          <a:bodyPr/>
          <a:lstStyle/>
          <a:p>
            <a:endParaRPr lang="pt-BR"/>
          </a:p>
        </p:txBody>
      </p:sp>
      <p:sp>
        <p:nvSpPr>
          <p:cNvPr id="11" name="Rectangle 10">
            <a:extLst>
              <a:ext uri="{FF2B5EF4-FFF2-40B4-BE49-F238E27FC236}">
                <a16:creationId xmlns:a16="http://schemas.microsoft.com/office/drawing/2014/main" id="{F3B1D7E7-91B0-4BBC-A022-084DC80024F4}"/>
              </a:ext>
            </a:extLst>
          </p:cNvPr>
          <p:cNvSpPr>
            <a:spLocks noGrp="1"/>
          </p:cNvSpPr>
          <p:nvPr/>
        </p:nvSpPr>
        <p:spPr>
          <a:xfrm>
            <a:off x="7524750" y="3495675"/>
            <a:ext cx="1333500" cy="394335"/>
          </a:xfrm>
          <a:prstGeom prst="rect">
            <a:avLst/>
          </a:prstGeom>
          <a:noFill/>
          <a:ln w="0">
            <a:noFill/>
          </a:ln>
        </p:spPr>
        <p:txBody>
          <a:bodyPr wrap="none" lIns="0" tIns="0" rIns="0" bIns="0">
            <a:noAutofit/>
          </a:bodyPr>
          <a:lstStyle/>
          <a:p>
            <a:pPr>
              <a:defRPr sz="2250" b="1">
                <a:solidFill>
                  <a:srgbClr val="171717"/>
                </a:solidFill>
                <a:latin typeface="Arial"/>
                <a:ea typeface="Arial"/>
                <a:cs typeface="Arial"/>
              </a:defRPr>
            </a:pPr>
            <a:r>
              <a:rPr sz="2250" b="1">
                <a:solidFill>
                  <a:srgbClr val="171717"/>
                </a:solidFill>
                <a:latin typeface="Arial"/>
                <a:ea typeface="Arial"/>
                <a:cs typeface="Arial"/>
              </a:rPr>
              <a:t>60 s old</a:t>
            </a:r>
          </a:p>
        </p:txBody>
      </p:sp>
      <p:sp>
        <p:nvSpPr>
          <p:cNvPr id="12" name="Rectangle 11">
            <a:extLst>
              <a:ext uri="{FF2B5EF4-FFF2-40B4-BE49-F238E27FC236}">
                <a16:creationId xmlns:a16="http://schemas.microsoft.com/office/drawing/2014/main" id="{A82CCF65-A2A0-49AC-AD47-F9F19798F276}"/>
              </a:ext>
            </a:extLst>
          </p:cNvPr>
          <p:cNvSpPr>
            <a:spLocks noGrp="1"/>
          </p:cNvSpPr>
          <p:nvPr/>
        </p:nvSpPr>
        <p:spPr>
          <a:xfrm>
            <a:off x="2667000" y="1438275"/>
            <a:ext cx="6096000" cy="304419"/>
          </a:xfrm>
          <a:prstGeom prst="rect">
            <a:avLst/>
          </a:prstGeom>
          <a:noFill/>
          <a:ln w="0">
            <a:noFill/>
          </a:ln>
        </p:spPr>
        <p:txBody>
          <a:bodyPr wrap="none" lIns="0" tIns="0" rIns="0" bIns="0">
            <a:noAutofit/>
          </a:bodyPr>
          <a:lstStyle/>
          <a:p>
            <a:pPr>
              <a:defRPr sz="1650" b="0">
                <a:solidFill>
                  <a:srgbClr val="706E6C"/>
                </a:solidFill>
                <a:latin typeface="Arial"/>
                <a:ea typeface="Arial"/>
                <a:cs typeface="Arial"/>
              </a:defRPr>
            </a:pPr>
            <a:r>
              <a:rPr sz="1650" b="0">
                <a:solidFill>
                  <a:srgbClr val="706E6C"/>
                </a:solidFill>
                <a:latin typeface="Arial"/>
                <a:ea typeface="Arial"/>
                <a:cs typeface="Arial"/>
              </a:rPr>
              <a:t>Snapshot at 0 s → answer arrives later</a:t>
            </a:r>
          </a:p>
        </p:txBody>
      </p:sp>
      <p:sp>
        <p:nvSpPr>
          <p:cNvPr id="13" name="Rectangle 12">
            <a:extLst>
              <a:ext uri="{FF2B5EF4-FFF2-40B4-BE49-F238E27FC236}">
                <a16:creationId xmlns:a16="http://schemas.microsoft.com/office/drawing/2014/main" id="{5A8EED76-AC70-4F4C-9916-9BD1AC31A348}"/>
              </a:ext>
            </a:extLst>
          </p:cNvPr>
          <p:cNvSpPr>
            <a:spLocks noGrp="1"/>
          </p:cNvSpPr>
          <p:nvPr/>
        </p:nvSpPr>
        <p:spPr>
          <a:xfrm>
            <a:off x="457200" y="4619625"/>
            <a:ext cx="8229600" cy="248222"/>
          </a:xfrm>
          <a:prstGeom prst="rect">
            <a:avLst/>
          </a:prstGeom>
          <a:noFill/>
          <a:ln w="0">
            <a:noFill/>
          </a:ln>
        </p:spPr>
        <p:txBody>
          <a:bodyPr wrap="none" lIns="0" tIns="0" rIns="0" bIns="0">
            <a:noAutofit/>
          </a:bodyPr>
          <a:lstStyle/>
          <a:p>
            <a:pPr>
              <a:defRPr sz="1275" b="0">
                <a:solidFill>
                  <a:srgbClr val="706E6C"/>
                </a:solidFill>
                <a:latin typeface="Arial"/>
                <a:ea typeface="Arial"/>
                <a:cs typeface="Arial"/>
              </a:defRPr>
            </a:pPr>
            <a:r>
              <a:rPr sz="1275" b="0">
                <a:solidFill>
                  <a:srgbClr val="706E6C"/>
                </a:solidFill>
                <a:latin typeface="Arial"/>
                <a:ea typeface="Arial"/>
                <a:cs typeface="Arial"/>
              </a:rPr>
              <a:t>Illustration: age of the snapshot at response arrival, while new commits keep happening.</a:t>
            </a:r>
          </a:p>
        </p:txBody>
      </p:sp>
      <p:sp>
        <p:nvSpPr>
          <p:cNvPr id="9534"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36</a:t>
            </a:r>
          </a:p>
        </p:txBody>
      </p:sp>
    </p:spTree>
    <p:extLst>
      <p:ext uri="{BB962C8B-B14F-4D97-AF65-F5344CB8AC3E}">
        <p14:creationId xmlns:p14="http://schemas.microsoft.com/office/powerpoint/2010/main" val="3514419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p:blipFill>
        <p:spPr>
          <a:xfrm>
            <a:off x="457200" y="239275"/>
            <a:ext cx="952500" cy="216776"/>
          </a:xfrm>
          <a:prstGeom prst="rect">
            <a:avLst/>
          </a:prstGeom>
        </p:spPr>
      </p:pic>
      <p:sp>
        <p:nvSpPr>
          <p:cNvPr id="2" name="Rectangle 1">
            <a:extLst>
              <a:ext uri="{FF2B5EF4-FFF2-40B4-BE49-F238E27FC236}">
                <a16:creationId xmlns:a16="http://schemas.microsoft.com/office/drawing/2014/main" id="{491A563C-28B1-4E08-9776-BA685B8E354B}"/>
              </a:ext>
            </a:extLst>
          </p:cNvPr>
          <p:cNvSpPr>
            <a:spLocks noGrp="1"/>
          </p:cNvSpPr>
          <p:nvPr/>
        </p:nvSpPr>
        <p:spPr>
          <a:xfrm>
            <a:off x="457200" y="1476375"/>
            <a:ext cx="8191500" cy="326898"/>
          </a:xfrm>
          <a:prstGeom prst="rect">
            <a:avLst/>
          </a:prstGeom>
          <a:noFill/>
          <a:ln w="0">
            <a:noFill/>
          </a:ln>
        </p:spPr>
        <p:txBody>
          <a:bodyPr wrap="none" lIns="0" tIns="0" rIns="0" bIns="0">
            <a:noAutofit/>
          </a:bodyPr>
          <a:lstStyle/>
          <a:p>
            <a:pPr>
              <a:defRPr sz="1800" b="0">
                <a:solidFill>
                  <a:srgbClr val="FFFFFF"/>
                </a:solidFill>
                <a:latin typeface="Arial"/>
                <a:ea typeface="Arial"/>
                <a:cs typeface="Arial"/>
              </a:defRPr>
            </a:pPr>
            <a:r>
              <a:rPr sz="1800" b="0">
                <a:solidFill>
                  <a:srgbClr val="FFFFFF"/>
                </a:solidFill>
                <a:latin typeface="Arial"/>
                <a:ea typeface="Arial"/>
                <a:cs typeface="Arial"/>
              </a:rPr>
              <a:t>READYSET / DEEP CACHE</a:t>
            </a:r>
          </a:p>
        </p:txBody>
      </p:sp>
      <p:sp>
        <p:nvSpPr>
          <p:cNvPr id="3" name="Rectangle 2">
            <a:extLst>
              <a:ext uri="{FF2B5EF4-FFF2-40B4-BE49-F238E27FC236}">
                <a16:creationId xmlns:a16="http://schemas.microsoft.com/office/drawing/2014/main" id="{866A8C1E-FCF4-49C9-A02E-A085889B5DEC}"/>
              </a:ext>
            </a:extLst>
          </p:cNvPr>
          <p:cNvSpPr>
            <a:spLocks noGrp="1"/>
          </p:cNvSpPr>
          <p:nvPr/>
        </p:nvSpPr>
        <p:spPr>
          <a:xfrm>
            <a:off x="457200" y="2124075"/>
            <a:ext cx="8191500" cy="607886"/>
          </a:xfrm>
          <a:prstGeom prst="rect">
            <a:avLst/>
          </a:prstGeom>
          <a:noFill/>
          <a:ln w="0">
            <a:noFill/>
          </a:ln>
        </p:spPr>
        <p:txBody>
          <a:bodyPr wrap="none" lIns="0" tIns="0" rIns="0" bIns="0">
            <a:noAutofit/>
          </a:bodyPr>
          <a:lstStyle/>
          <a:p>
            <a:pPr>
              <a:defRPr sz="3675" b="1">
                <a:solidFill>
                  <a:srgbClr val="FFFFFF"/>
                </a:solidFill>
                <a:latin typeface="Arial"/>
                <a:ea typeface="Arial"/>
                <a:cs typeface="Arial"/>
              </a:defRPr>
            </a:pPr>
            <a:r>
              <a:rPr sz="3675" b="1">
                <a:solidFill>
                  <a:srgbClr val="FFFFFF"/>
                </a:solidFill>
                <a:latin typeface="Arial"/>
                <a:ea typeface="Arial"/>
                <a:cs typeface="Arial"/>
              </a:rPr>
              <a:t>Keep the answer updated.</a:t>
            </a:r>
          </a:p>
        </p:txBody>
      </p:sp>
      <p:sp>
        <p:nvSpPr>
          <p:cNvPr id="4" name="Rectangle 3">
            <a:extLst>
              <a:ext uri="{FF2B5EF4-FFF2-40B4-BE49-F238E27FC236}">
                <a16:creationId xmlns:a16="http://schemas.microsoft.com/office/drawing/2014/main" id="{1FBF755F-1C34-4DC3-9D87-CD204B3339D1}"/>
              </a:ext>
            </a:extLst>
          </p:cNvPr>
          <p:cNvSpPr>
            <a:spLocks noGrp="1"/>
          </p:cNvSpPr>
          <p:nvPr/>
        </p:nvSpPr>
        <p:spPr>
          <a:xfrm>
            <a:off x="457200" y="2857500"/>
            <a:ext cx="8191500" cy="607886"/>
          </a:xfrm>
          <a:prstGeom prst="rect">
            <a:avLst/>
          </a:prstGeom>
          <a:noFill/>
          <a:ln w="0">
            <a:noFill/>
          </a:ln>
        </p:spPr>
        <p:txBody>
          <a:bodyPr wrap="none" lIns="0" tIns="0" rIns="0" bIns="0">
            <a:noAutofit/>
          </a:bodyPr>
          <a:lstStyle/>
          <a:p>
            <a:pPr>
              <a:defRPr sz="3675" b="1">
                <a:solidFill>
                  <a:srgbClr val="FFFFFF"/>
                </a:solidFill>
                <a:latin typeface="Arial"/>
                <a:ea typeface="Arial"/>
                <a:cs typeface="Arial"/>
              </a:defRPr>
            </a:pPr>
            <a:r>
              <a:rPr sz="3675" b="1">
                <a:solidFill>
                  <a:srgbClr val="FFFFFF"/>
                </a:solidFill>
                <a:latin typeface="Arial"/>
                <a:ea typeface="Arial"/>
                <a:cs typeface="Arial"/>
              </a:rPr>
              <a:t>Read it quickly.</a:t>
            </a:r>
          </a:p>
        </p:txBody>
      </p:sp>
      <p:sp>
        <p:nvSpPr>
          <p:cNvPr id="5" name="Rectangle 4">
            <a:extLst>
              <a:ext uri="{FF2B5EF4-FFF2-40B4-BE49-F238E27FC236}">
                <a16:creationId xmlns:a16="http://schemas.microsoft.com/office/drawing/2014/main" id="{AC1465EE-B233-4403-92A6-5B6AE93E7549}"/>
              </a:ext>
            </a:extLst>
          </p:cNvPr>
          <p:cNvSpPr>
            <a:spLocks noGrp="1"/>
          </p:cNvSpPr>
          <p:nvPr/>
        </p:nvSpPr>
        <p:spPr>
          <a:xfrm>
            <a:off x="457200" y="3981450"/>
            <a:ext cx="8191500" cy="360617"/>
          </a:xfrm>
          <a:prstGeom prst="rect">
            <a:avLst/>
          </a:prstGeom>
          <a:noFill/>
          <a:ln w="0">
            <a:noFill/>
          </a:ln>
        </p:spPr>
        <p:txBody>
          <a:bodyPr wrap="none" lIns="0" tIns="0" rIns="0" bIns="0">
            <a:noAutofit/>
          </a:bodyPr>
          <a:lstStyle/>
          <a:p>
            <a:pPr>
              <a:defRPr sz="2025" b="0">
                <a:solidFill>
                  <a:srgbClr val="FFFFFF"/>
                </a:solidFill>
                <a:latin typeface="Arial"/>
                <a:ea typeface="Arial"/>
                <a:cs typeface="Arial"/>
              </a:defRPr>
            </a:pPr>
            <a:r>
              <a:rPr sz="2025" b="0">
                <a:solidFill>
                  <a:srgbClr val="FFFFFF"/>
                </a:solidFill>
                <a:latin typeface="Arial"/>
                <a:ea typeface="Arial"/>
                <a:cs typeface="Arial"/>
              </a:rPr>
              <a:t>Source changes → maintained result → lookup</a:t>
            </a:r>
          </a:p>
        </p:txBody>
      </p:sp>
      <p:sp>
        <p:nvSpPr>
          <p:cNvPr id="9535"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37</a:t>
            </a:r>
          </a:p>
        </p:txBody>
      </p:sp>
    </p:spTree>
    <p:extLst>
      <p:ext uri="{BB962C8B-B14F-4D97-AF65-F5344CB8AC3E}">
        <p14:creationId xmlns:p14="http://schemas.microsoft.com/office/powerpoint/2010/main" val="10045268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p:blipFill>
        <p:spPr>
          <a:xfrm>
            <a:off x="457200" y="239275"/>
            <a:ext cx="952500" cy="216776"/>
          </a:xfrm>
          <a:prstGeom prst="rect">
            <a:avLst/>
          </a:prstGeom>
        </p:spPr>
      </p:pic>
      <p:sp>
        <p:nvSpPr>
          <p:cNvPr id="2" name="Rectangle 1">
            <a:extLst>
              <a:ext uri="{FF2B5EF4-FFF2-40B4-BE49-F238E27FC236}">
                <a16:creationId xmlns:a16="http://schemas.microsoft.com/office/drawing/2014/main" id="{7C74E3BB-B739-4622-9201-3A08F5B78056}"/>
              </a:ext>
            </a:extLst>
          </p:cNvPr>
          <p:cNvSpPr>
            <a:spLocks noGrp="1"/>
          </p:cNvSpPr>
          <p:nvPr/>
        </p:nvSpPr>
        <p:spPr>
          <a:xfrm>
            <a:off x="457200" y="809625"/>
            <a:ext cx="8286750" cy="461772"/>
          </a:xfrm>
          <a:prstGeom prst="rect">
            <a:avLst/>
          </a:prstGeom>
          <a:noFill/>
          <a:ln w="0">
            <a:noFill/>
          </a:ln>
        </p:spPr>
        <p:txBody>
          <a:bodyPr wrap="none" lIns="0" tIns="0" rIns="0" bIns="0">
            <a:noAutofit/>
          </a:bodyPr>
          <a:lstStyle/>
          <a:p>
            <a:pPr>
              <a:defRPr sz="2700" b="1">
                <a:solidFill>
                  <a:srgbClr val="1A1A1A"/>
                </a:solidFill>
                <a:latin typeface="Arial"/>
                <a:ea typeface="Arial"/>
                <a:cs typeface="Arial"/>
              </a:defRPr>
            </a:pPr>
            <a:r>
              <a:rPr sz="2700" b="1">
                <a:solidFill>
                  <a:srgbClr val="1A1A1A"/>
                </a:solidFill>
                <a:latin typeface="Arial"/>
                <a:ea typeface="Arial"/>
                <a:cs typeface="Arial"/>
              </a:rPr>
              <a:t>Watch the snapshot fall behind</a:t>
            </a:r>
          </a:p>
        </p:txBody>
      </p:sp>
      <p:pic>
        <p:nvPicPr>
          <p:cNvPr id="7" name="Source snapshot and deep-cache timeline" descr="Continuous PostgreSQL animation: freshness. Starts automatically; hover to pause or replay.">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381000" y="1428750"/>
            <a:ext cx="8382000" cy="3143250"/>
          </a:xfrm>
          <a:prstGeom prst="rect">
            <a:avLst/>
          </a:prstGeom>
        </p:spPr>
      </p:pic>
      <p:sp>
        <p:nvSpPr>
          <p:cNvPr id="4" name="Rectangle 3">
            <a:extLst>
              <a:ext uri="{FF2B5EF4-FFF2-40B4-BE49-F238E27FC236}">
                <a16:creationId xmlns:a16="http://schemas.microsoft.com/office/drawing/2014/main" id="{14A936D3-00C3-4EFD-A4B1-7E7DB53BCA65}"/>
              </a:ext>
            </a:extLst>
          </p:cNvPr>
          <p:cNvSpPr>
            <a:spLocks noGrp="1"/>
          </p:cNvSpPr>
          <p:nvPr/>
        </p:nvSpPr>
        <p:spPr>
          <a:xfrm>
            <a:off x="457200" y="4791075"/>
            <a:ext cx="8229600" cy="248222"/>
          </a:xfrm>
          <a:prstGeom prst="rect">
            <a:avLst/>
          </a:prstGeom>
          <a:noFill/>
          <a:ln w="0">
            <a:noFill/>
          </a:ln>
        </p:spPr>
        <p:txBody>
          <a:bodyPr wrap="square" lIns="0" tIns="0" rIns="0" bIns="0">
            <a:noAutofit/>
          </a:bodyPr>
          <a:lstStyle/>
          <a:p>
            <a:pPr>
              <a:buNone/>
              <a:defRPr sz="900" b="0">
                <a:solidFill>
                  <a:srgbClr val="706E6C"/>
                </a:solidFill>
                <a:latin typeface="Arial"/>
                <a:ea typeface="Arial"/>
                <a:cs typeface="Arial"/>
              </a:defRPr>
            </a:pPr>
            <a:r>
              <a:rPr sz="900" b="0">
                <a:solidFill>
                  <a:srgbClr val="706E6C"/>
                </a:solidFill>
                <a:latin typeface="Arial"/>
                <a:ea typeface="Arial"/>
                <a:cs typeface="Arial"/>
              </a:rPr>
              <a:t>Local PostgreSQL 18.3 test. Animation timing is illustrative.</a:t>
            </a:r>
          </a:p>
        </p:txBody>
      </p:sp>
      <p:sp>
        <p:nvSpPr>
          <p:cNvPr id="9536"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38</a:t>
            </a:r>
          </a:p>
        </p:txBody>
      </p:sp>
    </p:spTree>
    <p:extLst>
      <p:ext uri="{BB962C8B-B14F-4D97-AF65-F5344CB8AC3E}">
        <p14:creationId xmlns:p14="http://schemas.microsoft.com/office/powerpoint/2010/main" val="1074633681"/>
      </p:ext>
    </p:extLst>
  </p:cSld>
  <p:clrMapOvr>
    <a:masterClrMapping/>
  </p:clrMapOvr>
  <p:timing>
    <p:tnLst>
      <p:par>
        <p:cTn id="1" dur="indefinite" restart="never" nodeType="tmRoot">
          <p:childTnLst>
            <p:video>
              <p:cMediaNode vol="80000">
                <p:cTn id="2" fill="hold" display="0">
                  <p:stCondLst>
                    <p:cond delay="0"/>
                  </p:stCondLst>
                </p:cTn>
                <p:tgtEl>
                  <p:spTgt spid="7"/>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p:blipFill>
        <p:spPr>
          <a:xfrm>
            <a:off x="457200" y="239275"/>
            <a:ext cx="952500" cy="216776"/>
          </a:xfrm>
          <a:prstGeom prst="rect">
            <a:avLst/>
          </a:prstGeom>
        </p:spPr>
      </p:pic>
      <p:sp>
        <p:nvSpPr>
          <p:cNvPr id="2" name="Rectangle 1">
            <a:extLst>
              <a:ext uri="{FF2B5EF4-FFF2-40B4-BE49-F238E27FC236}">
                <a16:creationId xmlns:a16="http://schemas.microsoft.com/office/drawing/2014/main" id="{17D60A16-0635-489F-8EA5-713751ACF196}"/>
              </a:ext>
            </a:extLst>
          </p:cNvPr>
          <p:cNvSpPr>
            <a:spLocks noGrp="1"/>
          </p:cNvSpPr>
          <p:nvPr/>
        </p:nvSpPr>
        <p:spPr>
          <a:xfrm>
            <a:off x="457200" y="809625"/>
            <a:ext cx="8286750" cy="461772"/>
          </a:xfrm>
          <a:prstGeom prst="rect">
            <a:avLst/>
          </a:prstGeom>
          <a:noFill/>
          <a:ln w="0">
            <a:noFill/>
          </a:ln>
        </p:spPr>
        <p:txBody>
          <a:bodyPr wrap="square" lIns="0" tIns="0" rIns="0" bIns="0">
            <a:noAutofit/>
          </a:bodyPr>
          <a:lstStyle/>
          <a:p>
            <a:pPr>
              <a:buNone/>
              <a:defRPr sz="2700" b="1">
                <a:solidFill>
                  <a:srgbClr val="1A1A1A"/>
                </a:solidFill>
                <a:latin typeface="Arial"/>
                <a:ea typeface="Arial"/>
                <a:cs typeface="Arial"/>
              </a:defRPr>
            </a:pPr>
            <a:r>
              <a:rPr sz="2700" b="1">
                <a:solidFill>
                  <a:srgbClr val="1A1A1A"/>
                </a:solidFill>
                <a:latin typeface="Arial"/>
                <a:ea typeface="Arial"/>
                <a:cs typeface="Arial"/>
              </a:rPr>
              <a:t>Snapshot age and response time</a:t>
            </a:r>
          </a:p>
        </p:txBody>
      </p:sp>
      <p:sp>
        <p:nvSpPr>
          <p:cNvPr id="3" name="Rectangle 2">
            <a:extLst>
              <a:ext uri="{FF2B5EF4-FFF2-40B4-BE49-F238E27FC236}">
                <a16:creationId xmlns:a16="http://schemas.microsoft.com/office/drawing/2014/main" id="{B7E40876-7256-44BD-AE24-74D46F36B9F6}"/>
              </a:ext>
            </a:extLst>
          </p:cNvPr>
          <p:cNvSpPr>
            <a:spLocks noGrp="1"/>
          </p:cNvSpPr>
          <p:nvPr/>
        </p:nvSpPr>
        <p:spPr>
          <a:xfrm>
            <a:off x="457200" y="1876425"/>
            <a:ext cx="8096250" cy="562928"/>
          </a:xfrm>
          <a:prstGeom prst="rect">
            <a:avLst/>
          </a:prstGeom>
          <a:noFill/>
          <a:ln w="0">
            <a:noFill/>
          </a:ln>
        </p:spPr>
        <p:txBody>
          <a:bodyPr wrap="square" lIns="0" tIns="0" rIns="0" bIns="0">
            <a:noAutofit/>
          </a:bodyPr>
          <a:lstStyle/>
          <a:p>
            <a:pPr>
              <a:buNone/>
              <a:defRPr sz="3375" b="1">
                <a:solidFill>
                  <a:srgbClr val="171717"/>
                </a:solidFill>
                <a:latin typeface="Arial"/>
                <a:ea typeface="Arial"/>
                <a:cs typeface="Arial"/>
              </a:defRPr>
            </a:pPr>
            <a:r>
              <a:rPr sz="3375" b="1">
                <a:solidFill>
                  <a:srgbClr val="171717"/>
                </a:solidFill>
                <a:latin typeface="Arial"/>
                <a:ea typeface="Arial"/>
                <a:cs typeface="Arial"/>
              </a:rPr>
              <a:t>How old is the visible state</a:t>
            </a:r>
          </a:p>
        </p:txBody>
      </p:sp>
      <p:sp>
        <p:nvSpPr>
          <p:cNvPr id="4" name="Rectangle 3">
            <a:extLst>
              <a:ext uri="{FF2B5EF4-FFF2-40B4-BE49-F238E27FC236}">
                <a16:creationId xmlns:a16="http://schemas.microsoft.com/office/drawing/2014/main" id="{410151C8-8E41-4A66-834B-89B017F600E6}"/>
              </a:ext>
            </a:extLst>
          </p:cNvPr>
          <p:cNvSpPr>
            <a:spLocks noGrp="1"/>
          </p:cNvSpPr>
          <p:nvPr/>
        </p:nvSpPr>
        <p:spPr>
          <a:xfrm>
            <a:off x="457200" y="2457450"/>
            <a:ext cx="8096250" cy="562928"/>
          </a:xfrm>
          <a:prstGeom prst="rect">
            <a:avLst/>
          </a:prstGeom>
          <a:noFill/>
          <a:ln w="0">
            <a:noFill/>
          </a:ln>
        </p:spPr>
        <p:txBody>
          <a:bodyPr wrap="square" lIns="0" tIns="0" rIns="0" bIns="0">
            <a:noAutofit/>
          </a:bodyPr>
          <a:lstStyle/>
          <a:p>
            <a:pPr>
              <a:buNone/>
              <a:defRPr sz="3375" b="1">
                <a:solidFill>
                  <a:srgbClr val="171717"/>
                </a:solidFill>
                <a:latin typeface="Arial"/>
                <a:ea typeface="Arial"/>
                <a:cs typeface="Arial"/>
              </a:defRPr>
            </a:pPr>
            <a:r>
              <a:rPr sz="3375" b="1">
                <a:solidFill>
                  <a:srgbClr val="171717"/>
                </a:solidFill>
                <a:latin typeface="Arial"/>
                <a:ea typeface="Arial"/>
                <a:cs typeface="Arial"/>
              </a:rPr>
              <a:t>when the answer reaches you?</a:t>
            </a:r>
          </a:p>
        </p:txBody>
      </p:sp>
      <p:sp>
        <p:nvSpPr>
          <p:cNvPr id="5" name="Rectangle 4">
            <a:extLst>
              <a:ext uri="{FF2B5EF4-FFF2-40B4-BE49-F238E27FC236}">
                <a16:creationId xmlns:a16="http://schemas.microsoft.com/office/drawing/2014/main" id="{4AD995CF-4103-426B-84B3-3D71617D590E}"/>
              </a:ext>
            </a:extLst>
          </p:cNvPr>
          <p:cNvSpPr>
            <a:spLocks noGrp="1"/>
          </p:cNvSpPr>
          <p:nvPr/>
        </p:nvSpPr>
        <p:spPr>
          <a:xfrm>
            <a:off x="457200" y="3552825"/>
            <a:ext cx="8096250" cy="394335"/>
          </a:xfrm>
          <a:prstGeom prst="rect">
            <a:avLst/>
          </a:prstGeom>
          <a:noFill/>
          <a:ln w="0">
            <a:noFill/>
          </a:ln>
        </p:spPr>
        <p:txBody>
          <a:bodyPr wrap="square" lIns="0" tIns="0" rIns="0" bIns="0">
            <a:noAutofit/>
          </a:bodyPr>
          <a:lstStyle/>
          <a:p>
            <a:pPr>
              <a:buNone/>
              <a:defRPr sz="2250" b="1">
                <a:solidFill>
                  <a:srgbClr val="1A1A1A"/>
                </a:solidFill>
                <a:latin typeface="Arial"/>
                <a:ea typeface="Arial"/>
                <a:cs typeface="Arial"/>
              </a:defRPr>
            </a:pPr>
            <a:r>
              <a:rPr sz="2250" b="1">
                <a:solidFill>
                  <a:srgbClr val="1A1A1A"/>
                </a:solidFill>
                <a:latin typeface="Arial"/>
                <a:ea typeface="Arial"/>
                <a:cs typeface="Arial"/>
              </a:rPr>
              <a:t>Deep caching can return sooner with newer applied data.</a:t>
            </a:r>
          </a:p>
        </p:txBody>
      </p:sp>
      <p:sp>
        <p:nvSpPr>
          <p:cNvPr id="6" name="Rectangle 5">
            <a:extLst>
              <a:ext uri="{FF2B5EF4-FFF2-40B4-BE49-F238E27FC236}">
                <a16:creationId xmlns:a16="http://schemas.microsoft.com/office/drawing/2014/main" id="{70AC979F-BFA8-4C89-96B1-F3F359BC6E21}"/>
              </a:ext>
            </a:extLst>
          </p:cNvPr>
          <p:cNvSpPr>
            <a:spLocks noGrp="1"/>
          </p:cNvSpPr>
          <p:nvPr/>
        </p:nvSpPr>
        <p:spPr>
          <a:xfrm>
            <a:off x="457200" y="4619625"/>
            <a:ext cx="8229600" cy="248222"/>
          </a:xfrm>
          <a:prstGeom prst="rect">
            <a:avLst/>
          </a:prstGeom>
          <a:noFill/>
          <a:ln w="0">
            <a:noFill/>
          </a:ln>
        </p:spPr>
        <p:txBody>
          <a:bodyPr wrap="square" lIns="0" tIns="0" rIns="0" bIns="0">
            <a:noAutofit/>
          </a:bodyPr>
          <a:lstStyle/>
          <a:p>
            <a:pPr>
              <a:buNone/>
              <a:defRPr sz="1275" b="0">
                <a:solidFill>
                  <a:srgbClr val="706E6C"/>
                </a:solidFill>
                <a:latin typeface="Arial"/>
                <a:ea typeface="Arial"/>
                <a:cs typeface="Arial"/>
              </a:defRPr>
            </a:pPr>
            <a:r>
              <a:rPr sz="1275" b="0">
                <a:solidFill>
                  <a:srgbClr val="706E6C"/>
                </a:solidFill>
                <a:latin typeface="Arial"/>
                <a:ea typeface="Arial"/>
                <a:cs typeface="Arial"/>
              </a:rPr>
              <a:t>Compare CDC lag + dataflow lag + lookup time with the query’s snapshot age.</a:t>
            </a:r>
          </a:p>
        </p:txBody>
      </p:sp>
      <p:sp>
        <p:nvSpPr>
          <p:cNvPr id="9537"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39</a:t>
            </a:r>
          </a:p>
        </p:txBody>
      </p:sp>
    </p:spTree>
    <p:extLst>
      <p:ext uri="{BB962C8B-B14F-4D97-AF65-F5344CB8AC3E}">
        <p14:creationId xmlns:p14="http://schemas.microsoft.com/office/powerpoint/2010/main" val="1040377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a:extLst>
            <a:ext uri="{FF2B5EF4-FFF2-40B4-BE49-F238E27FC236}">
              <a16:creationId xmlns:a16="http://schemas.microsoft.com/office/drawing/2014/main" id="{7F1904AC-F84E-F854-D5FE-EFA0D1A7D6BF}"/>
            </a:ext>
          </a:extLst>
        </p:cNvPr>
        <p:cNvGrpSpPr/>
        <p:nvPr/>
      </p:nvGrpSpPr>
      <p:grpSpPr>
        <a:xfrm>
          <a:off x="0" y="0"/>
          <a:ext cx="0" cy="0"/>
          <a:chOff x="0" y="0"/>
          <a:chExt cx="0" cy="0"/>
        </a:xfrm>
      </p:grpSpPr>
      <p:pic>
        <p:nvPicPr>
          <p:cNvPr id="7" name="Readyset logo" descr="Readyset logo">
            <a:extLst>
              <a:ext uri="{FF2B5EF4-FFF2-40B4-BE49-F238E27FC236}">
                <a16:creationId xmlns:a16="http://schemas.microsoft.com/office/drawing/2014/main" id="{8E9E7D6C-FD23-226A-BEAC-9055C60A10CA}"/>
              </a:ext>
            </a:extLst>
          </p:cNvPr>
          <p:cNvPicPr>
            <a:picLocks noChangeAspect="1"/>
          </p:cNvPicPr>
          <p:nvPr/>
        </p:nvPicPr>
        <p:blipFill>
          <a:blip r:embed="rId3"/>
          <a:stretch/>
        </p:blipFill>
        <p:spPr>
          <a:xfrm>
            <a:off x="457200" y="238132"/>
            <a:ext cx="952500" cy="216776"/>
          </a:xfrm>
          <a:prstGeom prst="rect">
            <a:avLst/>
          </a:prstGeom>
        </p:spPr>
      </p:pic>
      <p:sp>
        <p:nvSpPr>
          <p:cNvPr id="4" name="Slide title">
            <a:extLst>
              <a:ext uri="{FF2B5EF4-FFF2-40B4-BE49-F238E27FC236}">
                <a16:creationId xmlns:a16="http://schemas.microsoft.com/office/drawing/2014/main" id="{EFA8A03B-4250-10AD-C31A-251782E49B58}"/>
              </a:ext>
            </a:extLst>
          </p:cNvPr>
          <p:cNvSpPr>
            <a:spLocks noGrp="1"/>
          </p:cNvSpPr>
          <p:nvPr/>
        </p:nvSpPr>
        <p:spPr>
          <a:xfrm>
            <a:off x="457200" y="2038350"/>
            <a:ext cx="5905500" cy="1476375"/>
          </a:xfrm>
          <a:prstGeom prst="rect">
            <a:avLst/>
          </a:prstGeom>
          <a:noFill/>
          <a:ln w="0">
            <a:noFill/>
          </a:ln>
        </p:spPr>
        <p:txBody>
          <a:bodyPr wrap="square" lIns="0" tIns="0" rIns="0" bIns="0">
            <a:noAutofit/>
          </a:bodyPr>
          <a:lstStyle>
            <a:defPPr>
              <a:defRPr sz="2400"/>
            </a:defPPr>
          </a:lstStyle>
          <a:p>
            <a:pPr>
              <a:lnSpc>
                <a:spcPct val="110000"/>
              </a:lnSpc>
              <a:buNone/>
              <a:defRPr sz="2400" b="1">
                <a:solidFill>
                  <a:srgbClr val="EDEDEC"/>
                </a:solidFill>
                <a:latin typeface="Arial"/>
                <a:ea typeface="Arial"/>
                <a:cs typeface="Arial"/>
              </a:defRPr>
            </a:pPr>
            <a:r>
              <a:rPr sz="2400" b="1">
                <a:solidFill>
                  <a:srgbClr val="EDEDEC"/>
                </a:solidFill>
                <a:latin typeface="Arial"/>
                <a:ea typeface="Arial"/>
                <a:cs typeface="Arial"/>
              </a:rPr>
              <a:t>A published 4.3 million QPS benchmark</a:t>
            </a:r>
            <a:endParaRPr sz="4275" b="1">
              <a:solidFill>
                <a:srgbClr val="EDEDEC"/>
              </a:solidFill>
              <a:latin typeface="Arial"/>
              <a:ea typeface="Arial"/>
              <a:cs typeface="Arial"/>
            </a:endParaRPr>
          </a:p>
        </p:txBody>
      </p:sp>
      <p:pic>
        <p:nvPicPr>
          <p:cNvPr id="12" name="Section glyph" descr="Section glyph">
            <a:extLst>
              <a:ext uri="{FF2B5EF4-FFF2-40B4-BE49-F238E27FC236}">
                <a16:creationId xmlns:a16="http://schemas.microsoft.com/office/drawing/2014/main" id="{26EB36D2-7CB0-C83E-3185-CEE100CF371E}"/>
              </a:ext>
            </a:extLst>
          </p:cNvPr>
          <p:cNvPicPr>
            <a:picLocks noChangeAspect="1"/>
          </p:cNvPicPr>
          <p:nvPr/>
        </p:nvPicPr>
        <p:blipFill>
          <a:blip r:embed="rId4"/>
          <a:stretch/>
        </p:blipFill>
        <p:spPr>
          <a:xfrm>
            <a:off x="6905625" y="1823085"/>
            <a:ext cx="1619250" cy="1554480"/>
          </a:xfrm>
          <a:prstGeom prst="rect">
            <a:avLst/>
          </a:prstGeom>
        </p:spPr>
      </p:pic>
      <p:sp>
        <p:nvSpPr>
          <p:cNvPr id="9538"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40</a:t>
            </a:r>
          </a:p>
        </p:txBody>
      </p:sp>
    </p:spTree>
    <p:extLst>
      <p:ext uri="{BB962C8B-B14F-4D97-AF65-F5344CB8AC3E}">
        <p14:creationId xmlns:p14="http://schemas.microsoft.com/office/powerpoint/2010/main" val="2156541570"/>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97"/>
        <p:cNvGrpSpPr/>
        <p:nvPr/>
      </p:nvGrpSpPr>
      <p:grpSpPr>
        <a:xfrm>
          <a:off x="0" y="0"/>
          <a:ext cx="0" cy="0"/>
          <a:chOff x="0" y="0"/>
          <a:chExt cx="0" cy="0"/>
        </a:xfrm>
      </p:grpSpPr>
      <p:sp>
        <p:nvSpPr>
          <p:cNvPr id="798" name="Google Shape;798;p37"/>
          <p:cNvSpPr/>
          <p:nvPr/>
        </p:nvSpPr>
        <p:spPr>
          <a:xfrm>
            <a:off x="457200" y="1485900"/>
            <a:ext cx="5629504" cy="3238348"/>
          </a:xfrm>
          <a:prstGeom prst="roundRect">
            <a:avLst>
              <a:gd name="adj" fmla="val 1765"/>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99" name="Google Shape;799;p37"/>
          <p:cNvSpPr/>
          <p:nvPr/>
        </p:nvSpPr>
        <p:spPr>
          <a:xfrm>
            <a:off x="6172200" y="1485900"/>
            <a:ext cx="2286000" cy="1333653"/>
          </a:xfrm>
          <a:prstGeom prst="roundRect">
            <a:avLst>
              <a:gd name="adj" fmla="val 4285"/>
            </a:avLst>
          </a:prstGeom>
          <a:solidFill>
            <a:srgbClr val="16161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00" name="Google Shape;800;p37"/>
          <p:cNvSpPr/>
          <p:nvPr/>
        </p:nvSpPr>
        <p:spPr>
          <a:xfrm>
            <a:off x="6172200" y="2914650"/>
            <a:ext cx="2295601" cy="819303"/>
          </a:xfrm>
          <a:prstGeom prst="roundRect">
            <a:avLst>
              <a:gd name="adj" fmla="val 6975"/>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01" name="Google Shape;801;p37"/>
          <p:cNvSpPr/>
          <p:nvPr/>
        </p:nvSpPr>
        <p:spPr>
          <a:xfrm>
            <a:off x="6172200" y="3819449"/>
            <a:ext cx="2295601" cy="904799"/>
          </a:xfrm>
          <a:prstGeom prst="roundRect">
            <a:avLst>
              <a:gd name="adj" fmla="val 6316"/>
            </a:avLst>
          </a:prstGeom>
          <a:solidFill>
            <a:srgbClr val="FFFFFF"/>
          </a:solidFill>
          <a:ln w="12700" cap="flat" cmpd="sng">
            <a:solidFill>
              <a:srgbClr val="555555"/>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03" name="Google Shape;803;p37"/>
          <p:cNvSpPr txBox="1"/>
          <p:nvPr/>
        </p:nvSpPr>
        <p:spPr>
          <a:xfrm>
            <a:off x="2000250" y="276225"/>
            <a:ext cx="6686550" cy="209550"/>
          </a:xfrm>
          <a:prstGeom prst="rect">
            <a:avLst/>
          </a:prstGeom>
          <a:noFill/>
          <a:ln>
            <a:noFill/>
          </a:ln>
        </p:spPr>
        <p:txBody>
          <a:bodyPr spcFirstLastPara="1" wrap="square" lIns="0" tIns="0" rIns="0" bIns="0" anchor="t" anchorCtr="0">
            <a:noAutofit/>
          </a:bodyPr>
          <a:lstStyle/>
          <a:p>
            <a:pPr algn="l">
              <a:buClr>
                <a:srgbClr val="555555"/>
              </a:buClr>
              <a:buSzPts val="1500"/>
            </a:pPr>
            <a:r>
              <a:rPr lang="en-US" sz="900" b="0">
                <a:solidFill>
                  <a:srgbClr val="666666"/>
                </a:solidFill>
                <a:latin typeface="Arial"/>
                <a:ea typeface="Arial"/>
                <a:cs typeface="Arial"/>
                <a:sym typeface="IBM Plex Mono"/>
              </a:rPr>
              <a:t>— benchmark · readyset in isolation</a:t>
            </a:r>
            <a:endParaRPr sz="900" b="0">
              <a:solidFill>
                <a:srgbClr val="666666"/>
              </a:solidFill>
              <a:latin typeface="Arial"/>
              <a:ea typeface="Arial"/>
              <a:cs typeface="Arial"/>
              <a:sym typeface="Arial"/>
            </a:endParaRPr>
          </a:p>
        </p:txBody>
      </p:sp>
      <p:sp>
        <p:nvSpPr>
          <p:cNvPr id="804" name="Google Shape;804;p37"/>
          <p:cNvSpPr txBox="1"/>
          <p:nvPr/>
        </p:nvSpPr>
        <p:spPr>
          <a:xfrm>
            <a:off x="457200" y="790575"/>
            <a:ext cx="8229600" cy="457200"/>
          </a:xfrm>
          <a:prstGeom prst="rect">
            <a:avLst/>
          </a:prstGeom>
          <a:noFill/>
          <a:ln>
            <a:noFill/>
          </a:ln>
        </p:spPr>
        <p:txBody>
          <a:bodyPr spcFirstLastPara="1" wrap="square" lIns="0" tIns="0" rIns="0" bIns="0" anchor="t" anchorCtr="0">
            <a:noAutofit/>
          </a:bodyPr>
          <a:lstStyle/>
          <a:p>
            <a:pPr algn="l">
              <a:buClr>
                <a:srgbClr val="161615"/>
              </a:buClr>
              <a:buSzPts val="4650"/>
            </a:pPr>
            <a:r>
              <a:rPr lang="en-US" sz="2700" b="1">
                <a:solidFill>
                  <a:srgbClr val="171717"/>
                </a:solidFill>
                <a:latin typeface="Arial"/>
                <a:ea typeface="Arial"/>
                <a:cs typeface="Arial"/>
                <a:sym typeface="Arial"/>
              </a:rPr>
              <a:t>4,379,212 queries per second. From a single node.</a:t>
            </a:r>
            <a:endParaRPr sz="2700" b="1">
              <a:solidFill>
                <a:srgbClr val="171717"/>
              </a:solidFill>
              <a:latin typeface="Arial"/>
              <a:ea typeface="Arial"/>
              <a:cs typeface="Arial"/>
              <a:sym typeface="Arial"/>
            </a:endParaRPr>
          </a:p>
        </p:txBody>
      </p:sp>
      <p:sp>
        <p:nvSpPr>
          <p:cNvPr id="805" name="Google Shape;805;p37"/>
          <p:cNvSpPr txBox="1"/>
          <p:nvPr/>
        </p:nvSpPr>
        <p:spPr>
          <a:xfrm>
            <a:off x="457200" y="1180948"/>
            <a:ext cx="8001000" cy="114300"/>
          </a:xfrm>
          <a:prstGeom prst="rect">
            <a:avLst/>
          </a:prstGeom>
          <a:noFill/>
          <a:ln>
            <a:noFill/>
          </a:ln>
        </p:spPr>
        <p:txBody>
          <a:bodyPr spcFirstLastPara="1" wrap="square" lIns="0" tIns="0" rIns="0" bIns="0" anchor="ctr">
            <a:noAutofit/>
          </a:bodyPr>
          <a:lstStyle/>
          <a:p>
            <a:pPr>
              <a:buClr>
                <a:srgbClr val="706E6C"/>
              </a:buClr>
              <a:buSzPts val="1425"/>
              <a:buNone/>
            </a:pPr>
            <a:r>
              <a:rPr sz="713">
                <a:solidFill>
                  <a:srgbClr val="706E6C"/>
                </a:solidFill>
                <a:latin typeface="Arial"/>
                <a:ea typeface="Arial"/>
                <a:cs typeface="Arial"/>
              </a:rPr>
              <a:t>14 August 2026 · MySQL protocol · fully cached reads · 1 M rows · 10 K hot keys · Table 1</a:t>
            </a:r>
            <a:endParaRPr sz="713">
              <a:solidFill>
                <a:schemeClr val="dk1"/>
              </a:solidFill>
              <a:latin typeface="Arial"/>
              <a:ea typeface="Arial"/>
              <a:cs typeface="Arial"/>
            </a:endParaRPr>
          </a:p>
        </p:txBody>
      </p:sp>
      <p:pic>
        <p:nvPicPr>
          <p:cNvPr id="806" name="Google Shape;806;p37" descr="gen-dedup-d4a58e36ab50322fde2686f031fa2bfc.jpg"/>
          <p:cNvPicPr preferRelativeResize="0"/>
          <p:nvPr/>
        </p:nvPicPr>
        <p:blipFill rotWithShape="1">
          <a:blip r:embed="rId3">
            <a:alphaModFix/>
          </a:blip>
          <a:srcRect t="-34279" b="-34279"/>
          <a:stretch/>
        </p:blipFill>
        <p:spPr>
          <a:xfrm>
            <a:off x="552298" y="1580998"/>
            <a:ext cx="5429250" cy="3038551"/>
          </a:xfrm>
          <a:prstGeom prst="rect">
            <a:avLst/>
          </a:prstGeom>
          <a:noFill/>
          <a:ln>
            <a:noFill/>
          </a:ln>
        </p:spPr>
      </p:pic>
      <p:sp>
        <p:nvSpPr>
          <p:cNvPr id="807" name="Google Shape;807;p37"/>
          <p:cNvSpPr txBox="1"/>
          <p:nvPr/>
        </p:nvSpPr>
        <p:spPr>
          <a:xfrm>
            <a:off x="6362853" y="1619403"/>
            <a:ext cx="1905153" cy="81382"/>
          </a:xfrm>
          <a:prstGeom prst="rect">
            <a:avLst/>
          </a:prstGeom>
          <a:noFill/>
          <a:ln>
            <a:noFill/>
          </a:ln>
        </p:spPr>
        <p:txBody>
          <a:bodyPr spcFirstLastPara="1" wrap="square" lIns="0" tIns="0" rIns="0" bIns="0" anchor="ctr" anchorCtr="0">
            <a:noAutofit/>
          </a:bodyPr>
          <a:lstStyle/>
          <a:p>
            <a:pPr>
              <a:buClr>
                <a:srgbClr val="555555"/>
              </a:buClr>
              <a:buSzPts val="975"/>
            </a:pPr>
            <a:r>
              <a:rPr lang="en-US" sz="488">
                <a:solidFill>
                  <a:srgbClr val="EEEEEE"/>
                </a:solidFill>
                <a:latin typeface="Arial"/>
                <a:ea typeface="Arial"/>
                <a:cs typeface="Arial"/>
                <a:sym typeface="IBM Plex Mono"/>
              </a:rPr>
              <a:t>peak throughput</a:t>
            </a:r>
            <a:endParaRPr sz="488">
              <a:solidFill>
                <a:schemeClr val="dk1"/>
              </a:solidFill>
              <a:latin typeface="Arial"/>
              <a:ea typeface="Arial"/>
              <a:cs typeface="Arial"/>
              <a:sym typeface="Arial"/>
            </a:endParaRPr>
          </a:p>
        </p:txBody>
      </p:sp>
      <p:sp>
        <p:nvSpPr>
          <p:cNvPr id="808" name="Google Shape;808;p37"/>
          <p:cNvSpPr txBox="1"/>
          <p:nvPr/>
        </p:nvSpPr>
        <p:spPr>
          <a:xfrm>
            <a:off x="6362853" y="1767078"/>
            <a:ext cx="1905153" cy="438455"/>
          </a:xfrm>
          <a:prstGeom prst="rect">
            <a:avLst/>
          </a:prstGeom>
          <a:noFill/>
          <a:ln>
            <a:noFill/>
          </a:ln>
        </p:spPr>
        <p:txBody>
          <a:bodyPr spcFirstLastPara="1" wrap="square" lIns="0" tIns="0" rIns="0" bIns="0" anchor="ctr" anchorCtr="0">
            <a:noAutofit/>
          </a:bodyPr>
          <a:lstStyle/>
          <a:p>
            <a:pPr>
              <a:buClr>
                <a:srgbClr val="EDEDEC"/>
              </a:buClr>
              <a:buSzPts val="7200"/>
            </a:pPr>
            <a:r>
              <a:rPr lang="en-US" sz="3600" b="1">
                <a:solidFill>
                  <a:srgbClr val="EDEDEC"/>
                </a:solidFill>
                <a:latin typeface="Arial"/>
                <a:ea typeface="Arial"/>
                <a:cs typeface="Arial"/>
                <a:sym typeface="Arial"/>
              </a:rPr>
              <a:t>4.38</a:t>
            </a:r>
            <a:r>
              <a:rPr lang="en-US" b="1">
                <a:solidFill>
                  <a:srgbClr val="EEEEEE"/>
                </a:solidFill>
                <a:latin typeface="Arial"/>
                <a:ea typeface="Arial"/>
                <a:cs typeface="Arial"/>
                <a:sym typeface="Arial"/>
              </a:rPr>
              <a:t>M</a:t>
            </a:r>
            <a:endParaRPr sz="3600">
              <a:solidFill>
                <a:schemeClr val="dk1"/>
              </a:solidFill>
              <a:latin typeface="Arial"/>
              <a:ea typeface="Arial"/>
              <a:cs typeface="Arial"/>
              <a:sym typeface="Arial"/>
            </a:endParaRPr>
          </a:p>
        </p:txBody>
      </p:sp>
      <p:sp>
        <p:nvSpPr>
          <p:cNvPr id="809" name="Google Shape;809;p37"/>
          <p:cNvSpPr txBox="1"/>
          <p:nvPr/>
        </p:nvSpPr>
        <p:spPr>
          <a:xfrm>
            <a:off x="6362853" y="2248967"/>
            <a:ext cx="1905153" cy="233629"/>
          </a:xfrm>
          <a:prstGeom prst="rect">
            <a:avLst/>
          </a:prstGeom>
          <a:noFill/>
          <a:ln>
            <a:noFill/>
          </a:ln>
        </p:spPr>
        <p:txBody>
          <a:bodyPr spcFirstLastPara="1" wrap="square" lIns="0" tIns="0" rIns="0" bIns="0" anchor="ctr">
            <a:noAutofit/>
          </a:bodyPr>
          <a:lstStyle/>
          <a:p>
            <a:pPr>
              <a:lnSpc>
                <a:spcPct val="135000"/>
              </a:lnSpc>
              <a:buClr>
                <a:srgbClr val="A1A09A"/>
              </a:buClr>
              <a:buSzPts val="1350"/>
              <a:buNone/>
            </a:pPr>
            <a:r>
              <a:rPr sz="675">
                <a:solidFill>
                  <a:srgbClr val="EEEEEE"/>
                </a:solidFill>
                <a:latin typeface="Arial"/>
                <a:ea typeface="Arial"/>
                <a:cs typeface="Arial"/>
              </a:rPr>
              <a:t>queries / second on the isolated cache-hit serving path.</a:t>
            </a:r>
            <a:endParaRPr sz="675">
              <a:solidFill>
                <a:schemeClr val="dk1"/>
              </a:solidFill>
              <a:latin typeface="Arial"/>
              <a:ea typeface="Arial"/>
              <a:cs typeface="Arial"/>
            </a:endParaRPr>
          </a:p>
        </p:txBody>
      </p:sp>
      <p:sp>
        <p:nvSpPr>
          <p:cNvPr id="810" name="Google Shape;810;p37"/>
          <p:cNvSpPr txBox="1"/>
          <p:nvPr/>
        </p:nvSpPr>
        <p:spPr>
          <a:xfrm>
            <a:off x="6362853" y="3028950"/>
            <a:ext cx="1905153" cy="81382"/>
          </a:xfrm>
          <a:prstGeom prst="rect">
            <a:avLst/>
          </a:prstGeom>
          <a:noFill/>
          <a:ln>
            <a:noFill/>
          </a:ln>
        </p:spPr>
        <p:txBody>
          <a:bodyPr spcFirstLastPara="1" wrap="square" lIns="0" tIns="0" rIns="0" bIns="0" anchor="ctr" anchorCtr="0">
            <a:noAutofit/>
          </a:bodyPr>
          <a:lstStyle/>
          <a:p>
            <a:pPr>
              <a:buClr>
                <a:srgbClr val="555555"/>
              </a:buClr>
              <a:buSzPts val="975"/>
            </a:pPr>
            <a:r>
              <a:rPr lang="en-US" sz="488">
                <a:solidFill>
                  <a:srgbClr val="555555"/>
                </a:solidFill>
                <a:latin typeface="Arial"/>
                <a:ea typeface="Arial"/>
                <a:cs typeface="Arial"/>
                <a:sym typeface="IBM Plex Mono"/>
              </a:rPr>
              <a:t>p95 latency at peak</a:t>
            </a:r>
            <a:endParaRPr sz="488">
              <a:solidFill>
                <a:schemeClr val="dk1"/>
              </a:solidFill>
              <a:latin typeface="Arial"/>
              <a:ea typeface="Arial"/>
              <a:cs typeface="Arial"/>
              <a:sym typeface="Arial"/>
            </a:endParaRPr>
          </a:p>
        </p:txBody>
      </p:sp>
      <p:sp>
        <p:nvSpPr>
          <p:cNvPr id="811" name="Google Shape;811;p37"/>
          <p:cNvSpPr txBox="1"/>
          <p:nvPr/>
        </p:nvSpPr>
        <p:spPr>
          <a:xfrm>
            <a:off x="6362853" y="3147822"/>
            <a:ext cx="1905153" cy="304953"/>
          </a:xfrm>
          <a:prstGeom prst="rect">
            <a:avLst/>
          </a:prstGeom>
          <a:noFill/>
          <a:ln>
            <a:noFill/>
          </a:ln>
        </p:spPr>
        <p:txBody>
          <a:bodyPr spcFirstLastPara="1" wrap="square" lIns="0" tIns="0" rIns="0" bIns="0" anchor="ctr" anchorCtr="0">
            <a:noAutofit/>
          </a:bodyPr>
          <a:lstStyle/>
          <a:p>
            <a:pPr>
              <a:buClr>
                <a:srgbClr val="161615"/>
              </a:buClr>
              <a:buSzPts val="4800"/>
            </a:pPr>
            <a:r>
              <a:rPr lang="en-US" sz="2400" b="1">
                <a:solidFill>
                  <a:srgbClr val="161615"/>
                </a:solidFill>
                <a:latin typeface="Arial"/>
                <a:ea typeface="Arial"/>
                <a:cs typeface="Arial"/>
                <a:sym typeface="Arial"/>
              </a:rPr>
              <a:t>2.26</a:t>
            </a:r>
            <a:r>
              <a:rPr lang="en-US" sz="1200" b="1">
                <a:solidFill>
                  <a:srgbClr val="706E6C"/>
                </a:solidFill>
                <a:latin typeface="Arial"/>
                <a:ea typeface="Arial"/>
                <a:cs typeface="Arial"/>
                <a:sym typeface="Arial"/>
              </a:rPr>
              <a:t>ms</a:t>
            </a:r>
            <a:endParaRPr sz="2400">
              <a:solidFill>
                <a:schemeClr val="dk1"/>
              </a:solidFill>
              <a:latin typeface="Arial"/>
              <a:ea typeface="Arial"/>
              <a:cs typeface="Arial"/>
              <a:sym typeface="Arial"/>
            </a:endParaRPr>
          </a:p>
        </p:txBody>
      </p:sp>
      <p:sp>
        <p:nvSpPr>
          <p:cNvPr id="812" name="Google Shape;812;p37"/>
          <p:cNvSpPr txBox="1"/>
          <p:nvPr/>
        </p:nvSpPr>
        <p:spPr>
          <a:xfrm>
            <a:off x="6362853" y="3519526"/>
            <a:ext cx="1905153" cy="171450"/>
          </a:xfrm>
          <a:prstGeom prst="rect">
            <a:avLst/>
          </a:prstGeom>
          <a:noFill/>
          <a:ln>
            <a:noFill/>
          </a:ln>
        </p:spPr>
        <p:txBody>
          <a:bodyPr spcFirstLastPara="1" wrap="square" lIns="0" tIns="0" rIns="0" bIns="0" anchor="ctr">
            <a:noAutofit/>
          </a:bodyPr>
          <a:lstStyle/>
          <a:p>
            <a:pPr>
              <a:buClr>
                <a:srgbClr val="706E6C"/>
              </a:buClr>
              <a:buSzPts val="1050"/>
              <a:buNone/>
            </a:pPr>
            <a:r>
              <a:rPr sz="525">
                <a:solidFill>
                  <a:srgbClr val="706E6C"/>
                </a:solidFill>
                <a:latin typeface="Arial"/>
                <a:ea typeface="Arial"/>
                <a:cs typeface="Arial"/>
              </a:rPr>
              <a:t>3.49 ms at 8,960 connections, beyond the throughput peak.</a:t>
            </a:r>
            <a:endParaRPr sz="525">
              <a:solidFill>
                <a:schemeClr val="dk1"/>
              </a:solidFill>
              <a:latin typeface="Arial"/>
              <a:ea typeface="Arial"/>
              <a:cs typeface="Arial"/>
            </a:endParaRPr>
          </a:p>
        </p:txBody>
      </p:sp>
      <p:sp>
        <p:nvSpPr>
          <p:cNvPr id="813" name="Google Shape;813;p37"/>
          <p:cNvSpPr txBox="1"/>
          <p:nvPr/>
        </p:nvSpPr>
        <p:spPr>
          <a:xfrm>
            <a:off x="6362853" y="3933749"/>
            <a:ext cx="1905153" cy="81382"/>
          </a:xfrm>
          <a:prstGeom prst="rect">
            <a:avLst/>
          </a:prstGeom>
          <a:noFill/>
          <a:ln>
            <a:noFill/>
          </a:ln>
        </p:spPr>
        <p:txBody>
          <a:bodyPr spcFirstLastPara="1" wrap="square" lIns="0" tIns="0" rIns="0" bIns="0" anchor="ctr" anchorCtr="0">
            <a:noAutofit/>
          </a:bodyPr>
          <a:lstStyle/>
          <a:p>
            <a:pPr>
              <a:buClr>
                <a:srgbClr val="555555"/>
              </a:buClr>
              <a:buSzPts val="975"/>
            </a:pPr>
            <a:r>
              <a:rPr lang="en-US" sz="488">
                <a:solidFill>
                  <a:srgbClr val="555555"/>
                </a:solidFill>
                <a:latin typeface="Arial"/>
                <a:ea typeface="Arial"/>
                <a:cs typeface="Arial"/>
                <a:sym typeface="IBM Plex Mono"/>
              </a:rPr>
              <a:t>where the cycles go</a:t>
            </a:r>
            <a:endParaRPr sz="488">
              <a:solidFill>
                <a:schemeClr val="dk1"/>
              </a:solidFill>
              <a:latin typeface="Arial"/>
              <a:ea typeface="Arial"/>
              <a:cs typeface="Arial"/>
              <a:sym typeface="Arial"/>
            </a:endParaRPr>
          </a:p>
        </p:txBody>
      </p:sp>
      <p:sp>
        <p:nvSpPr>
          <p:cNvPr id="814" name="Google Shape;814;p37"/>
          <p:cNvSpPr txBox="1"/>
          <p:nvPr/>
        </p:nvSpPr>
        <p:spPr>
          <a:xfrm>
            <a:off x="6362853" y="4048963"/>
            <a:ext cx="1905153" cy="370789"/>
          </a:xfrm>
          <a:prstGeom prst="rect">
            <a:avLst/>
          </a:prstGeom>
          <a:noFill/>
          <a:ln>
            <a:noFill/>
          </a:ln>
        </p:spPr>
        <p:txBody>
          <a:bodyPr spcFirstLastPara="1" wrap="square" lIns="0" tIns="0" rIns="0" bIns="0" anchor="t" anchorCtr="0">
            <a:noAutofit/>
          </a:bodyPr>
          <a:lstStyle/>
          <a:p>
            <a:pPr>
              <a:lnSpc>
                <a:spcPct val="155000"/>
              </a:lnSpc>
              <a:buClr>
                <a:srgbClr val="706E6C"/>
              </a:buClr>
              <a:buSzPts val="1200"/>
            </a:pPr>
            <a:r>
              <a:rPr lang="en-US" sz="600">
                <a:solidFill>
                  <a:srgbClr val="706E6C"/>
                </a:solidFill>
                <a:latin typeface="Arial"/>
                <a:ea typeface="Arial"/>
                <a:cs typeface="Arial"/>
                <a:sym typeface="IBM Plex Mono"/>
              </a:rPr>
              <a:t>kernel networking</a:t>
            </a:r>
            <a:r>
              <a:rPr lang="en-US" sz="600">
                <a:solidFill>
                  <a:srgbClr val="161615"/>
                </a:solidFill>
                <a:latin typeface="Arial"/>
                <a:ea typeface="Arial"/>
                <a:cs typeface="Arial"/>
                <a:sym typeface="IBM Plex Mono"/>
              </a:rPr>
              <a:t> 56.3%</a:t>
            </a:r>
            <a:endParaRPr sz="600">
              <a:solidFill>
                <a:schemeClr val="dk1"/>
              </a:solidFill>
              <a:latin typeface="Arial"/>
              <a:ea typeface="Arial"/>
              <a:cs typeface="Arial"/>
              <a:sym typeface="Arial"/>
            </a:endParaRPr>
          </a:p>
          <a:p>
            <a:pPr>
              <a:lnSpc>
                <a:spcPct val="155000"/>
              </a:lnSpc>
              <a:buClr>
                <a:srgbClr val="706E6C"/>
              </a:buClr>
              <a:buSzPts val="1200"/>
            </a:pPr>
            <a:r>
              <a:rPr lang="en-US" sz="600">
                <a:solidFill>
                  <a:srgbClr val="706E6C"/>
                </a:solidFill>
                <a:latin typeface="Arial"/>
                <a:ea typeface="Arial"/>
                <a:cs typeface="Arial"/>
                <a:sym typeface="IBM Plex Mono"/>
              </a:rPr>
              <a:t>Readyset userspace</a:t>
            </a:r>
            <a:r>
              <a:rPr lang="en-US" sz="600">
                <a:solidFill>
                  <a:srgbClr val="161615"/>
                </a:solidFill>
                <a:latin typeface="Arial"/>
                <a:ea typeface="Arial"/>
                <a:cs typeface="Arial"/>
                <a:sym typeface="IBM Plex Mono"/>
              </a:rPr>
              <a:t> 42.8%</a:t>
            </a:r>
            <a:endParaRPr sz="600">
              <a:solidFill>
                <a:schemeClr val="dk1"/>
              </a:solidFill>
              <a:latin typeface="Arial"/>
              <a:ea typeface="Arial"/>
              <a:cs typeface="Arial"/>
              <a:sym typeface="Arial"/>
            </a:endParaRPr>
          </a:p>
          <a:p>
            <a:pPr>
              <a:lnSpc>
                <a:spcPct val="155000"/>
              </a:lnSpc>
              <a:buClr>
                <a:srgbClr val="706E6C"/>
              </a:buClr>
              <a:buSzPts val="1200"/>
            </a:pPr>
            <a:r>
              <a:rPr lang="en-US" sz="600">
                <a:solidFill>
                  <a:srgbClr val="706E6C"/>
                </a:solidFill>
                <a:latin typeface="Arial"/>
                <a:ea typeface="Arial"/>
                <a:cs typeface="Arial"/>
                <a:sym typeface="IBM Plex Mono"/>
              </a:rPr>
              <a:t>cache read path itself</a:t>
            </a:r>
            <a:r>
              <a:rPr lang="en-US" sz="600">
                <a:solidFill>
                  <a:srgbClr val="161615"/>
                </a:solidFill>
                <a:latin typeface="Arial"/>
                <a:ea typeface="Arial"/>
                <a:cs typeface="Arial"/>
                <a:sym typeface="IBM Plex Mono"/>
              </a:rPr>
              <a:t> ~7%</a:t>
            </a:r>
            <a:endParaRPr sz="600">
              <a:solidFill>
                <a:schemeClr val="dk1"/>
              </a:solidFill>
              <a:latin typeface="Arial"/>
              <a:ea typeface="Arial"/>
              <a:cs typeface="Arial"/>
              <a:sym typeface="Arial"/>
            </a:endParaRPr>
          </a:p>
        </p:txBody>
      </p:sp>
      <p:pic>
        <p:nvPicPr>
          <p:cNvPr id="9039" name="Readyset standard logo 39"/>
          <p:cNvPicPr>
            <a:picLocks noChangeAspect="1"/>
          </p:cNvPicPr>
          <p:nvPr/>
        </p:nvPicPr>
        <p:blipFill>
          <a:blip r:embed="rId4"/>
          <a:stretch/>
        </p:blipFill>
        <p:spPr>
          <a:xfrm>
            <a:off x="457200" y="239275"/>
            <a:ext cx="952500" cy="216776"/>
          </a:xfrm>
          <a:prstGeom prst="rect">
            <a:avLst/>
          </a:prstGeom>
        </p:spPr>
      </p:pic>
      <p:sp>
        <p:nvSpPr>
          <p:cNvPr id="9539"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21"/>
        <p:cNvGrpSpPr/>
        <p:nvPr/>
      </p:nvGrpSpPr>
      <p:grpSpPr>
        <a:xfrm>
          <a:off x="0" y="0"/>
          <a:ext cx="0" cy="0"/>
          <a:chOff x="0" y="0"/>
          <a:chExt cx="0" cy="0"/>
        </a:xfrm>
      </p:grpSpPr>
      <p:sp>
        <p:nvSpPr>
          <p:cNvPr id="822" name="Google Shape;822;p38"/>
          <p:cNvSpPr/>
          <p:nvPr/>
        </p:nvSpPr>
        <p:spPr>
          <a:xfrm>
            <a:off x="457200" y="1523848"/>
            <a:ext cx="8010601" cy="2057400"/>
          </a:xfrm>
          <a:prstGeom prst="roundRect">
            <a:avLst>
              <a:gd name="adj" fmla="val 2778"/>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23" name="Google Shape;823;p38"/>
          <p:cNvSpPr/>
          <p:nvPr/>
        </p:nvSpPr>
        <p:spPr>
          <a:xfrm>
            <a:off x="457200" y="3686404"/>
            <a:ext cx="1905153" cy="1028700"/>
          </a:xfrm>
          <a:prstGeom prst="roundRect">
            <a:avLst>
              <a:gd name="adj" fmla="val 5556"/>
            </a:avLst>
          </a:prstGeom>
          <a:solidFill>
            <a:srgbClr val="16161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24" name="Google Shape;824;p38"/>
          <p:cNvSpPr/>
          <p:nvPr/>
        </p:nvSpPr>
        <p:spPr>
          <a:xfrm>
            <a:off x="2457450" y="3686404"/>
            <a:ext cx="1914754" cy="1038301"/>
          </a:xfrm>
          <a:prstGeom prst="roundRect">
            <a:avLst>
              <a:gd name="adj" fmla="val 5504"/>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25" name="Google Shape;825;p38"/>
          <p:cNvSpPr/>
          <p:nvPr/>
        </p:nvSpPr>
        <p:spPr>
          <a:xfrm>
            <a:off x="4457700" y="3686404"/>
            <a:ext cx="1914754" cy="1038301"/>
          </a:xfrm>
          <a:prstGeom prst="roundRect">
            <a:avLst>
              <a:gd name="adj" fmla="val 5504"/>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26" name="Google Shape;826;p38"/>
          <p:cNvSpPr/>
          <p:nvPr/>
        </p:nvSpPr>
        <p:spPr>
          <a:xfrm>
            <a:off x="6457950" y="3686404"/>
            <a:ext cx="2009851" cy="1038301"/>
          </a:xfrm>
          <a:prstGeom prst="roundRect">
            <a:avLst>
              <a:gd name="adj" fmla="val 5504"/>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28" name="Google Shape;828;p38"/>
          <p:cNvSpPr txBox="1"/>
          <p:nvPr/>
        </p:nvSpPr>
        <p:spPr>
          <a:xfrm>
            <a:off x="2000250" y="276225"/>
            <a:ext cx="6686550" cy="209550"/>
          </a:xfrm>
          <a:prstGeom prst="rect">
            <a:avLst/>
          </a:prstGeom>
          <a:noFill/>
          <a:ln>
            <a:noFill/>
          </a:ln>
        </p:spPr>
        <p:txBody>
          <a:bodyPr spcFirstLastPara="1" wrap="square" lIns="0" tIns="0" rIns="0" bIns="0" anchor="t">
            <a:noAutofit/>
          </a:bodyPr>
          <a:lstStyle/>
          <a:p>
            <a:pPr algn="l">
              <a:buClr>
                <a:srgbClr val="555555"/>
              </a:buClr>
              <a:buSzPts val="1500"/>
              <a:buNone/>
            </a:pPr>
            <a:r>
              <a:rPr sz="900" b="0">
                <a:solidFill>
                  <a:srgbClr val="666666"/>
                </a:solidFill>
                <a:latin typeface="Arial"/>
                <a:ea typeface="Arial"/>
                <a:cs typeface="Arial"/>
              </a:rPr>
              <a:t>benchmark · same server and lookup workload</a:t>
            </a:r>
          </a:p>
        </p:txBody>
      </p:sp>
      <p:sp>
        <p:nvSpPr>
          <p:cNvPr id="829" name="Google Shape;829;p38"/>
          <p:cNvSpPr txBox="1"/>
          <p:nvPr/>
        </p:nvSpPr>
        <p:spPr>
          <a:xfrm>
            <a:off x="457200" y="790575"/>
            <a:ext cx="8229600" cy="457200"/>
          </a:xfrm>
          <a:prstGeom prst="rect">
            <a:avLst/>
          </a:prstGeom>
          <a:noFill/>
          <a:ln>
            <a:noFill/>
          </a:ln>
        </p:spPr>
        <p:txBody>
          <a:bodyPr spcFirstLastPara="1" wrap="square" lIns="0" tIns="0" rIns="0" bIns="0" anchor="t">
            <a:noAutofit/>
          </a:bodyPr>
          <a:lstStyle/>
          <a:p>
            <a:pPr algn="l">
              <a:buClr>
                <a:srgbClr val="161615"/>
              </a:buClr>
              <a:buSzPts val="4650"/>
              <a:buNone/>
            </a:pPr>
            <a:r>
              <a:rPr sz="2700" b="1">
                <a:solidFill>
                  <a:srgbClr val="171717"/>
                </a:solidFill>
                <a:latin typeface="Arial"/>
                <a:ea typeface="Arial"/>
                <a:cs typeface="Arial"/>
              </a:rPr>
              <a:t>Readyset, PostgreSQL, and MySQL</a:t>
            </a:r>
          </a:p>
        </p:txBody>
      </p:sp>
      <p:sp>
        <p:nvSpPr>
          <p:cNvPr id="830" name="Google Shape;830;p38"/>
          <p:cNvSpPr txBox="1"/>
          <p:nvPr/>
        </p:nvSpPr>
        <p:spPr>
          <a:xfrm>
            <a:off x="457200" y="1180948"/>
            <a:ext cx="8001000" cy="114300"/>
          </a:xfrm>
          <a:prstGeom prst="rect">
            <a:avLst/>
          </a:prstGeom>
          <a:noFill/>
          <a:ln>
            <a:noFill/>
          </a:ln>
        </p:spPr>
        <p:txBody>
          <a:bodyPr spcFirstLastPara="1" wrap="square" lIns="0" tIns="0" rIns="0" bIns="0" anchor="ctr">
            <a:noAutofit/>
          </a:bodyPr>
          <a:lstStyle/>
          <a:p>
            <a:pPr>
              <a:buClr>
                <a:srgbClr val="706E6C"/>
              </a:buClr>
              <a:buSzPts val="1425"/>
              <a:buNone/>
            </a:pPr>
            <a:r>
              <a:rPr sz="713">
                <a:solidFill>
                  <a:srgbClr val="706E6C"/>
                </a:solidFill>
                <a:latin typeface="Arial"/>
                <a:ea typeface="Arial"/>
                <a:cs typeface="Arial"/>
              </a:rPr>
              <a:t>Same server and lookup workload. Protocols differ. This measures cached read throughput, not freshness.</a:t>
            </a:r>
            <a:endParaRPr sz="713">
              <a:solidFill>
                <a:schemeClr val="dk1"/>
              </a:solidFill>
              <a:latin typeface="Arial"/>
              <a:ea typeface="Arial"/>
              <a:cs typeface="Arial"/>
            </a:endParaRPr>
          </a:p>
        </p:txBody>
      </p:sp>
      <p:sp>
        <p:nvSpPr>
          <p:cNvPr id="831" name="Google Shape;831;p38"/>
          <p:cNvSpPr txBox="1"/>
          <p:nvPr/>
        </p:nvSpPr>
        <p:spPr>
          <a:xfrm>
            <a:off x="457200" y="1371600"/>
            <a:ext cx="8001000" cy="81382"/>
          </a:xfrm>
          <a:prstGeom prst="rect">
            <a:avLst/>
          </a:prstGeom>
          <a:noFill/>
          <a:ln>
            <a:noFill/>
          </a:ln>
        </p:spPr>
        <p:txBody>
          <a:bodyPr spcFirstLastPara="1" wrap="square" lIns="0" tIns="0" rIns="0" bIns="0" anchor="ctr">
            <a:noAutofit/>
          </a:bodyPr>
          <a:lstStyle/>
          <a:p>
            <a:pPr>
              <a:buClr>
                <a:srgbClr val="555555"/>
              </a:buClr>
              <a:buSzPts val="975"/>
              <a:buNone/>
            </a:pPr>
            <a:r>
              <a:rPr sz="488" b="1">
                <a:solidFill>
                  <a:srgbClr val="555555"/>
                </a:solidFill>
                <a:latin typeface="Arial"/>
                <a:ea typeface="Arial"/>
                <a:cs typeface="Arial"/>
              </a:rPr>
              <a:t>Readyset Engineering · Maximum Query Throughput · Table 3 (separate comparison run)</a:t>
            </a:r>
            <a:endParaRPr sz="488">
              <a:solidFill>
                <a:schemeClr val="dk1"/>
              </a:solidFill>
              <a:latin typeface="Arial"/>
              <a:ea typeface="Arial"/>
              <a:cs typeface="Arial"/>
            </a:endParaRPr>
          </a:p>
        </p:txBody>
      </p:sp>
      <p:pic>
        <p:nvPicPr>
          <p:cNvPr id="832" name="Google Shape;832;p38" descr="gen-dedup-601b275666b2faa7df4fd1a3cd0047b2.jpg"/>
          <p:cNvPicPr preferRelativeResize="0"/>
          <p:nvPr/>
        </p:nvPicPr>
        <p:blipFill rotWithShape="1">
          <a:blip r:embed="rId3">
            <a:alphaModFix/>
          </a:blip>
          <a:srcRect l="-10769" r="-10769"/>
          <a:stretch/>
        </p:blipFill>
        <p:spPr>
          <a:xfrm>
            <a:off x="552298" y="1619403"/>
            <a:ext cx="7810348" cy="1857604"/>
          </a:xfrm>
          <a:prstGeom prst="rect">
            <a:avLst/>
          </a:prstGeom>
          <a:noFill/>
          <a:ln>
            <a:noFill/>
          </a:ln>
        </p:spPr>
      </p:pic>
      <p:sp>
        <p:nvSpPr>
          <p:cNvPr id="833" name="Google Shape;833;p38"/>
          <p:cNvSpPr txBox="1"/>
          <p:nvPr/>
        </p:nvSpPr>
        <p:spPr>
          <a:xfrm>
            <a:off x="600304" y="3800704"/>
            <a:ext cx="1619403" cy="81382"/>
          </a:xfrm>
          <a:prstGeom prst="rect">
            <a:avLst/>
          </a:prstGeom>
          <a:noFill/>
          <a:ln>
            <a:noFill/>
          </a:ln>
        </p:spPr>
        <p:txBody>
          <a:bodyPr spcFirstLastPara="1" wrap="square" lIns="0" tIns="0" rIns="0" bIns="0" anchor="ctr" anchorCtr="0">
            <a:noAutofit/>
          </a:bodyPr>
          <a:lstStyle/>
          <a:p>
            <a:pPr>
              <a:buClr>
                <a:srgbClr val="555555"/>
              </a:buClr>
              <a:buSzPts val="975"/>
            </a:pPr>
            <a:r>
              <a:rPr lang="en-US" sz="488">
                <a:solidFill>
                  <a:srgbClr val="EEEEEE"/>
                </a:solidFill>
                <a:latin typeface="Arial"/>
                <a:ea typeface="Arial"/>
                <a:cs typeface="Arial"/>
                <a:sym typeface="IBM Plex Mono"/>
              </a:rPr>
              <a:t>01 · Readyset</a:t>
            </a:r>
            <a:endParaRPr sz="488">
              <a:solidFill>
                <a:schemeClr val="dk1"/>
              </a:solidFill>
              <a:latin typeface="Arial"/>
              <a:ea typeface="Arial"/>
              <a:cs typeface="Arial"/>
              <a:sym typeface="Arial"/>
            </a:endParaRPr>
          </a:p>
        </p:txBody>
      </p:sp>
      <p:sp>
        <p:nvSpPr>
          <p:cNvPr id="834" name="Google Shape;834;p38"/>
          <p:cNvSpPr txBox="1"/>
          <p:nvPr/>
        </p:nvSpPr>
        <p:spPr>
          <a:xfrm>
            <a:off x="600304" y="3919576"/>
            <a:ext cx="1727759" cy="190653"/>
          </a:xfrm>
          <a:prstGeom prst="rect">
            <a:avLst/>
          </a:prstGeom>
          <a:noFill/>
          <a:ln>
            <a:noFill/>
          </a:ln>
        </p:spPr>
        <p:txBody>
          <a:bodyPr spcFirstLastPara="1" wrap="square" lIns="0" tIns="0" rIns="0" bIns="0" anchor="ctr">
            <a:noAutofit/>
          </a:bodyPr>
          <a:lstStyle/>
          <a:p>
            <a:pPr>
              <a:buClr>
                <a:srgbClr val="EDEDEC"/>
              </a:buClr>
              <a:buSzPts val="2850"/>
              <a:buNone/>
            </a:pPr>
            <a:r>
              <a:rPr sz="1425" b="1">
                <a:solidFill>
                  <a:srgbClr val="EDEDEC"/>
                </a:solidFill>
                <a:latin typeface="Arial"/>
                <a:ea typeface="Arial"/>
                <a:cs typeface="Arial"/>
              </a:rPr>
              <a:t>4.33 M peak QPS</a:t>
            </a:r>
            <a:endParaRPr sz="1425">
              <a:solidFill>
                <a:schemeClr val="dk1"/>
              </a:solidFill>
              <a:latin typeface="Arial"/>
              <a:ea typeface="Arial"/>
              <a:cs typeface="Arial"/>
            </a:endParaRPr>
          </a:p>
        </p:txBody>
      </p:sp>
      <p:sp>
        <p:nvSpPr>
          <p:cNvPr id="835" name="Google Shape;835;p38"/>
          <p:cNvSpPr txBox="1"/>
          <p:nvPr/>
        </p:nvSpPr>
        <p:spPr>
          <a:xfrm>
            <a:off x="600304" y="4165092"/>
            <a:ext cx="1619403" cy="301752"/>
          </a:xfrm>
          <a:prstGeom prst="rect">
            <a:avLst/>
          </a:prstGeom>
          <a:noFill/>
          <a:ln>
            <a:noFill/>
          </a:ln>
        </p:spPr>
        <p:txBody>
          <a:bodyPr spcFirstLastPara="1" wrap="square" lIns="0" tIns="0" rIns="0" bIns="0" anchor="t">
            <a:noAutofit/>
          </a:bodyPr>
          <a:lstStyle/>
          <a:p>
            <a:pPr>
              <a:lnSpc>
                <a:spcPct val="154974"/>
              </a:lnSpc>
              <a:buClr>
                <a:srgbClr val="EDEDEC"/>
              </a:buClr>
              <a:buSzPts val="975"/>
              <a:buNone/>
            </a:pPr>
            <a:r>
              <a:rPr sz="488">
                <a:solidFill>
                  <a:srgbClr val="EDEDEC"/>
                </a:solidFill>
                <a:latin typeface="Arial"/>
                <a:ea typeface="Arial"/>
                <a:cs typeface="Arial"/>
              </a:rPr>
              <a:t>Deep cache, query logging off</a:t>
            </a:r>
            <a:endParaRPr sz="488">
              <a:solidFill>
                <a:schemeClr val="dk1"/>
              </a:solidFill>
              <a:latin typeface="Arial"/>
              <a:ea typeface="Arial"/>
              <a:cs typeface="Arial"/>
            </a:endParaRPr>
          </a:p>
          <a:p>
            <a:pPr>
              <a:lnSpc>
                <a:spcPct val="154974"/>
              </a:lnSpc>
              <a:buClr>
                <a:srgbClr val="EDEDEC"/>
              </a:buClr>
              <a:buSzPts val="975"/>
              <a:buNone/>
            </a:pPr>
            <a:r>
              <a:rPr sz="488">
                <a:solidFill>
                  <a:srgbClr val="EDEDEC"/>
                </a:solidFill>
                <a:latin typeface="Arial"/>
                <a:ea typeface="Arial"/>
                <a:cs typeface="Arial"/>
              </a:rPr>
              <a:t>24 runtime shards</a:t>
            </a:r>
            <a:endParaRPr sz="488">
              <a:solidFill>
                <a:schemeClr val="dk1"/>
              </a:solidFill>
              <a:latin typeface="Arial"/>
              <a:ea typeface="Arial"/>
              <a:cs typeface="Arial"/>
            </a:endParaRPr>
          </a:p>
          <a:p>
            <a:pPr>
              <a:lnSpc>
                <a:spcPct val="154974"/>
              </a:lnSpc>
              <a:buClr>
                <a:srgbClr val="EDEDEC"/>
              </a:buClr>
              <a:buSzPts val="975"/>
              <a:buNone/>
            </a:pPr>
            <a:r>
              <a:rPr sz="488">
                <a:solidFill>
                  <a:srgbClr val="EDEDEC"/>
                </a:solidFill>
                <a:latin typeface="Arial"/>
                <a:ea typeface="Arial"/>
                <a:cs typeface="Arial"/>
              </a:rPr>
              <a:t>MySQL binary protocol</a:t>
            </a:r>
            <a:endParaRPr sz="488">
              <a:solidFill>
                <a:schemeClr val="dk1"/>
              </a:solidFill>
              <a:latin typeface="Arial"/>
              <a:ea typeface="Arial"/>
              <a:cs typeface="Arial"/>
            </a:endParaRPr>
          </a:p>
        </p:txBody>
      </p:sp>
      <p:sp>
        <p:nvSpPr>
          <p:cNvPr id="836" name="Google Shape;836;p38"/>
          <p:cNvSpPr txBox="1"/>
          <p:nvPr/>
        </p:nvSpPr>
        <p:spPr>
          <a:xfrm>
            <a:off x="2600554" y="3800704"/>
            <a:ext cx="1619403" cy="81382"/>
          </a:xfrm>
          <a:prstGeom prst="rect">
            <a:avLst/>
          </a:prstGeom>
          <a:noFill/>
          <a:ln>
            <a:noFill/>
          </a:ln>
        </p:spPr>
        <p:txBody>
          <a:bodyPr spcFirstLastPara="1" wrap="square" lIns="0" tIns="0" rIns="0" bIns="0" anchor="ctr" anchorCtr="0">
            <a:noAutofit/>
          </a:bodyPr>
          <a:lstStyle/>
          <a:p>
            <a:pPr>
              <a:buClr>
                <a:srgbClr val="555555"/>
              </a:buClr>
              <a:buSzPts val="975"/>
            </a:pPr>
            <a:r>
              <a:rPr lang="en-US" sz="488">
                <a:solidFill>
                  <a:srgbClr val="555555"/>
                </a:solidFill>
                <a:latin typeface="Arial"/>
                <a:ea typeface="Arial"/>
                <a:cs typeface="Arial"/>
                <a:sym typeface="IBM Plex Mono"/>
              </a:rPr>
              <a:t>02 · PostgreSQL 16</a:t>
            </a:r>
            <a:endParaRPr sz="488">
              <a:solidFill>
                <a:schemeClr val="dk1"/>
              </a:solidFill>
              <a:latin typeface="Arial"/>
              <a:ea typeface="Arial"/>
              <a:cs typeface="Arial"/>
              <a:sym typeface="Arial"/>
            </a:endParaRPr>
          </a:p>
        </p:txBody>
      </p:sp>
      <p:sp>
        <p:nvSpPr>
          <p:cNvPr id="837" name="Google Shape;837;p38"/>
          <p:cNvSpPr txBox="1"/>
          <p:nvPr/>
        </p:nvSpPr>
        <p:spPr>
          <a:xfrm>
            <a:off x="2600554" y="3919576"/>
            <a:ext cx="1727759" cy="190653"/>
          </a:xfrm>
          <a:prstGeom prst="rect">
            <a:avLst/>
          </a:prstGeom>
          <a:noFill/>
          <a:ln>
            <a:noFill/>
          </a:ln>
        </p:spPr>
        <p:txBody>
          <a:bodyPr spcFirstLastPara="1" wrap="square" lIns="0" tIns="0" rIns="0" bIns="0" anchor="ctr" anchorCtr="0">
            <a:noAutofit/>
          </a:bodyPr>
          <a:lstStyle/>
          <a:p>
            <a:pPr>
              <a:buClr>
                <a:srgbClr val="161615"/>
              </a:buClr>
              <a:buSzPts val="2850"/>
            </a:pPr>
            <a:r>
              <a:rPr lang="en-US" sz="1425" b="1">
                <a:solidFill>
                  <a:srgbClr val="161615"/>
                </a:solidFill>
                <a:latin typeface="Arial"/>
                <a:ea typeface="Arial"/>
                <a:cs typeface="Arial"/>
                <a:sym typeface="Arial"/>
              </a:rPr>
              <a:t>2.18 M </a:t>
            </a:r>
            <a:r>
              <a:rPr lang="en-US" sz="675" b="1">
                <a:solidFill>
                  <a:srgbClr val="706E6C"/>
                </a:solidFill>
                <a:latin typeface="Arial"/>
                <a:ea typeface="Arial"/>
                <a:cs typeface="Arial"/>
                <a:sym typeface="Arial"/>
              </a:rPr>
              <a:t>peak QPS</a:t>
            </a:r>
            <a:endParaRPr sz="1425">
              <a:solidFill>
                <a:schemeClr val="dk1"/>
              </a:solidFill>
              <a:latin typeface="Arial"/>
              <a:ea typeface="Arial"/>
              <a:cs typeface="Arial"/>
              <a:sym typeface="Arial"/>
            </a:endParaRPr>
          </a:p>
        </p:txBody>
      </p:sp>
      <p:sp>
        <p:nvSpPr>
          <p:cNvPr id="838" name="Google Shape;838;p38"/>
          <p:cNvSpPr txBox="1"/>
          <p:nvPr/>
        </p:nvSpPr>
        <p:spPr>
          <a:xfrm>
            <a:off x="2600554" y="4165092"/>
            <a:ext cx="1619403" cy="396850"/>
          </a:xfrm>
          <a:prstGeom prst="rect">
            <a:avLst/>
          </a:prstGeom>
          <a:noFill/>
          <a:ln>
            <a:noFill/>
          </a:ln>
        </p:spPr>
        <p:txBody>
          <a:bodyPr spcFirstLastPara="1" wrap="square" lIns="0" tIns="0" rIns="0" bIns="0" anchor="t" anchorCtr="0">
            <a:noAutofit/>
          </a:bodyPr>
          <a:lstStyle/>
          <a:p>
            <a:pPr>
              <a:lnSpc>
                <a:spcPct val="154974"/>
              </a:lnSpc>
              <a:buClr>
                <a:srgbClr val="161615"/>
              </a:buClr>
              <a:buSzPts val="975"/>
            </a:pPr>
            <a:r>
              <a:rPr lang="en-US" sz="488">
                <a:solidFill>
                  <a:srgbClr val="161615"/>
                </a:solidFill>
                <a:latin typeface="Arial"/>
                <a:ea typeface="Arial"/>
                <a:cs typeface="Arial"/>
                <a:sym typeface="IBM Plex Mono"/>
              </a:rPr>
              <a:t>max_connections:</a:t>
            </a:r>
            <a:r>
              <a:rPr lang="en-US" sz="488">
                <a:solidFill>
                  <a:srgbClr val="706E6C"/>
                </a:solidFill>
                <a:latin typeface="Arial"/>
                <a:ea typeface="Arial"/>
                <a:cs typeface="Arial"/>
                <a:sym typeface="IBM Plex Mono"/>
              </a:rPr>
              <a:t> 10,000</a:t>
            </a:r>
            <a:endParaRPr sz="488">
              <a:solidFill>
                <a:schemeClr val="dk1"/>
              </a:solidFill>
              <a:latin typeface="Arial"/>
              <a:ea typeface="Arial"/>
              <a:cs typeface="Arial"/>
              <a:sym typeface="Arial"/>
            </a:endParaRPr>
          </a:p>
          <a:p>
            <a:pPr>
              <a:lnSpc>
                <a:spcPct val="154974"/>
              </a:lnSpc>
              <a:buClr>
                <a:srgbClr val="161615"/>
              </a:buClr>
              <a:buSzPts val="975"/>
            </a:pPr>
            <a:r>
              <a:rPr lang="en-US" sz="488">
                <a:solidFill>
                  <a:srgbClr val="161615"/>
                </a:solidFill>
                <a:latin typeface="Arial"/>
                <a:ea typeface="Arial"/>
                <a:cs typeface="Arial"/>
                <a:sym typeface="IBM Plex Mono"/>
              </a:rPr>
              <a:t>shared_buffers:</a:t>
            </a:r>
            <a:r>
              <a:rPr lang="en-US" sz="488">
                <a:solidFill>
                  <a:srgbClr val="706E6C"/>
                </a:solidFill>
                <a:latin typeface="Arial"/>
                <a:ea typeface="Arial"/>
                <a:cs typeface="Arial"/>
                <a:sym typeface="IBM Plex Mono"/>
              </a:rPr>
              <a:t> 8 GiB</a:t>
            </a:r>
            <a:endParaRPr sz="488">
              <a:solidFill>
                <a:schemeClr val="dk1"/>
              </a:solidFill>
              <a:latin typeface="Arial"/>
              <a:ea typeface="Arial"/>
              <a:cs typeface="Arial"/>
              <a:sym typeface="Arial"/>
            </a:endParaRPr>
          </a:p>
          <a:p>
            <a:pPr>
              <a:lnSpc>
                <a:spcPct val="154974"/>
              </a:lnSpc>
              <a:buClr>
                <a:srgbClr val="161615"/>
              </a:buClr>
              <a:buSzPts val="975"/>
            </a:pPr>
            <a:r>
              <a:rPr lang="en-US" sz="488">
                <a:solidFill>
                  <a:srgbClr val="161615"/>
                </a:solidFill>
                <a:latin typeface="Arial"/>
                <a:ea typeface="Arial"/>
                <a:cs typeface="Arial"/>
                <a:sym typeface="IBM Plex Mono"/>
              </a:rPr>
              <a:t>model:</a:t>
            </a:r>
            <a:r>
              <a:rPr lang="en-US" sz="488">
                <a:solidFill>
                  <a:srgbClr val="706E6C"/>
                </a:solidFill>
                <a:latin typeface="Arial"/>
                <a:ea typeface="Arial"/>
                <a:cs typeface="Arial"/>
                <a:sym typeface="IBM Plex Mono"/>
              </a:rPr>
              <a:t> one backend / conn · JIT &amp; parallel off</a:t>
            </a:r>
            <a:endParaRPr sz="488">
              <a:solidFill>
                <a:schemeClr val="dk1"/>
              </a:solidFill>
              <a:latin typeface="Arial"/>
              <a:ea typeface="Arial"/>
              <a:cs typeface="Arial"/>
              <a:sym typeface="Arial"/>
            </a:endParaRPr>
          </a:p>
        </p:txBody>
      </p:sp>
      <p:sp>
        <p:nvSpPr>
          <p:cNvPr id="839" name="Google Shape;839;p38"/>
          <p:cNvSpPr txBox="1"/>
          <p:nvPr/>
        </p:nvSpPr>
        <p:spPr>
          <a:xfrm>
            <a:off x="4600804" y="3800704"/>
            <a:ext cx="1619403" cy="81382"/>
          </a:xfrm>
          <a:prstGeom prst="rect">
            <a:avLst/>
          </a:prstGeom>
          <a:noFill/>
          <a:ln>
            <a:noFill/>
          </a:ln>
        </p:spPr>
        <p:txBody>
          <a:bodyPr spcFirstLastPara="1" wrap="square" lIns="0" tIns="0" rIns="0" bIns="0" anchor="ctr" anchorCtr="0">
            <a:noAutofit/>
          </a:bodyPr>
          <a:lstStyle/>
          <a:p>
            <a:pPr>
              <a:buClr>
                <a:srgbClr val="555555"/>
              </a:buClr>
              <a:buSzPts val="975"/>
            </a:pPr>
            <a:r>
              <a:rPr lang="en-US" sz="488">
                <a:solidFill>
                  <a:srgbClr val="555555"/>
                </a:solidFill>
                <a:latin typeface="Arial"/>
                <a:ea typeface="Arial"/>
                <a:cs typeface="Arial"/>
                <a:sym typeface="IBM Plex Mono"/>
              </a:rPr>
              <a:t>03 · PostgreSQL + pgbouncer</a:t>
            </a:r>
            <a:endParaRPr sz="488">
              <a:solidFill>
                <a:schemeClr val="dk1"/>
              </a:solidFill>
              <a:latin typeface="Arial"/>
              <a:ea typeface="Arial"/>
              <a:cs typeface="Arial"/>
              <a:sym typeface="Arial"/>
            </a:endParaRPr>
          </a:p>
        </p:txBody>
      </p:sp>
      <p:sp>
        <p:nvSpPr>
          <p:cNvPr id="840" name="Google Shape;840;p38"/>
          <p:cNvSpPr txBox="1"/>
          <p:nvPr/>
        </p:nvSpPr>
        <p:spPr>
          <a:xfrm>
            <a:off x="4600804" y="3919576"/>
            <a:ext cx="1727759" cy="190653"/>
          </a:xfrm>
          <a:prstGeom prst="rect">
            <a:avLst/>
          </a:prstGeom>
          <a:noFill/>
          <a:ln>
            <a:noFill/>
          </a:ln>
        </p:spPr>
        <p:txBody>
          <a:bodyPr spcFirstLastPara="1" wrap="square" lIns="0" tIns="0" rIns="0" bIns="0" anchor="ctr" anchorCtr="0">
            <a:noAutofit/>
          </a:bodyPr>
          <a:lstStyle/>
          <a:p>
            <a:pPr>
              <a:buClr>
                <a:srgbClr val="161615"/>
              </a:buClr>
              <a:buSzPts val="2850"/>
            </a:pPr>
            <a:r>
              <a:rPr lang="en-US" sz="1425" b="1">
                <a:solidFill>
                  <a:srgbClr val="161615"/>
                </a:solidFill>
                <a:latin typeface="Arial"/>
                <a:ea typeface="Arial"/>
                <a:cs typeface="Arial"/>
                <a:sym typeface="Arial"/>
              </a:rPr>
              <a:t>1.80 M </a:t>
            </a:r>
            <a:r>
              <a:rPr lang="en-US" sz="675" b="1">
                <a:solidFill>
                  <a:srgbClr val="706E6C"/>
                </a:solidFill>
                <a:latin typeface="Arial"/>
                <a:ea typeface="Arial"/>
                <a:cs typeface="Arial"/>
                <a:sym typeface="Arial"/>
              </a:rPr>
              <a:t>peak QPS</a:t>
            </a:r>
            <a:endParaRPr sz="1425">
              <a:solidFill>
                <a:schemeClr val="dk1"/>
              </a:solidFill>
              <a:latin typeface="Arial"/>
              <a:ea typeface="Arial"/>
              <a:cs typeface="Arial"/>
              <a:sym typeface="Arial"/>
            </a:endParaRPr>
          </a:p>
        </p:txBody>
      </p:sp>
      <p:sp>
        <p:nvSpPr>
          <p:cNvPr id="841" name="Google Shape;841;p38"/>
          <p:cNvSpPr txBox="1"/>
          <p:nvPr/>
        </p:nvSpPr>
        <p:spPr>
          <a:xfrm>
            <a:off x="4600804" y="4165092"/>
            <a:ext cx="1619403" cy="396850"/>
          </a:xfrm>
          <a:prstGeom prst="rect">
            <a:avLst/>
          </a:prstGeom>
          <a:noFill/>
          <a:ln>
            <a:noFill/>
          </a:ln>
        </p:spPr>
        <p:txBody>
          <a:bodyPr spcFirstLastPara="1" wrap="square" lIns="0" tIns="0" rIns="0" bIns="0" anchor="t">
            <a:noAutofit/>
          </a:bodyPr>
          <a:lstStyle/>
          <a:p>
            <a:pPr>
              <a:lnSpc>
                <a:spcPct val="154974"/>
              </a:lnSpc>
              <a:buClr>
                <a:srgbClr val="161615"/>
              </a:buClr>
              <a:buSzPts val="975"/>
              <a:buNone/>
            </a:pPr>
            <a:r>
              <a:rPr sz="488">
                <a:solidFill>
                  <a:srgbClr val="161615"/>
                </a:solidFill>
                <a:latin typeface="Arial"/>
                <a:ea typeface="Arial"/>
                <a:cs typeface="Arial"/>
              </a:rPr>
              <a:t>Transaction pool: 6 instances per generator</a:t>
            </a:r>
            <a:endParaRPr sz="488">
              <a:solidFill>
                <a:schemeClr val="dk1"/>
              </a:solidFill>
              <a:latin typeface="Arial"/>
              <a:ea typeface="Arial"/>
              <a:cs typeface="Arial"/>
            </a:endParaRPr>
          </a:p>
          <a:p>
            <a:pPr>
              <a:lnSpc>
                <a:spcPct val="154974"/>
              </a:lnSpc>
              <a:buClr>
                <a:srgbClr val="161615"/>
              </a:buClr>
              <a:buSzPts val="975"/>
              <a:buNone/>
            </a:pPr>
            <a:r>
              <a:rPr sz="488">
                <a:solidFill>
                  <a:srgbClr val="161615"/>
                </a:solidFill>
                <a:latin typeface="Arial"/>
                <a:ea typeface="Arial"/>
                <a:cs typeface="Arial"/>
              </a:rPr>
              <a:t>Prepared statements: 200</a:t>
            </a:r>
            <a:endParaRPr sz="488">
              <a:solidFill>
                <a:schemeClr val="dk1"/>
              </a:solidFill>
              <a:latin typeface="Arial"/>
              <a:ea typeface="Arial"/>
              <a:cs typeface="Arial"/>
            </a:endParaRPr>
          </a:p>
          <a:p>
            <a:pPr>
              <a:lnSpc>
                <a:spcPct val="154974"/>
              </a:lnSpc>
              <a:buClr>
                <a:srgbClr val="161615"/>
              </a:buClr>
              <a:buSzPts val="975"/>
              <a:buNone/>
            </a:pPr>
            <a:r>
              <a:rPr sz="488">
                <a:solidFill>
                  <a:srgbClr val="161615"/>
                </a:solidFill>
                <a:latin typeface="Arial"/>
                <a:ea typeface="Arial"/>
                <a:cs typeface="Arial"/>
              </a:rPr>
              <a:t>Database connections: about 1,050</a:t>
            </a:r>
            <a:endParaRPr sz="488">
              <a:solidFill>
                <a:schemeClr val="dk1"/>
              </a:solidFill>
              <a:latin typeface="Arial"/>
              <a:ea typeface="Arial"/>
              <a:cs typeface="Arial"/>
            </a:endParaRPr>
          </a:p>
        </p:txBody>
      </p:sp>
      <p:sp>
        <p:nvSpPr>
          <p:cNvPr id="842" name="Google Shape;842;p38"/>
          <p:cNvSpPr txBox="1"/>
          <p:nvPr/>
        </p:nvSpPr>
        <p:spPr>
          <a:xfrm>
            <a:off x="6601054" y="3800704"/>
            <a:ext cx="1714500" cy="81382"/>
          </a:xfrm>
          <a:prstGeom prst="rect">
            <a:avLst/>
          </a:prstGeom>
          <a:noFill/>
          <a:ln>
            <a:noFill/>
          </a:ln>
        </p:spPr>
        <p:txBody>
          <a:bodyPr spcFirstLastPara="1" wrap="square" lIns="0" tIns="0" rIns="0" bIns="0" anchor="ctr">
            <a:noAutofit/>
          </a:bodyPr>
          <a:lstStyle/>
          <a:p>
            <a:pPr>
              <a:buClr>
                <a:srgbClr val="555555"/>
              </a:buClr>
              <a:buSzPts val="975"/>
              <a:buNone/>
            </a:pPr>
            <a:r>
              <a:rPr sz="488">
                <a:solidFill>
                  <a:srgbClr val="555555"/>
                </a:solidFill>
                <a:latin typeface="Arial"/>
                <a:ea typeface="Arial"/>
                <a:cs typeface="Arial"/>
              </a:rPr>
              <a:t>04 · Percona MySQL 8.4</a:t>
            </a:r>
            <a:endParaRPr sz="488">
              <a:solidFill>
                <a:schemeClr val="dk1"/>
              </a:solidFill>
              <a:latin typeface="Arial"/>
              <a:ea typeface="Arial"/>
              <a:cs typeface="Arial"/>
            </a:endParaRPr>
          </a:p>
        </p:txBody>
      </p:sp>
      <p:sp>
        <p:nvSpPr>
          <p:cNvPr id="843" name="Google Shape;843;p38"/>
          <p:cNvSpPr txBox="1"/>
          <p:nvPr/>
        </p:nvSpPr>
        <p:spPr>
          <a:xfrm>
            <a:off x="6601054" y="3919576"/>
            <a:ext cx="1714500" cy="190653"/>
          </a:xfrm>
          <a:prstGeom prst="rect">
            <a:avLst/>
          </a:prstGeom>
          <a:noFill/>
          <a:ln>
            <a:noFill/>
          </a:ln>
        </p:spPr>
        <p:txBody>
          <a:bodyPr spcFirstLastPara="1" wrap="square" lIns="0" tIns="0" rIns="0" bIns="0" anchor="ctr" anchorCtr="0">
            <a:noAutofit/>
          </a:bodyPr>
          <a:lstStyle/>
          <a:p>
            <a:pPr>
              <a:buClr>
                <a:srgbClr val="161615"/>
              </a:buClr>
              <a:buSzPts val="2850"/>
            </a:pPr>
            <a:r>
              <a:rPr lang="en-US" sz="1425" b="1">
                <a:solidFill>
                  <a:srgbClr val="161615"/>
                </a:solidFill>
                <a:latin typeface="Arial"/>
                <a:ea typeface="Arial"/>
                <a:cs typeface="Arial"/>
                <a:sym typeface="Arial"/>
              </a:rPr>
              <a:t>1.57 M </a:t>
            </a:r>
            <a:r>
              <a:rPr lang="en-US" sz="675" b="1">
                <a:solidFill>
                  <a:srgbClr val="706E6C"/>
                </a:solidFill>
                <a:latin typeface="Arial"/>
                <a:ea typeface="Arial"/>
                <a:cs typeface="Arial"/>
                <a:sym typeface="Arial"/>
              </a:rPr>
              <a:t>peak QPS</a:t>
            </a:r>
            <a:endParaRPr sz="1425">
              <a:solidFill>
                <a:schemeClr val="dk1"/>
              </a:solidFill>
              <a:latin typeface="Arial"/>
              <a:ea typeface="Arial"/>
              <a:cs typeface="Arial"/>
              <a:sym typeface="Arial"/>
            </a:endParaRPr>
          </a:p>
        </p:txBody>
      </p:sp>
      <p:sp>
        <p:nvSpPr>
          <p:cNvPr id="844" name="Google Shape;844;p38"/>
          <p:cNvSpPr txBox="1"/>
          <p:nvPr/>
        </p:nvSpPr>
        <p:spPr>
          <a:xfrm>
            <a:off x="6601054" y="4165092"/>
            <a:ext cx="1714500" cy="301752"/>
          </a:xfrm>
          <a:prstGeom prst="rect">
            <a:avLst/>
          </a:prstGeom>
          <a:noFill/>
          <a:ln>
            <a:noFill/>
          </a:ln>
        </p:spPr>
        <p:txBody>
          <a:bodyPr spcFirstLastPara="1" wrap="square" lIns="0" tIns="0" rIns="0" bIns="0" anchor="t" anchorCtr="0">
            <a:noAutofit/>
          </a:bodyPr>
          <a:lstStyle/>
          <a:p>
            <a:pPr>
              <a:lnSpc>
                <a:spcPct val="154974"/>
              </a:lnSpc>
              <a:buClr>
                <a:srgbClr val="161615"/>
              </a:buClr>
              <a:buSzPts val="975"/>
            </a:pPr>
            <a:r>
              <a:rPr lang="en-US" sz="488">
                <a:solidFill>
                  <a:srgbClr val="161615"/>
                </a:solidFill>
                <a:latin typeface="Arial"/>
                <a:ea typeface="Arial"/>
                <a:cs typeface="Arial"/>
                <a:sym typeface="IBM Plex Mono"/>
              </a:rPr>
              <a:t>thread handling:</a:t>
            </a:r>
            <a:r>
              <a:rPr lang="en-US" sz="488">
                <a:solidFill>
                  <a:srgbClr val="706E6C"/>
                </a:solidFill>
                <a:latin typeface="Arial"/>
                <a:ea typeface="Arial"/>
                <a:cs typeface="Arial"/>
                <a:sym typeface="IBM Plex Mono"/>
              </a:rPr>
              <a:t> pool-of-threads</a:t>
            </a:r>
            <a:endParaRPr sz="488">
              <a:solidFill>
                <a:schemeClr val="dk1"/>
              </a:solidFill>
              <a:latin typeface="Arial"/>
              <a:ea typeface="Arial"/>
              <a:cs typeface="Arial"/>
              <a:sym typeface="Arial"/>
            </a:endParaRPr>
          </a:p>
          <a:p>
            <a:pPr>
              <a:lnSpc>
                <a:spcPct val="154974"/>
              </a:lnSpc>
              <a:buClr>
                <a:srgbClr val="161615"/>
              </a:buClr>
              <a:buSzPts val="975"/>
            </a:pPr>
            <a:r>
              <a:rPr lang="en-US" sz="488">
                <a:solidFill>
                  <a:srgbClr val="161615"/>
                </a:solidFill>
                <a:latin typeface="Arial"/>
                <a:ea typeface="Arial"/>
                <a:cs typeface="Arial"/>
                <a:sym typeface="IBM Plex Mono"/>
              </a:rPr>
              <a:t>thread_pool_size:</a:t>
            </a:r>
            <a:r>
              <a:rPr lang="en-US" sz="488">
                <a:solidFill>
                  <a:srgbClr val="706E6C"/>
                </a:solidFill>
                <a:latin typeface="Arial"/>
                <a:ea typeface="Arial"/>
                <a:cs typeface="Arial"/>
                <a:sym typeface="IBM Plex Mono"/>
              </a:rPr>
              <a:t> 96</a:t>
            </a:r>
            <a:endParaRPr sz="488">
              <a:solidFill>
                <a:schemeClr val="dk1"/>
              </a:solidFill>
              <a:latin typeface="Arial"/>
              <a:ea typeface="Arial"/>
              <a:cs typeface="Arial"/>
              <a:sym typeface="Arial"/>
            </a:endParaRPr>
          </a:p>
          <a:p>
            <a:pPr>
              <a:lnSpc>
                <a:spcPct val="154974"/>
              </a:lnSpc>
              <a:buClr>
                <a:srgbClr val="161615"/>
              </a:buClr>
              <a:buSzPts val="975"/>
            </a:pPr>
            <a:r>
              <a:rPr lang="en-US" sz="488">
                <a:solidFill>
                  <a:srgbClr val="161615"/>
                </a:solidFill>
                <a:latin typeface="Arial"/>
                <a:ea typeface="Arial"/>
                <a:cs typeface="Arial"/>
                <a:sym typeface="IBM Plex Mono"/>
              </a:rPr>
              <a:t>buffer_pool:</a:t>
            </a:r>
            <a:r>
              <a:rPr lang="en-US" sz="488">
                <a:solidFill>
                  <a:srgbClr val="706E6C"/>
                </a:solidFill>
                <a:latin typeface="Arial"/>
                <a:ea typeface="Arial"/>
                <a:cs typeface="Arial"/>
                <a:sym typeface="IBM Plex Mono"/>
              </a:rPr>
              <a:t> 8 GiB · conns multiplexed</a:t>
            </a:r>
            <a:endParaRPr sz="488">
              <a:solidFill>
                <a:schemeClr val="dk1"/>
              </a:solidFill>
              <a:latin typeface="Arial"/>
              <a:ea typeface="Arial"/>
              <a:cs typeface="Arial"/>
              <a:sym typeface="Arial"/>
            </a:endParaRPr>
          </a:p>
        </p:txBody>
      </p:sp>
      <p:pic>
        <p:nvPicPr>
          <p:cNvPr id="9040" name="Readyset standard logo 40"/>
          <p:cNvPicPr>
            <a:picLocks noChangeAspect="1"/>
          </p:cNvPicPr>
          <p:nvPr/>
        </p:nvPicPr>
        <p:blipFill>
          <a:blip r:embed="rId4"/>
          <a:stretch/>
        </p:blipFill>
        <p:spPr>
          <a:xfrm>
            <a:off x="457200" y="239275"/>
            <a:ext cx="952500" cy="216776"/>
          </a:xfrm>
          <a:prstGeom prst="rect">
            <a:avLst/>
          </a:prstGeom>
        </p:spPr>
      </p:pic>
      <p:sp>
        <p:nvSpPr>
          <p:cNvPr id="9540"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p:cNvGrpSpPr/>
        <p:nvPr/>
      </p:nvGrpSpPr>
      <p:grpSpPr>
        <a:xfrm>
          <a:off x="0" y="0"/>
          <a:ext cx="0" cy="0"/>
          <a:chOff x="0" y="0"/>
          <a:chExt cx="0" cy="0"/>
        </a:xfrm>
      </p:grpSpPr>
      <p:pic>
        <p:nvPicPr>
          <p:cNvPr id="8" name="Readyset logo" descr="Readyset logo"/>
          <p:cNvPicPr>
            <a:picLocks noChangeAspect="1"/>
          </p:cNvPicPr>
          <p:nvPr/>
        </p:nvPicPr>
        <p:blipFill>
          <a:blip r:embed="rId3"/>
          <a:stretch/>
        </p:blipFill>
        <p:spPr>
          <a:xfrm>
            <a:off x="457200" y="238132"/>
            <a:ext cx="952500" cy="216776"/>
          </a:xfrm>
          <a:prstGeom prst="rect">
            <a:avLst/>
          </a:prstGeom>
        </p:spPr>
      </p:pic>
      <p:sp>
        <p:nvSpPr>
          <p:cNvPr id="3" name="Slide title">
            <a:extLst>
              <a:ext uri="{FF2B5EF4-FFF2-40B4-BE49-F238E27FC236}">
                <a16:creationId xmlns:a16="http://schemas.microsoft.com/office/drawing/2014/main" id="{CF55EE50-5693-4069-BFA2-A6232EDADFFA}"/>
              </a:ext>
            </a:extLst>
          </p:cNvPr>
          <p:cNvSpPr>
            <a:spLocks noGrp="1"/>
          </p:cNvSpPr>
          <p:nvPr/>
        </p:nvSpPr>
        <p:spPr>
          <a:xfrm>
            <a:off x="457200" y="1295400"/>
            <a:ext cx="8096250" cy="971550"/>
          </a:xfrm>
          <a:prstGeom prst="rect">
            <a:avLst/>
          </a:prstGeom>
          <a:noFill/>
          <a:ln w="0">
            <a:noFill/>
          </a:ln>
        </p:spPr>
        <p:txBody>
          <a:bodyPr wrap="none" lIns="0" tIns="0" rIns="0" bIns="0">
            <a:noAutofit/>
          </a:bodyPr>
          <a:lstStyle/>
          <a:p>
            <a:pPr>
              <a:lnSpc>
                <a:spcPct val="110000"/>
              </a:lnSpc>
              <a:buNone/>
              <a:defRPr sz="5700" b="1">
                <a:solidFill>
                  <a:srgbClr val="EDEDEC"/>
                </a:solidFill>
                <a:latin typeface="Arial"/>
                <a:ea typeface="Arial"/>
                <a:cs typeface="Arial"/>
              </a:defRPr>
            </a:pPr>
            <a:r>
              <a:rPr sz="5700" b="1">
                <a:solidFill>
                  <a:srgbClr val="EDEDEC"/>
                </a:solidFill>
                <a:latin typeface="Arial"/>
                <a:ea typeface="Arial"/>
                <a:cs typeface="Arial"/>
              </a:rPr>
              <a:t>Thank you.</a:t>
            </a:r>
          </a:p>
        </p:txBody>
      </p:sp>
      <p:sp>
        <p:nvSpPr>
          <p:cNvPr id="4" name="text-32">
            <a:extLst>
              <a:ext uri="{FF2B5EF4-FFF2-40B4-BE49-F238E27FC236}">
                <a16:creationId xmlns:a16="http://schemas.microsoft.com/office/drawing/2014/main" id="{E4810960-23E2-421F-A9B9-B538FD40DDA5}"/>
              </a:ext>
            </a:extLst>
          </p:cNvPr>
          <p:cNvSpPr>
            <a:spLocks noGrp="1"/>
          </p:cNvSpPr>
          <p:nvPr/>
        </p:nvSpPr>
        <p:spPr>
          <a:xfrm>
            <a:off x="495300" y="2457450"/>
            <a:ext cx="7810500" cy="609600"/>
          </a:xfrm>
          <a:prstGeom prst="rect">
            <a:avLst/>
          </a:prstGeom>
          <a:noFill/>
          <a:ln w="0">
            <a:noFill/>
          </a:ln>
        </p:spPr>
        <p:txBody>
          <a:bodyPr wrap="none" lIns="0" tIns="0" rIns="0" bIns="0">
            <a:noAutofit/>
          </a:bodyPr>
          <a:lstStyle/>
          <a:p>
            <a:pPr>
              <a:lnSpc>
                <a:spcPct val="110000"/>
              </a:lnSpc>
              <a:buNone/>
              <a:defRPr sz="3450" b="0">
                <a:solidFill>
                  <a:srgbClr val="F4F4F4"/>
                </a:solidFill>
                <a:latin typeface="Arial"/>
                <a:ea typeface="Arial"/>
                <a:cs typeface="Arial"/>
              </a:defRPr>
            </a:pPr>
            <a:r>
              <a:rPr sz="3450" b="0">
                <a:solidFill>
                  <a:srgbClr val="F4F4F4"/>
                </a:solidFill>
                <a:latin typeface="Arial"/>
                <a:ea typeface="Arial"/>
                <a:cs typeface="Arial"/>
              </a:rPr>
              <a:t>Questions?</a:t>
            </a:r>
          </a:p>
        </p:txBody>
      </p:sp>
      <p:sp>
        <p:nvSpPr>
          <p:cNvPr id="5" name="text-33">
            <a:extLst>
              <a:ext uri="{FF2B5EF4-FFF2-40B4-BE49-F238E27FC236}">
                <a16:creationId xmlns:a16="http://schemas.microsoft.com/office/drawing/2014/main" id="{5885917F-6C8A-4642-BA52-8C09EE33FDA2}"/>
              </a:ext>
            </a:extLst>
          </p:cNvPr>
          <p:cNvSpPr>
            <a:spLocks noGrp="1"/>
          </p:cNvSpPr>
          <p:nvPr/>
        </p:nvSpPr>
        <p:spPr>
          <a:xfrm>
            <a:off x="495300" y="3476625"/>
            <a:ext cx="7810500" cy="361950"/>
          </a:xfrm>
          <a:prstGeom prst="rect">
            <a:avLst/>
          </a:prstGeom>
          <a:noFill/>
          <a:ln w="0">
            <a:noFill/>
          </a:ln>
        </p:spPr>
        <p:txBody>
          <a:bodyPr wrap="none" lIns="0" tIns="0" rIns="0" bIns="0">
            <a:noAutofit/>
          </a:bodyPr>
          <a:lstStyle/>
          <a:p>
            <a:pPr>
              <a:lnSpc>
                <a:spcPct val="110000"/>
              </a:lnSpc>
              <a:buNone/>
              <a:defRPr sz="2100" b="0">
                <a:solidFill>
                  <a:srgbClr val="EDEDEC"/>
                </a:solidFill>
                <a:latin typeface="Arial"/>
                <a:ea typeface="Arial"/>
                <a:cs typeface="Arial"/>
              </a:defRPr>
            </a:pPr>
            <a:r>
              <a:rPr sz="2100" b="0" dirty="0" err="1">
                <a:solidFill>
                  <a:srgbClr val="EDEDEC"/>
                </a:solidFill>
                <a:latin typeface="Arial"/>
                <a:ea typeface="Arial"/>
                <a:cs typeface="Arial"/>
              </a:rPr>
              <a:t>readyset.io</a:t>
            </a:r>
            <a:endParaRPr sz="2100" b="0" dirty="0">
              <a:solidFill>
                <a:srgbClr val="EDEDEC"/>
              </a:solidFill>
              <a:latin typeface="Arial"/>
              <a:ea typeface="Arial"/>
              <a:cs typeface="Arial"/>
            </a:endParaRPr>
          </a:p>
        </p:txBody>
      </p:sp>
      <p:sp>
        <p:nvSpPr>
          <p:cNvPr id="6" name="text-34">
            <a:extLst>
              <a:ext uri="{FF2B5EF4-FFF2-40B4-BE49-F238E27FC236}">
                <a16:creationId xmlns:a16="http://schemas.microsoft.com/office/drawing/2014/main" id="{F7C1AE75-BF09-4783-AFD7-0A04C84C1ED8}"/>
              </a:ext>
            </a:extLst>
          </p:cNvPr>
          <p:cNvSpPr>
            <a:spLocks noGrp="1"/>
          </p:cNvSpPr>
          <p:nvPr/>
        </p:nvSpPr>
        <p:spPr>
          <a:xfrm>
            <a:off x="495300" y="3905250"/>
            <a:ext cx="7810500" cy="266700"/>
          </a:xfrm>
          <a:prstGeom prst="rect">
            <a:avLst/>
          </a:prstGeom>
          <a:noFill/>
          <a:ln w="0">
            <a:noFill/>
          </a:ln>
        </p:spPr>
        <p:txBody>
          <a:bodyPr wrap="none" lIns="0" tIns="0" rIns="0" bIns="0">
            <a:noAutofit/>
          </a:bodyPr>
          <a:lstStyle/>
          <a:p>
            <a:pPr>
              <a:lnSpc>
                <a:spcPct val="110000"/>
              </a:lnSpc>
              <a:buNone/>
              <a:defRPr sz="1725" b="0">
                <a:solidFill>
                  <a:srgbClr val="EDEDEC"/>
                </a:solidFill>
                <a:latin typeface="Arial"/>
                <a:ea typeface="Arial"/>
                <a:cs typeface="Arial"/>
              </a:defRPr>
            </a:pPr>
            <a:r>
              <a:rPr lang="en-BR" sz="1725" dirty="0">
                <a:solidFill>
                  <a:srgbClr val="EDEDEC"/>
                </a:solidFill>
                <a:latin typeface="Arial"/>
                <a:ea typeface="Arial"/>
                <a:cs typeface="Arial"/>
              </a:rPr>
              <a:t>vinicius@readyset.io</a:t>
            </a:r>
            <a:endParaRPr sz="1725" b="0" dirty="0">
              <a:solidFill>
                <a:srgbClr val="EDEDEC"/>
              </a:solidFill>
              <a:latin typeface="Arial"/>
              <a:ea typeface="Arial"/>
              <a:cs typeface="Arial"/>
            </a:endParaRPr>
          </a:p>
        </p:txBody>
      </p:sp>
      <p:sp>
        <p:nvSpPr>
          <p:cNvPr id="9541"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43</a:t>
            </a:r>
          </a:p>
        </p:txBody>
      </p:sp>
    </p:spTree>
    <p:extLst>
      <p:ext uri="{BB962C8B-B14F-4D97-AF65-F5344CB8AC3E}">
        <p14:creationId xmlns:p14="http://schemas.microsoft.com/office/powerpoint/2010/main" val="1213194415"/>
      </p:ext>
    </p:extLst>
  </p:cSld>
  <p:clrMapOvr>
    <a:masterClrMapping/>
  </p:clrMapOvr>
  <p:transition>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Calibri Light"/>
        <a:cs typeface="Calibri Light"/>
      </a:majorFont>
      <a:minorFont>
        <a:latin typeface="Arial"/>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Calibri Light"/>
        <a:cs typeface="Calibri Light"/>
      </a:majorFont>
      <a:minorFont>
        <a:latin typeface="Arial"/>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3819</TotalTime>
  <Words>6404</Words>
  <Application>Microsoft Macintosh PowerPoint</Application>
  <DocSecurity>0</DocSecurity>
  <PresentationFormat>On-screen Show (16:9)</PresentationFormat>
  <Paragraphs>500</Paragraphs>
  <Slides>43</Slides>
  <Notes>43</Notes>
  <HiddenSlides>0</HiddenSlides>
  <MMClips>12</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Inter</vt:lpstr>
      <vt:lpstr>ChatGPT</vt:lpstr>
      <vt:lpstr>PowerPoint Presentation</vt:lpstr>
      <vt:lpstr>About 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Vinicius Grippa</cp:lastModifiedBy>
  <cp:revision>10</cp:revision>
  <dcterms:created xsi:type="dcterms:W3CDTF">2026-09-23T22:36:57Z</dcterms:created>
  <dcterms:modified xsi:type="dcterms:W3CDTF">2026-10-18T00:24:15Z</dcterms:modified>
</cp:coreProperties>
</file>